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mp3" ContentType="audio/m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4"/>
  </p:notesMasterIdLst>
  <p:sldIdLst>
    <p:sldId id="350" r:id="rId2"/>
    <p:sldId id="337" r:id="rId3"/>
    <p:sldId id="351" r:id="rId4"/>
    <p:sldId id="339" r:id="rId5"/>
    <p:sldId id="340" r:id="rId6"/>
    <p:sldId id="264" r:id="rId7"/>
    <p:sldId id="352" r:id="rId8"/>
    <p:sldId id="342" r:id="rId9"/>
    <p:sldId id="343" r:id="rId10"/>
    <p:sldId id="353" r:id="rId11"/>
    <p:sldId id="349" r:id="rId12"/>
    <p:sldId id="271" r:id="rId13"/>
    <p:sldId id="257" r:id="rId14"/>
    <p:sldId id="344" r:id="rId15"/>
    <p:sldId id="345" r:id="rId16"/>
    <p:sldId id="346" r:id="rId17"/>
    <p:sldId id="347" r:id="rId18"/>
    <p:sldId id="284" r:id="rId19"/>
    <p:sldId id="280" r:id="rId20"/>
    <p:sldId id="354" r:id="rId21"/>
    <p:sldId id="281" r:id="rId22"/>
    <p:sldId id="348" r:id="rId23"/>
  </p:sldIdLst>
  <p:sldSz cx="18288000" cy="10287000"/>
  <p:notesSz cx="6858000" cy="9144000"/>
  <p:embeddedFontLst>
    <p:embeddedFont>
      <p:font typeface="Abadi" panose="020B0604020104020204" pitchFamily="34" charset="0"/>
      <p:regular r:id="rId25"/>
      <p:bold r:id="rId26"/>
      <p:italic r:id="rId27"/>
      <p:boldItalic r:id="rId28"/>
    </p:embeddedFont>
    <p:embeddedFont>
      <p:font typeface="Arial Rounded MT Bold" panose="020F0704030504030204" pitchFamily="34" charset="0"/>
      <p:regular r:id="rId29"/>
    </p:embeddedFont>
    <p:embeddedFont>
      <p:font typeface="Quattrocento Sans" panose="020B0502050000020003" pitchFamily="34" charset="0"/>
      <p:regular r:id="rId30"/>
      <p:bold r:id="rId31"/>
      <p:italic r:id="rId32"/>
      <p:boldItalic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22E21"/>
    <a:srgbClr val="F0BA7A"/>
    <a:srgbClr val="BFD0D8"/>
    <a:srgbClr val="3F322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 autoAdjust="0"/>
    <p:restoredTop sz="94551" autoAdjust="0"/>
  </p:normalViewPr>
  <p:slideViewPr>
    <p:cSldViewPr>
      <p:cViewPr>
        <p:scale>
          <a:sx n="50" d="100"/>
          <a:sy n="50" d="100"/>
        </p:scale>
        <p:origin x="756" y="3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8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F72A65-BB64-4B5D-87E7-235943C1D173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E4755B-80B7-4041-B5FC-5F38E9751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7064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E4755B-80B7-4041-B5FC-5F38E975109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0278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youtu.be</a:t>
            </a:r>
            <a:r>
              <a:rPr lang="en-US" dirty="0"/>
              <a:t>/</a:t>
            </a:r>
            <a:r>
              <a:rPr lang="en-US" dirty="0" err="1"/>
              <a:t>CBjrdMlZlfE?si</a:t>
            </a:r>
            <a:r>
              <a:rPr lang="en-US" dirty="0"/>
              <a:t>=t_Rp9ZSP8jlFr8NH</a:t>
            </a:r>
            <a:endParaRPr lang="en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E4755B-80B7-4041-B5FC-5F38E975109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03999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 descr="A blue and yellow logo&#10;&#10;Description automatically generated">
            <a:extLst>
              <a:ext uri="{FF2B5EF4-FFF2-40B4-BE49-F238E27FC236}">
                <a16:creationId xmlns:a16="http://schemas.microsoft.com/office/drawing/2014/main" id="{00EB8FC2-13DA-66E0-C2FE-4DBBDB062037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rcRect t="8239" b="12264"/>
          <a:stretch/>
        </p:blipFill>
        <p:spPr>
          <a:xfrm>
            <a:off x="6055057" y="3024797"/>
            <a:ext cx="13500291" cy="7393356"/>
          </a:xfrm>
          <a:prstGeom prst="rect">
            <a:avLst/>
          </a:prstGeom>
          <a:scene3d>
            <a:camera prst="orthographicFront"/>
            <a:lightRig rig="glow" dir="t"/>
          </a:scene3d>
          <a:sp3d prstMaterial="clear"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.pn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png"/><Relationship Id="rId14" Type="http://schemas.openxmlformats.org/officeDocument/2006/relationships/image" Target="../media/image13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13" Type="http://schemas.openxmlformats.org/officeDocument/2006/relationships/image" Target="../media/image1.png"/><Relationship Id="rId3" Type="http://schemas.openxmlformats.org/officeDocument/2006/relationships/image" Target="../media/image15.svg"/><Relationship Id="rId7" Type="http://schemas.openxmlformats.org/officeDocument/2006/relationships/image" Target="../media/image19.png"/><Relationship Id="rId12" Type="http://schemas.openxmlformats.org/officeDocument/2006/relationships/image" Target="../media/image24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svg"/><Relationship Id="rId10" Type="http://schemas.openxmlformats.org/officeDocument/2006/relationships/image" Target="../media/image22.sv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13" Type="http://schemas.openxmlformats.org/officeDocument/2006/relationships/image" Target="../media/image33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27.png"/><Relationship Id="rId12" Type="http://schemas.openxmlformats.org/officeDocument/2006/relationships/image" Target="../media/image32.sv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26.sv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0" Type="http://schemas.openxmlformats.org/officeDocument/2006/relationships/image" Target="../media/image30.svg"/><Relationship Id="rId4" Type="http://schemas.openxmlformats.org/officeDocument/2006/relationships/notesSlide" Target="../notesSlides/notesSlide2.xml"/><Relationship Id="rId9" Type="http://schemas.openxmlformats.org/officeDocument/2006/relationships/image" Target="../media/image2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13" Type="http://schemas.openxmlformats.org/officeDocument/2006/relationships/image" Target="../media/image45.sv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12" Type="http://schemas.openxmlformats.org/officeDocument/2006/relationships/image" Target="../media/image44.png"/><Relationship Id="rId2" Type="http://schemas.openxmlformats.org/officeDocument/2006/relationships/image" Target="../media/image34.png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png"/><Relationship Id="rId11" Type="http://schemas.openxmlformats.org/officeDocument/2006/relationships/image" Target="../media/image43.png"/><Relationship Id="rId5" Type="http://schemas.openxmlformats.org/officeDocument/2006/relationships/image" Target="../media/image37.svg"/><Relationship Id="rId15" Type="http://schemas.openxmlformats.org/officeDocument/2006/relationships/image" Target="../media/image47.png"/><Relationship Id="rId10" Type="http://schemas.openxmlformats.org/officeDocument/2006/relationships/image" Target="../media/image42.png"/><Relationship Id="rId4" Type="http://schemas.openxmlformats.org/officeDocument/2006/relationships/image" Target="../media/image36.png"/><Relationship Id="rId9" Type="http://schemas.openxmlformats.org/officeDocument/2006/relationships/image" Target="../media/image41.svg"/><Relationship Id="rId14" Type="http://schemas.openxmlformats.org/officeDocument/2006/relationships/image" Target="../media/image4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13" Type="http://schemas.openxmlformats.org/officeDocument/2006/relationships/image" Target="../media/image45.sv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12" Type="http://schemas.openxmlformats.org/officeDocument/2006/relationships/image" Target="../media/image44.png"/><Relationship Id="rId2" Type="http://schemas.openxmlformats.org/officeDocument/2006/relationships/image" Target="../media/image34.png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png"/><Relationship Id="rId11" Type="http://schemas.openxmlformats.org/officeDocument/2006/relationships/image" Target="../media/image43.png"/><Relationship Id="rId5" Type="http://schemas.openxmlformats.org/officeDocument/2006/relationships/image" Target="../media/image37.svg"/><Relationship Id="rId15" Type="http://schemas.openxmlformats.org/officeDocument/2006/relationships/image" Target="../media/image47.png"/><Relationship Id="rId10" Type="http://schemas.openxmlformats.org/officeDocument/2006/relationships/image" Target="../media/image42.png"/><Relationship Id="rId4" Type="http://schemas.openxmlformats.org/officeDocument/2006/relationships/image" Target="../media/image36.png"/><Relationship Id="rId9" Type="http://schemas.openxmlformats.org/officeDocument/2006/relationships/image" Target="../media/image41.svg"/><Relationship Id="rId14" Type="http://schemas.openxmlformats.org/officeDocument/2006/relationships/image" Target="../media/image4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49.svg"/><Relationship Id="rId7" Type="http://schemas.openxmlformats.org/officeDocument/2006/relationships/image" Target="../media/image53.sv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2.png"/><Relationship Id="rId5" Type="http://schemas.openxmlformats.org/officeDocument/2006/relationships/image" Target="../media/image51.svg"/><Relationship Id="rId10" Type="http://schemas.openxmlformats.org/officeDocument/2006/relationships/image" Target="../media/image56.jpeg"/><Relationship Id="rId4" Type="http://schemas.openxmlformats.org/officeDocument/2006/relationships/image" Target="../media/image50.png"/><Relationship Id="rId9" Type="http://schemas.openxmlformats.org/officeDocument/2006/relationships/image" Target="../media/image55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49.svg"/><Relationship Id="rId7" Type="http://schemas.openxmlformats.org/officeDocument/2006/relationships/image" Target="../media/image53.sv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2.png"/><Relationship Id="rId5" Type="http://schemas.openxmlformats.org/officeDocument/2006/relationships/image" Target="../media/image51.svg"/><Relationship Id="rId10" Type="http://schemas.openxmlformats.org/officeDocument/2006/relationships/image" Target="../media/image57.jpeg"/><Relationship Id="rId4" Type="http://schemas.openxmlformats.org/officeDocument/2006/relationships/image" Target="../media/image50.png"/><Relationship Id="rId9" Type="http://schemas.openxmlformats.org/officeDocument/2006/relationships/image" Target="../media/image55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49.svg"/><Relationship Id="rId7" Type="http://schemas.openxmlformats.org/officeDocument/2006/relationships/image" Target="../media/image53.sv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2.png"/><Relationship Id="rId5" Type="http://schemas.openxmlformats.org/officeDocument/2006/relationships/image" Target="../media/image51.svg"/><Relationship Id="rId10" Type="http://schemas.openxmlformats.org/officeDocument/2006/relationships/image" Target="../media/image58.png"/><Relationship Id="rId4" Type="http://schemas.openxmlformats.org/officeDocument/2006/relationships/image" Target="../media/image50.png"/><Relationship Id="rId9" Type="http://schemas.openxmlformats.org/officeDocument/2006/relationships/image" Target="../media/image55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49.svg"/><Relationship Id="rId7" Type="http://schemas.openxmlformats.org/officeDocument/2006/relationships/image" Target="../media/image53.sv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2.png"/><Relationship Id="rId5" Type="http://schemas.openxmlformats.org/officeDocument/2006/relationships/image" Target="../media/image51.svg"/><Relationship Id="rId10" Type="http://schemas.openxmlformats.org/officeDocument/2006/relationships/image" Target="../media/image59.jpeg"/><Relationship Id="rId4" Type="http://schemas.openxmlformats.org/officeDocument/2006/relationships/image" Target="../media/image50.png"/><Relationship Id="rId9" Type="http://schemas.openxmlformats.org/officeDocument/2006/relationships/image" Target="../media/image55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55.svg"/><Relationship Id="rId7" Type="http://schemas.openxmlformats.org/officeDocument/2006/relationships/image" Target="../media/image53.sv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2.png"/><Relationship Id="rId5" Type="http://schemas.openxmlformats.org/officeDocument/2006/relationships/image" Target="../media/image51.svg"/><Relationship Id="rId4" Type="http://schemas.openxmlformats.org/officeDocument/2006/relationships/image" Target="../media/image50.png"/><Relationship Id="rId9" Type="http://schemas.openxmlformats.org/officeDocument/2006/relationships/image" Target="../media/image49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12.png"/><Relationship Id="rId7" Type="http://schemas.openxmlformats.org/officeDocument/2006/relationships/image" Target="../media/image62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3.svg"/><Relationship Id="rId5" Type="http://schemas.openxmlformats.org/officeDocument/2006/relationships/image" Target="../media/image52.png"/><Relationship Id="rId4" Type="http://schemas.openxmlformats.org/officeDocument/2006/relationships/image" Target="../media/image61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sv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52.png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6" Type="http://schemas.openxmlformats.org/officeDocument/2006/relationships/image" Target="../media/image62.png"/><Relationship Id="rId5" Type="http://schemas.openxmlformats.org/officeDocument/2006/relationships/image" Target="../media/image61.svg"/><Relationship Id="rId10" Type="http://schemas.openxmlformats.org/officeDocument/2006/relationships/image" Target="../media/image1.png"/><Relationship Id="rId4" Type="http://schemas.openxmlformats.org/officeDocument/2006/relationships/image" Target="../media/image12.png"/><Relationship Id="rId9" Type="http://schemas.openxmlformats.org/officeDocument/2006/relationships/image" Target="../media/image6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13" Type="http://schemas.openxmlformats.org/officeDocument/2006/relationships/image" Target="../media/image1.png"/><Relationship Id="rId3" Type="http://schemas.openxmlformats.org/officeDocument/2006/relationships/image" Target="../media/image49.svg"/><Relationship Id="rId7" Type="http://schemas.openxmlformats.org/officeDocument/2006/relationships/image" Target="../media/image55.svg"/><Relationship Id="rId12" Type="http://schemas.openxmlformats.org/officeDocument/2006/relationships/image" Target="../media/image68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4.png"/><Relationship Id="rId11" Type="http://schemas.openxmlformats.org/officeDocument/2006/relationships/image" Target="../media/image67.png"/><Relationship Id="rId5" Type="http://schemas.openxmlformats.org/officeDocument/2006/relationships/image" Target="../media/image53.svg"/><Relationship Id="rId10" Type="http://schemas.openxmlformats.org/officeDocument/2006/relationships/image" Target="../media/image66.png"/><Relationship Id="rId4" Type="http://schemas.openxmlformats.org/officeDocument/2006/relationships/image" Target="../media/image52.png"/><Relationship Id="rId9" Type="http://schemas.openxmlformats.org/officeDocument/2006/relationships/image" Target="../media/image65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13" Type="http://schemas.openxmlformats.org/officeDocument/2006/relationships/image" Target="../media/image1.png"/><Relationship Id="rId3" Type="http://schemas.openxmlformats.org/officeDocument/2006/relationships/image" Target="../media/image49.svg"/><Relationship Id="rId7" Type="http://schemas.openxmlformats.org/officeDocument/2006/relationships/image" Target="../media/image55.svg"/><Relationship Id="rId12" Type="http://schemas.openxmlformats.org/officeDocument/2006/relationships/image" Target="../media/image68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4.png"/><Relationship Id="rId11" Type="http://schemas.openxmlformats.org/officeDocument/2006/relationships/image" Target="../media/image67.png"/><Relationship Id="rId5" Type="http://schemas.openxmlformats.org/officeDocument/2006/relationships/image" Target="../media/image53.svg"/><Relationship Id="rId10" Type="http://schemas.openxmlformats.org/officeDocument/2006/relationships/image" Target="../media/image66.png"/><Relationship Id="rId4" Type="http://schemas.openxmlformats.org/officeDocument/2006/relationships/image" Target="../media/image52.png"/><Relationship Id="rId9" Type="http://schemas.openxmlformats.org/officeDocument/2006/relationships/image" Target="../media/image65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13" Type="http://schemas.openxmlformats.org/officeDocument/2006/relationships/image" Target="../media/image1.png"/><Relationship Id="rId3" Type="http://schemas.openxmlformats.org/officeDocument/2006/relationships/image" Target="../media/image49.svg"/><Relationship Id="rId7" Type="http://schemas.openxmlformats.org/officeDocument/2006/relationships/image" Target="../media/image55.svg"/><Relationship Id="rId12" Type="http://schemas.openxmlformats.org/officeDocument/2006/relationships/image" Target="../media/image68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4.png"/><Relationship Id="rId11" Type="http://schemas.openxmlformats.org/officeDocument/2006/relationships/image" Target="../media/image67.png"/><Relationship Id="rId5" Type="http://schemas.openxmlformats.org/officeDocument/2006/relationships/image" Target="../media/image53.svg"/><Relationship Id="rId10" Type="http://schemas.openxmlformats.org/officeDocument/2006/relationships/image" Target="../media/image66.png"/><Relationship Id="rId4" Type="http://schemas.openxmlformats.org/officeDocument/2006/relationships/image" Target="../media/image52.png"/><Relationship Id="rId9" Type="http://schemas.openxmlformats.org/officeDocument/2006/relationships/image" Target="../media/image65.sv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13" Type="http://schemas.openxmlformats.org/officeDocument/2006/relationships/image" Target="../media/image1.png"/><Relationship Id="rId3" Type="http://schemas.openxmlformats.org/officeDocument/2006/relationships/image" Target="../media/image49.svg"/><Relationship Id="rId7" Type="http://schemas.openxmlformats.org/officeDocument/2006/relationships/image" Target="../media/image53.svg"/><Relationship Id="rId12" Type="http://schemas.openxmlformats.org/officeDocument/2006/relationships/image" Target="../media/image68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2.png"/><Relationship Id="rId11" Type="http://schemas.openxmlformats.org/officeDocument/2006/relationships/image" Target="../media/image65.svg"/><Relationship Id="rId5" Type="http://schemas.openxmlformats.org/officeDocument/2006/relationships/image" Target="../media/image67.png"/><Relationship Id="rId10" Type="http://schemas.openxmlformats.org/officeDocument/2006/relationships/image" Target="../media/image64.png"/><Relationship Id="rId4" Type="http://schemas.openxmlformats.org/officeDocument/2006/relationships/image" Target="../media/image66.png"/><Relationship Id="rId9" Type="http://schemas.openxmlformats.org/officeDocument/2006/relationships/image" Target="../media/image55.sv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13" Type="http://schemas.openxmlformats.org/officeDocument/2006/relationships/image" Target="../media/image1.png"/><Relationship Id="rId3" Type="http://schemas.openxmlformats.org/officeDocument/2006/relationships/image" Target="../media/image49.svg"/><Relationship Id="rId7" Type="http://schemas.openxmlformats.org/officeDocument/2006/relationships/image" Target="../media/image53.svg"/><Relationship Id="rId12" Type="http://schemas.openxmlformats.org/officeDocument/2006/relationships/image" Target="../media/image68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2.png"/><Relationship Id="rId11" Type="http://schemas.openxmlformats.org/officeDocument/2006/relationships/image" Target="../media/image65.svg"/><Relationship Id="rId5" Type="http://schemas.openxmlformats.org/officeDocument/2006/relationships/image" Target="../media/image67.png"/><Relationship Id="rId10" Type="http://schemas.openxmlformats.org/officeDocument/2006/relationships/image" Target="../media/image64.png"/><Relationship Id="rId4" Type="http://schemas.openxmlformats.org/officeDocument/2006/relationships/image" Target="../media/image66.png"/><Relationship Id="rId9" Type="http://schemas.openxmlformats.org/officeDocument/2006/relationships/image" Target="../media/image55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svg"/><Relationship Id="rId7" Type="http://schemas.openxmlformats.org/officeDocument/2006/relationships/image" Target="../media/image1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8.png"/><Relationship Id="rId5" Type="http://schemas.openxmlformats.org/officeDocument/2006/relationships/image" Target="../media/image55.svg"/><Relationship Id="rId4" Type="http://schemas.openxmlformats.org/officeDocument/2006/relationships/image" Target="../media/image54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openxmlformats.org/officeDocument/2006/relationships/image" Target="../media/image49.svg"/><Relationship Id="rId7" Type="http://schemas.openxmlformats.org/officeDocument/2006/relationships/image" Target="../media/image55.sv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4.png"/><Relationship Id="rId11" Type="http://schemas.openxmlformats.org/officeDocument/2006/relationships/image" Target="../media/image1.png"/><Relationship Id="rId5" Type="http://schemas.openxmlformats.org/officeDocument/2006/relationships/image" Target="../media/image53.svg"/><Relationship Id="rId10" Type="http://schemas.openxmlformats.org/officeDocument/2006/relationships/image" Target="../media/image60.png"/><Relationship Id="rId4" Type="http://schemas.openxmlformats.org/officeDocument/2006/relationships/image" Target="../media/image52.png"/><Relationship Id="rId9" Type="http://schemas.openxmlformats.org/officeDocument/2006/relationships/image" Target="../media/image65.sv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image" Target="../media/image49.svg"/><Relationship Id="rId7" Type="http://schemas.openxmlformats.org/officeDocument/2006/relationships/image" Target="../media/image65.sv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4.png"/><Relationship Id="rId5" Type="http://schemas.openxmlformats.org/officeDocument/2006/relationships/image" Target="../media/image55.svg"/><Relationship Id="rId4" Type="http://schemas.openxmlformats.org/officeDocument/2006/relationships/image" Target="../media/image5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svg"/><Relationship Id="rId7" Type="http://schemas.openxmlformats.org/officeDocument/2006/relationships/image" Target="../media/image53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2.png"/><Relationship Id="rId5" Type="http://schemas.openxmlformats.org/officeDocument/2006/relationships/image" Target="../media/image61.svg"/><Relationship Id="rId4" Type="http://schemas.openxmlformats.org/officeDocument/2006/relationships/image" Target="../media/image12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71.svg"/><Relationship Id="rId7" Type="http://schemas.openxmlformats.org/officeDocument/2006/relationships/image" Target="../media/image24.svg"/><Relationship Id="rId12" Type="http://schemas.openxmlformats.org/officeDocument/2006/relationships/image" Target="../media/image73.gif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11" Type="http://schemas.openxmlformats.org/officeDocument/2006/relationships/image" Target="../media/image1.png"/><Relationship Id="rId5" Type="http://schemas.openxmlformats.org/officeDocument/2006/relationships/image" Target="../media/image72.svg"/><Relationship Id="rId10" Type="http://schemas.openxmlformats.org/officeDocument/2006/relationships/image" Target="../media/image18.png"/><Relationship Id="rId4" Type="http://schemas.openxmlformats.org/officeDocument/2006/relationships/image" Target="../media/image21.png"/><Relationship Id="rId9" Type="http://schemas.openxmlformats.org/officeDocument/2006/relationships/image" Target="../media/image6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611792" y="-2324100"/>
            <a:ext cx="17147192" cy="15509568"/>
          </a:xfrm>
          <a:custGeom>
            <a:avLst/>
            <a:gdLst/>
            <a:ahLst/>
            <a:cxnLst/>
            <a:rect l="l" t="t" r="r" b="b"/>
            <a:pathLst>
              <a:path w="15623192" h="15509568">
                <a:moveTo>
                  <a:pt x="0" y="0"/>
                </a:moveTo>
                <a:lnTo>
                  <a:pt x="15623192" y="0"/>
                </a:lnTo>
                <a:lnTo>
                  <a:pt x="15623192" y="15509568"/>
                </a:lnTo>
                <a:lnTo>
                  <a:pt x="0" y="155095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0" y="-619027"/>
            <a:ext cx="4101262" cy="4110281"/>
          </a:xfrm>
          <a:custGeom>
            <a:avLst/>
            <a:gdLst/>
            <a:ahLst/>
            <a:cxnLst/>
            <a:rect l="l" t="t" r="r" b="b"/>
            <a:pathLst>
              <a:path w="3086812" h="3086812">
                <a:moveTo>
                  <a:pt x="0" y="0"/>
                </a:moveTo>
                <a:lnTo>
                  <a:pt x="3086812" y="0"/>
                </a:lnTo>
                <a:lnTo>
                  <a:pt x="3086812" y="3086813"/>
                </a:lnTo>
                <a:lnTo>
                  <a:pt x="0" y="308681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9760770" y="3491254"/>
            <a:ext cx="9091576" cy="8738847"/>
          </a:xfrm>
          <a:custGeom>
            <a:avLst/>
            <a:gdLst/>
            <a:ahLst/>
            <a:cxnLst/>
            <a:rect l="l" t="t" r="r" b="b"/>
            <a:pathLst>
              <a:path w="10742180" h="11653252">
                <a:moveTo>
                  <a:pt x="0" y="0"/>
                </a:moveTo>
                <a:lnTo>
                  <a:pt x="10742179" y="0"/>
                </a:lnTo>
                <a:lnTo>
                  <a:pt x="10742179" y="11653252"/>
                </a:lnTo>
                <a:lnTo>
                  <a:pt x="0" y="1165325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635954">
            <a:off x="12520520" y="-814461"/>
            <a:ext cx="5619015" cy="3130136"/>
          </a:xfrm>
          <a:custGeom>
            <a:avLst/>
            <a:gdLst/>
            <a:ahLst/>
            <a:cxnLst/>
            <a:rect l="l" t="t" r="r" b="b"/>
            <a:pathLst>
              <a:path w="4337068" h="2381445">
                <a:moveTo>
                  <a:pt x="0" y="0"/>
                </a:moveTo>
                <a:lnTo>
                  <a:pt x="4337068" y="0"/>
                </a:lnTo>
                <a:lnTo>
                  <a:pt x="4337068" y="2381445"/>
                </a:lnTo>
                <a:lnTo>
                  <a:pt x="0" y="238144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2272462" y="2364091"/>
            <a:ext cx="13258800" cy="30162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9800" spc="-134">
                <a:solidFill>
                  <a:schemeClr val="accent3">
                    <a:lumMod val="50000"/>
                  </a:schemeClr>
                </a:solidFill>
                <a:latin typeface="Arial Rounded MT Bold" panose="020F0704030504030204" pitchFamily="34" charset="77"/>
                <a:ea typeface="TT Rounds Condensed Bold"/>
                <a:cs typeface="TT Rounds Condensed Bold"/>
                <a:sym typeface="TT Rounds Condensed Bold"/>
              </a:rPr>
              <a:t>Let’s Explore English in Sciences</a:t>
            </a:r>
          </a:p>
        </p:txBody>
      </p:sp>
      <p:sp>
        <p:nvSpPr>
          <p:cNvPr id="6" name="Freeform 6"/>
          <p:cNvSpPr/>
          <p:nvPr/>
        </p:nvSpPr>
        <p:spPr>
          <a:xfrm rot="-9387507">
            <a:off x="3928106" y="8802992"/>
            <a:ext cx="5813856" cy="3541167"/>
          </a:xfrm>
          <a:custGeom>
            <a:avLst/>
            <a:gdLst/>
            <a:ahLst/>
            <a:cxnLst/>
            <a:rect l="l" t="t" r="r" b="b"/>
            <a:pathLst>
              <a:path w="5813856" h="3541167">
                <a:moveTo>
                  <a:pt x="0" y="0"/>
                </a:moveTo>
                <a:lnTo>
                  <a:pt x="5813856" y="0"/>
                </a:lnTo>
                <a:lnTo>
                  <a:pt x="5813856" y="3541166"/>
                </a:lnTo>
                <a:lnTo>
                  <a:pt x="0" y="354116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8077200" y="266700"/>
            <a:ext cx="2971800" cy="2666999"/>
          </a:xfrm>
          <a:custGeom>
            <a:avLst/>
            <a:gdLst/>
            <a:ahLst/>
            <a:cxnLst/>
            <a:rect l="l" t="t" r="r" b="b"/>
            <a:pathLst>
              <a:path w="2494887" h="2218181">
                <a:moveTo>
                  <a:pt x="0" y="0"/>
                </a:moveTo>
                <a:lnTo>
                  <a:pt x="2494887" y="0"/>
                </a:lnTo>
                <a:lnTo>
                  <a:pt x="2494887" y="2218181"/>
                </a:lnTo>
                <a:lnTo>
                  <a:pt x="0" y="2218181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913B53C4-97E7-7142-2DA4-608094639797}"/>
              </a:ext>
            </a:extLst>
          </p:cNvPr>
          <p:cNvGrpSpPr/>
          <p:nvPr/>
        </p:nvGrpSpPr>
        <p:grpSpPr>
          <a:xfrm>
            <a:off x="6208130" y="5725091"/>
            <a:ext cx="3507347" cy="2107219"/>
            <a:chOff x="7461549" y="385156"/>
            <a:chExt cx="818291" cy="524220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191A325B-BE62-3467-8ABF-298047B1600F}"/>
                </a:ext>
              </a:extLst>
            </p:cNvPr>
            <p:cNvSpPr/>
            <p:nvPr/>
          </p:nvSpPr>
          <p:spPr>
            <a:xfrm>
              <a:off x="7461549" y="385156"/>
              <a:ext cx="818291" cy="524220"/>
            </a:xfrm>
            <a:prstGeom prst="ellipse">
              <a:avLst/>
            </a:prstGeom>
            <a:solidFill>
              <a:srgbClr val="BFD0D8"/>
            </a:soli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Google Shape;1470;p35">
              <a:extLst>
                <a:ext uri="{FF2B5EF4-FFF2-40B4-BE49-F238E27FC236}">
                  <a16:creationId xmlns:a16="http://schemas.microsoft.com/office/drawing/2014/main" id="{05686105-BE2A-8E4E-42F5-5EED354252CA}"/>
                </a:ext>
              </a:extLst>
            </p:cNvPr>
            <p:cNvSpPr txBox="1"/>
            <p:nvPr/>
          </p:nvSpPr>
          <p:spPr>
            <a:xfrm>
              <a:off x="7472116" y="484699"/>
              <a:ext cx="797156" cy="3314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5400" b="1" dirty="0">
                  <a:latin typeface="Arial Rounded MT Bold" panose="020F0704030504030204" pitchFamily="34" charset="77"/>
                  <a:ea typeface="SimSun" panose="02010600030101010101" pitchFamily="2" charset="-122"/>
                  <a:cs typeface="Segoe UI" panose="020B0502040204020203" pitchFamily="34" charset="0"/>
                  <a:sym typeface="Sora"/>
                </a:rPr>
                <a:t>Grade 7</a:t>
              </a:r>
              <a:endParaRPr sz="5400" b="1" dirty="0">
                <a:latin typeface="Arial Rounded MT Bold" panose="020F0704030504030204" pitchFamily="34" charset="77"/>
                <a:ea typeface="SimSun" panose="02010600030101010101" pitchFamily="2" charset="-122"/>
                <a:cs typeface="Segoe UI" panose="020B0502040204020203" pitchFamily="34" charset="0"/>
                <a:sym typeface="Cabin"/>
              </a:endParaRPr>
            </a:p>
          </p:txBody>
        </p:sp>
      </p:grpSp>
      <p:pic>
        <p:nvPicPr>
          <p:cNvPr id="9" name="Google Shape;12;p17" descr="A blue and yellow logo&#10;&#10;Description automatically generated">
            <a:extLst>
              <a:ext uri="{FF2B5EF4-FFF2-40B4-BE49-F238E27FC236}">
                <a16:creationId xmlns:a16="http://schemas.microsoft.com/office/drawing/2014/main" id="{9CCC1226-6369-5566-E9C8-F1016D357A8E}"/>
              </a:ext>
            </a:extLst>
          </p:cNvPr>
          <p:cNvPicPr preferRelativeResize="0"/>
          <p:nvPr/>
        </p:nvPicPr>
        <p:blipFill rotWithShape="1">
          <a:blip r:embed="rId15"/>
          <a:srcRect t="5199" b="17605"/>
          <a:stretch/>
        </p:blipFill>
        <p:spPr>
          <a:xfrm>
            <a:off x="14945573" y="-9818"/>
            <a:ext cx="3349566" cy="1843849"/>
          </a:xfrm>
          <a:prstGeom prst="rect">
            <a:avLst/>
          </a:prstGeom>
          <a:noFill/>
          <a:ln>
            <a:noFill/>
          </a:ln>
          <a:scene3d>
            <a:camera prst="orthographicFront"/>
            <a:lightRig rig="flat" dir="t"/>
          </a:scene3d>
          <a:sp3d extrusionH="76200" prstMaterial="dkEdge">
            <a:extrusionClr>
              <a:srgbClr val="FFFF00"/>
            </a:extrusionClr>
          </a:sp3d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899332" y="-329626"/>
            <a:ext cx="22086663" cy="12065926"/>
            <a:chOff x="0" y="0"/>
            <a:chExt cx="27198568" cy="13649501"/>
          </a:xfrm>
          <a:solidFill>
            <a:srgbClr val="DCE6BF"/>
          </a:solidFill>
        </p:grpSpPr>
        <p:sp>
          <p:nvSpPr>
            <p:cNvPr id="3" name="Freeform 3"/>
            <p:cNvSpPr/>
            <p:nvPr/>
          </p:nvSpPr>
          <p:spPr>
            <a:xfrm>
              <a:off x="0" y="0"/>
              <a:ext cx="13624684" cy="13649501"/>
            </a:xfrm>
            <a:custGeom>
              <a:avLst/>
              <a:gdLst/>
              <a:ahLst/>
              <a:cxnLst/>
              <a:rect l="l" t="t" r="r" b="b"/>
              <a:pathLst>
                <a:path w="13624684" h="13649501">
                  <a:moveTo>
                    <a:pt x="0" y="0"/>
                  </a:moveTo>
                  <a:lnTo>
                    <a:pt x="13624684" y="0"/>
                  </a:lnTo>
                  <a:lnTo>
                    <a:pt x="13624684" y="13649501"/>
                  </a:lnTo>
                  <a:lnTo>
                    <a:pt x="0" y="13649501"/>
                  </a:lnTo>
                  <a:lnTo>
                    <a:pt x="0" y="0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VN"/>
            </a:p>
          </p:txBody>
        </p:sp>
        <p:sp>
          <p:nvSpPr>
            <p:cNvPr id="4" name="Freeform 4"/>
            <p:cNvSpPr/>
            <p:nvPr/>
          </p:nvSpPr>
          <p:spPr>
            <a:xfrm>
              <a:off x="13573884" y="0"/>
              <a:ext cx="13624684" cy="13649501"/>
            </a:xfrm>
            <a:custGeom>
              <a:avLst/>
              <a:gdLst/>
              <a:ahLst/>
              <a:cxnLst/>
              <a:rect l="l" t="t" r="r" b="b"/>
              <a:pathLst>
                <a:path w="13624684" h="13649501">
                  <a:moveTo>
                    <a:pt x="0" y="0"/>
                  </a:moveTo>
                  <a:lnTo>
                    <a:pt x="13624684" y="0"/>
                  </a:lnTo>
                  <a:lnTo>
                    <a:pt x="13624684" y="13649501"/>
                  </a:lnTo>
                  <a:lnTo>
                    <a:pt x="0" y="13649501"/>
                  </a:lnTo>
                  <a:lnTo>
                    <a:pt x="0" y="0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VN"/>
            </a:p>
          </p:txBody>
        </p:sp>
      </p:grpSp>
      <p:sp>
        <p:nvSpPr>
          <p:cNvPr id="7" name="Freeform 7"/>
          <p:cNvSpPr/>
          <p:nvPr/>
        </p:nvSpPr>
        <p:spPr>
          <a:xfrm rot="5190471">
            <a:off x="4835501" y="-1498547"/>
            <a:ext cx="8719197" cy="13284094"/>
          </a:xfrm>
          <a:custGeom>
            <a:avLst/>
            <a:gdLst/>
            <a:ahLst/>
            <a:cxnLst/>
            <a:rect l="l" t="t" r="r" b="b"/>
            <a:pathLst>
              <a:path w="8719197" h="13284094">
                <a:moveTo>
                  <a:pt x="0" y="0"/>
                </a:moveTo>
                <a:lnTo>
                  <a:pt x="8719196" y="0"/>
                </a:lnTo>
                <a:lnTo>
                  <a:pt x="8719196" y="13284094"/>
                </a:lnTo>
                <a:lnTo>
                  <a:pt x="0" y="132840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9" name="Freeform 9"/>
          <p:cNvSpPr/>
          <p:nvPr/>
        </p:nvSpPr>
        <p:spPr>
          <a:xfrm>
            <a:off x="60475" y="6857946"/>
            <a:ext cx="3531797" cy="3429054"/>
          </a:xfrm>
          <a:custGeom>
            <a:avLst/>
            <a:gdLst/>
            <a:ahLst/>
            <a:cxnLst/>
            <a:rect l="l" t="t" r="r" b="b"/>
            <a:pathLst>
              <a:path w="3531797" h="3429054">
                <a:moveTo>
                  <a:pt x="0" y="0"/>
                </a:moveTo>
                <a:lnTo>
                  <a:pt x="3531797" y="0"/>
                </a:lnTo>
                <a:lnTo>
                  <a:pt x="3531797" y="3429054"/>
                </a:lnTo>
                <a:lnTo>
                  <a:pt x="0" y="34290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10" name="Freeform 10"/>
          <p:cNvSpPr/>
          <p:nvPr/>
        </p:nvSpPr>
        <p:spPr>
          <a:xfrm>
            <a:off x="14325600" y="5905500"/>
            <a:ext cx="3962400" cy="4381499"/>
          </a:xfrm>
          <a:custGeom>
            <a:avLst/>
            <a:gdLst/>
            <a:ahLst/>
            <a:cxnLst/>
            <a:rect l="l" t="t" r="r" b="b"/>
            <a:pathLst>
              <a:path w="5158441" h="6131876">
                <a:moveTo>
                  <a:pt x="0" y="0"/>
                </a:moveTo>
                <a:lnTo>
                  <a:pt x="5158441" y="0"/>
                </a:lnTo>
                <a:lnTo>
                  <a:pt x="5158441" y="6131876"/>
                </a:lnTo>
                <a:lnTo>
                  <a:pt x="0" y="613187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11" name="Freeform 11"/>
          <p:cNvSpPr/>
          <p:nvPr/>
        </p:nvSpPr>
        <p:spPr>
          <a:xfrm>
            <a:off x="5537499" y="2426952"/>
            <a:ext cx="7315200" cy="2051304"/>
          </a:xfrm>
          <a:custGeom>
            <a:avLst/>
            <a:gdLst/>
            <a:ahLst/>
            <a:cxnLst/>
            <a:rect l="l" t="t" r="r" b="b"/>
            <a:pathLst>
              <a:path w="7315200" h="2051304">
                <a:moveTo>
                  <a:pt x="0" y="0"/>
                </a:moveTo>
                <a:lnTo>
                  <a:pt x="7315200" y="0"/>
                </a:lnTo>
                <a:lnTo>
                  <a:pt x="7315200" y="2051304"/>
                </a:lnTo>
                <a:lnTo>
                  <a:pt x="0" y="205130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12" name="TextBox 12"/>
          <p:cNvSpPr txBox="1"/>
          <p:nvPr/>
        </p:nvSpPr>
        <p:spPr>
          <a:xfrm>
            <a:off x="4137896" y="4646875"/>
            <a:ext cx="10012208" cy="3544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0" i="0" u="sng" strike="noStrike" kern="1200" cap="none" spc="-134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Rounded MT Bold" panose="020F0704030504030204" pitchFamily="34" charset="77"/>
                <a:ea typeface="TT Rounds Condensed Bold"/>
                <a:cs typeface="TT Rounds Condensed Bold"/>
                <a:sym typeface="TT Rounds Condensed Bold"/>
              </a:rPr>
              <a:t>Lesson 3: </a:t>
            </a: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0" b="0" i="0" strike="noStrike" kern="1200" cap="none" spc="-134" normalizeH="0" baseline="0" noProof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uLnTx/>
                <a:uFillTx/>
                <a:latin typeface="Arial Rounded MT Bold" panose="020F0704030504030204" pitchFamily="34" charset="77"/>
                <a:ea typeface="TT Rounds Condensed Bold"/>
                <a:cs typeface="TT Rounds Condensed Bold"/>
                <a:sym typeface="TT Rounds Condensed Bold"/>
              </a:rPr>
              <a:t>Plant Nutrition</a:t>
            </a:r>
          </a:p>
        </p:txBody>
      </p:sp>
      <p:sp>
        <p:nvSpPr>
          <p:cNvPr id="5" name="Freeform 5"/>
          <p:cNvSpPr/>
          <p:nvPr/>
        </p:nvSpPr>
        <p:spPr>
          <a:xfrm>
            <a:off x="-332179" y="230168"/>
            <a:ext cx="5264027" cy="5235315"/>
          </a:xfrm>
          <a:custGeom>
            <a:avLst/>
            <a:gdLst/>
            <a:ahLst/>
            <a:cxnLst/>
            <a:rect l="l" t="t" r="r" b="b"/>
            <a:pathLst>
              <a:path w="5264027" h="5235315">
                <a:moveTo>
                  <a:pt x="0" y="0"/>
                </a:moveTo>
                <a:lnTo>
                  <a:pt x="5264028" y="0"/>
                </a:lnTo>
                <a:lnTo>
                  <a:pt x="5264028" y="5235315"/>
                </a:lnTo>
                <a:lnTo>
                  <a:pt x="0" y="523531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6" name="Freeform 6"/>
          <p:cNvSpPr/>
          <p:nvPr/>
        </p:nvSpPr>
        <p:spPr>
          <a:xfrm rot="875686">
            <a:off x="13989128" y="1321681"/>
            <a:ext cx="3478445" cy="3660685"/>
          </a:xfrm>
          <a:custGeom>
            <a:avLst/>
            <a:gdLst/>
            <a:ahLst/>
            <a:cxnLst/>
            <a:rect l="l" t="t" r="r" b="b"/>
            <a:pathLst>
              <a:path w="4437653" h="4814022">
                <a:moveTo>
                  <a:pt x="0" y="0"/>
                </a:moveTo>
                <a:lnTo>
                  <a:pt x="4437654" y="0"/>
                </a:lnTo>
                <a:lnTo>
                  <a:pt x="4437654" y="4814023"/>
                </a:lnTo>
                <a:lnTo>
                  <a:pt x="0" y="481402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pic>
        <p:nvPicPr>
          <p:cNvPr id="13" name="Google Shape;12;p17" descr="A blue and yellow logo&#10;&#10;Description automatically generated">
            <a:extLst>
              <a:ext uri="{FF2B5EF4-FFF2-40B4-BE49-F238E27FC236}">
                <a16:creationId xmlns:a16="http://schemas.microsoft.com/office/drawing/2014/main" id="{17B7918F-1388-294B-D51C-E07F0C987076}"/>
              </a:ext>
            </a:extLst>
          </p:cNvPr>
          <p:cNvPicPr preferRelativeResize="0"/>
          <p:nvPr/>
        </p:nvPicPr>
        <p:blipFill rotWithShape="1">
          <a:blip r:embed="rId13"/>
          <a:srcRect t="5199" b="17605"/>
          <a:stretch/>
        </p:blipFill>
        <p:spPr>
          <a:xfrm>
            <a:off x="14945573" y="-9818"/>
            <a:ext cx="3349566" cy="1843849"/>
          </a:xfrm>
          <a:prstGeom prst="rect">
            <a:avLst/>
          </a:prstGeom>
          <a:noFill/>
          <a:ln>
            <a:noFill/>
          </a:ln>
          <a:scene3d>
            <a:camera prst="orthographicFront"/>
            <a:lightRig rig="flat" dir="t"/>
          </a:scene3d>
          <a:sp3d extrusionH="76200" prstMaterial="dkEdge">
            <a:extrusionClr>
              <a:srgbClr val="FFFF00"/>
            </a:extrusionClr>
          </a:sp3d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4625">
            <a:off x="6485509" y="-1564101"/>
            <a:ext cx="5316982" cy="2919507"/>
          </a:xfrm>
          <a:custGeom>
            <a:avLst/>
            <a:gdLst/>
            <a:ahLst/>
            <a:cxnLst/>
            <a:rect l="l" t="t" r="r" b="b"/>
            <a:pathLst>
              <a:path w="5316982" h="2919507">
                <a:moveTo>
                  <a:pt x="0" y="0"/>
                </a:moveTo>
                <a:lnTo>
                  <a:pt x="5316982" y="0"/>
                </a:lnTo>
                <a:lnTo>
                  <a:pt x="5316982" y="2919507"/>
                </a:lnTo>
                <a:lnTo>
                  <a:pt x="0" y="291950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>
              <a:latin typeface="Abadi" panose="020B0604020104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Freeform 13"/>
          <p:cNvSpPr/>
          <p:nvPr/>
        </p:nvSpPr>
        <p:spPr>
          <a:xfrm rot="-10096856">
            <a:off x="14866871" y="8516417"/>
            <a:ext cx="5813856" cy="3541167"/>
          </a:xfrm>
          <a:custGeom>
            <a:avLst/>
            <a:gdLst/>
            <a:ahLst/>
            <a:cxnLst/>
            <a:rect l="l" t="t" r="r" b="b"/>
            <a:pathLst>
              <a:path w="5813856" h="3541167">
                <a:moveTo>
                  <a:pt x="0" y="0"/>
                </a:moveTo>
                <a:lnTo>
                  <a:pt x="5813856" y="0"/>
                </a:lnTo>
                <a:lnTo>
                  <a:pt x="5813856" y="3541166"/>
                </a:lnTo>
                <a:lnTo>
                  <a:pt x="0" y="354116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>
              <a:latin typeface="Abadi" panose="020B0604020104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" name="Freeform 14"/>
          <p:cNvSpPr/>
          <p:nvPr/>
        </p:nvSpPr>
        <p:spPr>
          <a:xfrm>
            <a:off x="16322469" y="-104347"/>
            <a:ext cx="1711074" cy="1521301"/>
          </a:xfrm>
          <a:custGeom>
            <a:avLst/>
            <a:gdLst/>
            <a:ahLst/>
            <a:cxnLst/>
            <a:rect l="l" t="t" r="r" b="b"/>
            <a:pathLst>
              <a:path w="1711074" h="1521301">
                <a:moveTo>
                  <a:pt x="0" y="0"/>
                </a:moveTo>
                <a:lnTo>
                  <a:pt x="1711075" y="0"/>
                </a:lnTo>
                <a:lnTo>
                  <a:pt x="1711075" y="1521300"/>
                </a:lnTo>
                <a:lnTo>
                  <a:pt x="0" y="15213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>
              <a:latin typeface="Abadi" panose="020B0604020104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" name="Freeform 15"/>
          <p:cNvSpPr/>
          <p:nvPr/>
        </p:nvSpPr>
        <p:spPr>
          <a:xfrm>
            <a:off x="-682374" y="4245718"/>
            <a:ext cx="1832655" cy="1629396"/>
          </a:xfrm>
          <a:custGeom>
            <a:avLst/>
            <a:gdLst/>
            <a:ahLst/>
            <a:cxnLst/>
            <a:rect l="l" t="t" r="r" b="b"/>
            <a:pathLst>
              <a:path w="1832655" h="1629396">
                <a:moveTo>
                  <a:pt x="0" y="0"/>
                </a:moveTo>
                <a:lnTo>
                  <a:pt x="1832654" y="0"/>
                </a:lnTo>
                <a:lnTo>
                  <a:pt x="1832654" y="1629397"/>
                </a:lnTo>
                <a:lnTo>
                  <a:pt x="0" y="162939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>
              <a:latin typeface="Abadi" panose="020B0604020104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" name="Freeform 16"/>
          <p:cNvSpPr/>
          <p:nvPr/>
        </p:nvSpPr>
        <p:spPr>
          <a:xfrm>
            <a:off x="8817305" y="9057513"/>
            <a:ext cx="1832655" cy="1629396"/>
          </a:xfrm>
          <a:custGeom>
            <a:avLst/>
            <a:gdLst/>
            <a:ahLst/>
            <a:cxnLst/>
            <a:rect l="l" t="t" r="r" b="b"/>
            <a:pathLst>
              <a:path w="1832655" h="1629396">
                <a:moveTo>
                  <a:pt x="0" y="0"/>
                </a:moveTo>
                <a:lnTo>
                  <a:pt x="1832654" y="0"/>
                </a:lnTo>
                <a:lnTo>
                  <a:pt x="1832654" y="1629396"/>
                </a:lnTo>
                <a:lnTo>
                  <a:pt x="0" y="162939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>
              <a:latin typeface="Abadi" panose="020B0604020104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How Plants Grow_720p">
            <a:hlinkClick r:id="" action="ppaction://media"/>
            <a:extLst>
              <a:ext uri="{FF2B5EF4-FFF2-40B4-BE49-F238E27FC236}">
                <a16:creationId xmlns:a16="http://schemas.microsoft.com/office/drawing/2014/main" id="{4CBD132F-455D-C635-EB2E-2131DE43F706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3"/>
          <a:stretch>
            <a:fillRect/>
          </a:stretch>
        </p:blipFill>
        <p:spPr>
          <a:xfrm>
            <a:off x="1561368" y="1756538"/>
            <a:ext cx="15165265" cy="8530462"/>
          </a:xfrm>
          <a:prstGeom prst="rect">
            <a:avLst/>
          </a:prstGeom>
          <a:ln>
            <a:solidFill>
              <a:srgbClr val="F0BA7A"/>
            </a:solidFill>
          </a:ln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48DA941-9DA4-E7A2-E426-79718116A9C6}"/>
              </a:ext>
            </a:extLst>
          </p:cNvPr>
          <p:cNvSpPr/>
          <p:nvPr/>
        </p:nvSpPr>
        <p:spPr>
          <a:xfrm>
            <a:off x="5419627" y="114300"/>
            <a:ext cx="12715973" cy="1554480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685800" indent="-685800">
              <a:buFont typeface="Wingdings" pitchFamily="2" charset="2"/>
              <a:buChar char="ü"/>
            </a:pPr>
            <a:r>
              <a:rPr lang="en-US" sz="4400" dirty="0">
                <a:solidFill>
                  <a:srgbClr val="002060"/>
                </a:solidFill>
                <a:latin typeface="Abadi" panose="020B0604020104020204" pitchFamily="34" charset="0"/>
                <a:cs typeface="Times New Roman" panose="02020603050405020304" pitchFamily="18" charset="0"/>
              </a:rPr>
              <a:t>What affects plants’ growth and development?</a:t>
            </a:r>
          </a:p>
          <a:p>
            <a:pPr marL="685800" indent="-685800">
              <a:buFont typeface="Wingdings" pitchFamily="2" charset="2"/>
              <a:buChar char="ü"/>
            </a:pPr>
            <a:r>
              <a:rPr lang="en-US" sz="4400" dirty="0">
                <a:solidFill>
                  <a:srgbClr val="002060"/>
                </a:solidFill>
                <a:latin typeface="Abadi" panose="020B0604020104020204" pitchFamily="34" charset="0"/>
                <a:cs typeface="Times New Roman" panose="02020603050405020304" pitchFamily="18" charset="0"/>
              </a:rPr>
              <a:t>Where do plants take nutrients from?  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C67DFE7-A7D4-26D3-30A0-824F94BB6D9F}"/>
              </a:ext>
            </a:extLst>
          </p:cNvPr>
          <p:cNvGrpSpPr/>
          <p:nvPr/>
        </p:nvGrpSpPr>
        <p:grpSpPr>
          <a:xfrm>
            <a:off x="208553" y="160020"/>
            <a:ext cx="3835401" cy="1097280"/>
            <a:chOff x="228599" y="190500"/>
            <a:chExt cx="4264345" cy="1097280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B464AB03-4BFD-359B-02DE-D439F6AFB002}"/>
                </a:ext>
              </a:extLst>
            </p:cNvPr>
            <p:cNvSpPr/>
            <p:nvPr/>
          </p:nvSpPr>
          <p:spPr>
            <a:xfrm>
              <a:off x="228599" y="190500"/>
              <a:ext cx="4264345" cy="1097280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badi" panose="020B0604020104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EE355C8-EE34-03F4-8FD1-15EAC0423BF0}"/>
                </a:ext>
              </a:extLst>
            </p:cNvPr>
            <p:cNvSpPr txBox="1"/>
            <p:nvPr/>
          </p:nvSpPr>
          <p:spPr>
            <a:xfrm>
              <a:off x="448355" y="197137"/>
              <a:ext cx="3824831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dirty="0">
                  <a:solidFill>
                    <a:srgbClr val="C00000"/>
                  </a:solidFill>
                  <a:latin typeface="Abadi" panose="020B0604020104020204" pitchFamily="34" charset="0"/>
                  <a:ea typeface="ADLaM Display" panose="02010000000000000000" pitchFamily="2" charset="0"/>
                  <a:cs typeface="Times New Roman" panose="02020603050405020304" pitchFamily="18" charset="0"/>
                </a:rPr>
                <a:t>Lead-in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75915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4637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7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BC34D91A-0415-C318-2D0C-2A729748D963}"/>
              </a:ext>
            </a:extLst>
          </p:cNvPr>
          <p:cNvGrpSpPr/>
          <p:nvPr/>
        </p:nvGrpSpPr>
        <p:grpSpPr>
          <a:xfrm flipH="1">
            <a:off x="-304800" y="0"/>
            <a:ext cx="18611974" cy="10315919"/>
            <a:chOff x="22622" y="0"/>
            <a:chExt cx="18611974" cy="10315919"/>
          </a:xfrm>
        </p:grpSpPr>
        <p:sp>
          <p:nvSpPr>
            <p:cNvPr id="10" name="Freeform 10"/>
            <p:cNvSpPr/>
            <p:nvPr/>
          </p:nvSpPr>
          <p:spPr>
            <a:xfrm>
              <a:off x="22622" y="0"/>
              <a:ext cx="10287000" cy="10287000"/>
            </a:xfrm>
            <a:custGeom>
              <a:avLst/>
              <a:gdLst/>
              <a:ahLst/>
              <a:cxnLst/>
              <a:rect l="l" t="t" r="r" b="b"/>
              <a:pathLst>
                <a:path w="10287000" h="10287000">
                  <a:moveTo>
                    <a:pt x="0" y="0"/>
                  </a:moveTo>
                  <a:lnTo>
                    <a:pt x="10287000" y="0"/>
                  </a:lnTo>
                  <a:lnTo>
                    <a:pt x="10287000" y="10287000"/>
                  </a:lnTo>
                  <a:lnTo>
                    <a:pt x="0" y="10287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VN"/>
            </a:p>
          </p:txBody>
        </p:sp>
        <p:sp>
          <p:nvSpPr>
            <p:cNvPr id="12" name="Freeform 10">
              <a:extLst>
                <a:ext uri="{FF2B5EF4-FFF2-40B4-BE49-F238E27FC236}">
                  <a16:creationId xmlns:a16="http://schemas.microsoft.com/office/drawing/2014/main" id="{E4FD9670-28F2-34F8-5AEF-FFDA2E93C179}"/>
                </a:ext>
              </a:extLst>
            </p:cNvPr>
            <p:cNvSpPr/>
            <p:nvPr/>
          </p:nvSpPr>
          <p:spPr>
            <a:xfrm flipH="1">
              <a:off x="9982200" y="4152900"/>
              <a:ext cx="8652396" cy="6163019"/>
            </a:xfrm>
            <a:custGeom>
              <a:avLst/>
              <a:gdLst/>
              <a:ahLst/>
              <a:cxnLst/>
              <a:rect l="l" t="t" r="r" b="b"/>
              <a:pathLst>
                <a:path w="10287000" h="10287000">
                  <a:moveTo>
                    <a:pt x="0" y="0"/>
                  </a:moveTo>
                  <a:lnTo>
                    <a:pt x="10287000" y="0"/>
                  </a:lnTo>
                  <a:lnTo>
                    <a:pt x="10287000" y="10287000"/>
                  </a:lnTo>
                  <a:lnTo>
                    <a:pt x="0" y="10287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8892" t="-66914" b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D55AAADF-1EC2-5F1C-F9B6-4B2E93EC92A2}"/>
              </a:ext>
            </a:extLst>
          </p:cNvPr>
          <p:cNvSpPr/>
          <p:nvPr/>
        </p:nvSpPr>
        <p:spPr>
          <a:xfrm>
            <a:off x="368918" y="341145"/>
            <a:ext cx="11899281" cy="409405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AB806CBE-D424-3AD9-A65D-A71F890F57D5}"/>
              </a:ext>
            </a:extLst>
          </p:cNvPr>
          <p:cNvSpPr/>
          <p:nvPr/>
        </p:nvSpPr>
        <p:spPr>
          <a:xfrm>
            <a:off x="152400" y="5132033"/>
            <a:ext cx="13490124" cy="372731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2" name="Freeform 2"/>
          <p:cNvSpPr/>
          <p:nvPr/>
        </p:nvSpPr>
        <p:spPr>
          <a:xfrm>
            <a:off x="4006980" y="483390"/>
            <a:ext cx="1677193" cy="3843567"/>
          </a:xfrm>
          <a:custGeom>
            <a:avLst/>
            <a:gdLst/>
            <a:ahLst/>
            <a:cxnLst/>
            <a:rect l="l" t="t" r="r" b="b"/>
            <a:pathLst>
              <a:path w="1677193" h="3843567">
                <a:moveTo>
                  <a:pt x="0" y="0"/>
                </a:moveTo>
                <a:lnTo>
                  <a:pt x="1677193" y="0"/>
                </a:lnTo>
                <a:lnTo>
                  <a:pt x="1677193" y="3843568"/>
                </a:lnTo>
                <a:lnTo>
                  <a:pt x="0" y="38435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3" name="Freeform 3"/>
          <p:cNvSpPr/>
          <p:nvPr/>
        </p:nvSpPr>
        <p:spPr>
          <a:xfrm>
            <a:off x="302532" y="6047205"/>
            <a:ext cx="1928737" cy="1950009"/>
          </a:xfrm>
          <a:custGeom>
            <a:avLst/>
            <a:gdLst/>
            <a:ahLst/>
            <a:cxnLst/>
            <a:rect l="l" t="t" r="r" b="b"/>
            <a:pathLst>
              <a:path w="4069911" h="4114800">
                <a:moveTo>
                  <a:pt x="0" y="0"/>
                </a:moveTo>
                <a:lnTo>
                  <a:pt x="4069912" y="0"/>
                </a:lnTo>
                <a:lnTo>
                  <a:pt x="406991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4" name="Freeform 4"/>
          <p:cNvSpPr/>
          <p:nvPr/>
        </p:nvSpPr>
        <p:spPr>
          <a:xfrm>
            <a:off x="5791200" y="6005026"/>
            <a:ext cx="1925867" cy="2034367"/>
          </a:xfrm>
          <a:custGeom>
            <a:avLst/>
            <a:gdLst/>
            <a:ahLst/>
            <a:cxnLst/>
            <a:rect l="l" t="t" r="r" b="b"/>
            <a:pathLst>
              <a:path w="4939512" h="5217795">
                <a:moveTo>
                  <a:pt x="0" y="0"/>
                </a:moveTo>
                <a:lnTo>
                  <a:pt x="4939512" y="0"/>
                </a:lnTo>
                <a:lnTo>
                  <a:pt x="4939512" y="5217795"/>
                </a:lnTo>
                <a:lnTo>
                  <a:pt x="0" y="521779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5" name="Freeform 5"/>
          <p:cNvSpPr/>
          <p:nvPr/>
        </p:nvSpPr>
        <p:spPr>
          <a:xfrm>
            <a:off x="8229600" y="5559188"/>
            <a:ext cx="2553637" cy="2926043"/>
          </a:xfrm>
          <a:custGeom>
            <a:avLst/>
            <a:gdLst/>
            <a:ahLst/>
            <a:cxnLst/>
            <a:rect l="l" t="t" r="r" b="b"/>
            <a:pathLst>
              <a:path w="3705599" h="4245999">
                <a:moveTo>
                  <a:pt x="0" y="0"/>
                </a:moveTo>
                <a:lnTo>
                  <a:pt x="3705599" y="0"/>
                </a:lnTo>
                <a:lnTo>
                  <a:pt x="3705599" y="4245999"/>
                </a:lnTo>
                <a:lnTo>
                  <a:pt x="0" y="424599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6" name="Freeform 6"/>
          <p:cNvSpPr/>
          <p:nvPr/>
        </p:nvSpPr>
        <p:spPr>
          <a:xfrm>
            <a:off x="11353800" y="5555226"/>
            <a:ext cx="1835062" cy="2933966"/>
          </a:xfrm>
          <a:custGeom>
            <a:avLst/>
            <a:gdLst/>
            <a:ahLst/>
            <a:cxnLst/>
            <a:rect l="l" t="t" r="r" b="b"/>
            <a:pathLst>
              <a:path w="2573620" h="4114800">
                <a:moveTo>
                  <a:pt x="0" y="0"/>
                </a:moveTo>
                <a:lnTo>
                  <a:pt x="2573620" y="0"/>
                </a:lnTo>
                <a:lnTo>
                  <a:pt x="257362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8" name="Freeform 8"/>
          <p:cNvSpPr/>
          <p:nvPr/>
        </p:nvSpPr>
        <p:spPr>
          <a:xfrm>
            <a:off x="2438400" y="5439268"/>
            <a:ext cx="2964417" cy="3165883"/>
          </a:xfrm>
          <a:custGeom>
            <a:avLst/>
            <a:gdLst/>
            <a:ahLst/>
            <a:cxnLst/>
            <a:rect l="l" t="t" r="r" b="b"/>
            <a:pathLst>
              <a:path w="3271522" h="3493858">
                <a:moveTo>
                  <a:pt x="0" y="0"/>
                </a:moveTo>
                <a:lnTo>
                  <a:pt x="3271521" y="0"/>
                </a:lnTo>
                <a:lnTo>
                  <a:pt x="3271521" y="3493858"/>
                </a:lnTo>
                <a:lnTo>
                  <a:pt x="0" y="349385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9" name="Freeform 9"/>
          <p:cNvSpPr/>
          <p:nvPr/>
        </p:nvSpPr>
        <p:spPr>
          <a:xfrm>
            <a:off x="5912169" y="928501"/>
            <a:ext cx="3286059" cy="2953345"/>
          </a:xfrm>
          <a:custGeom>
            <a:avLst/>
            <a:gdLst/>
            <a:ahLst/>
            <a:cxnLst/>
            <a:rect l="l" t="t" r="r" b="b"/>
            <a:pathLst>
              <a:path w="2660480" h="2391106">
                <a:moveTo>
                  <a:pt x="0" y="0"/>
                </a:moveTo>
                <a:lnTo>
                  <a:pt x="2660480" y="0"/>
                </a:lnTo>
                <a:lnTo>
                  <a:pt x="2660480" y="2391106"/>
                </a:lnTo>
                <a:lnTo>
                  <a:pt x="0" y="239110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11" name="Freeform 11"/>
          <p:cNvSpPr/>
          <p:nvPr/>
        </p:nvSpPr>
        <p:spPr>
          <a:xfrm>
            <a:off x="9699590" y="1037976"/>
            <a:ext cx="2416210" cy="2734394"/>
          </a:xfrm>
          <a:custGeom>
            <a:avLst/>
            <a:gdLst/>
            <a:ahLst/>
            <a:cxnLst/>
            <a:rect l="l" t="t" r="r" b="b"/>
            <a:pathLst>
              <a:path w="2053643" h="2324082">
                <a:moveTo>
                  <a:pt x="0" y="0"/>
                </a:moveTo>
                <a:lnTo>
                  <a:pt x="2053644" y="0"/>
                </a:lnTo>
                <a:lnTo>
                  <a:pt x="2053644" y="2324082"/>
                </a:lnTo>
                <a:lnTo>
                  <a:pt x="0" y="232408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14" name="Oval Callout 13">
            <a:extLst>
              <a:ext uri="{FF2B5EF4-FFF2-40B4-BE49-F238E27FC236}">
                <a16:creationId xmlns:a16="http://schemas.microsoft.com/office/drawing/2014/main" id="{32234787-52F0-B32A-8097-5C0AAE24A3C2}"/>
              </a:ext>
            </a:extLst>
          </p:cNvPr>
          <p:cNvSpPr/>
          <p:nvPr/>
        </p:nvSpPr>
        <p:spPr>
          <a:xfrm>
            <a:off x="11985659" y="3565002"/>
            <a:ext cx="6127338" cy="2482203"/>
          </a:xfrm>
          <a:prstGeom prst="wedgeEllipseCallout">
            <a:avLst>
              <a:gd name="adj1" fmla="val 17050"/>
              <a:gd name="adj2" fmla="val 97669"/>
            </a:avLst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rgbClr val="002060"/>
                </a:solidFill>
                <a:latin typeface="Abadi" panose="020B0604020104020204" pitchFamily="34" charset="0"/>
                <a:cs typeface="Times New Roman" panose="02020603050405020304" pitchFamily="18" charset="0"/>
              </a:rPr>
              <a:t>What affects plants’ growth and development? </a:t>
            </a:r>
          </a:p>
        </p:txBody>
      </p:sp>
      <p:sp>
        <p:nvSpPr>
          <p:cNvPr id="15" name="Freeform 12">
            <a:extLst>
              <a:ext uri="{FF2B5EF4-FFF2-40B4-BE49-F238E27FC236}">
                <a16:creationId xmlns:a16="http://schemas.microsoft.com/office/drawing/2014/main" id="{C6EDB7CA-5FEF-8188-B2B1-F22F73E9F9A6}"/>
              </a:ext>
            </a:extLst>
          </p:cNvPr>
          <p:cNvSpPr/>
          <p:nvPr/>
        </p:nvSpPr>
        <p:spPr>
          <a:xfrm>
            <a:off x="12801599" y="7197774"/>
            <a:ext cx="5445233" cy="2930525"/>
          </a:xfrm>
          <a:custGeom>
            <a:avLst/>
            <a:gdLst/>
            <a:ahLst/>
            <a:cxnLst/>
            <a:rect l="l" t="t" r="r" b="b"/>
            <a:pathLst>
              <a:path w="6318466" h="3400483">
                <a:moveTo>
                  <a:pt x="0" y="0"/>
                </a:moveTo>
                <a:lnTo>
                  <a:pt x="6318466" y="0"/>
                </a:lnTo>
                <a:lnTo>
                  <a:pt x="6318466" y="3400484"/>
                </a:lnTo>
                <a:lnTo>
                  <a:pt x="0" y="340048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VN"/>
          </a:p>
        </p:txBody>
      </p:sp>
      <p:sp>
        <p:nvSpPr>
          <p:cNvPr id="17" name="Freeform 3">
            <a:extLst>
              <a:ext uri="{FF2B5EF4-FFF2-40B4-BE49-F238E27FC236}">
                <a16:creationId xmlns:a16="http://schemas.microsoft.com/office/drawing/2014/main" id="{0CFD50A0-222A-1308-1AA5-9C3C09957653}"/>
              </a:ext>
            </a:extLst>
          </p:cNvPr>
          <p:cNvSpPr/>
          <p:nvPr/>
        </p:nvSpPr>
        <p:spPr>
          <a:xfrm>
            <a:off x="573527" y="1245344"/>
            <a:ext cx="3016104" cy="2319658"/>
          </a:xfrm>
          <a:custGeom>
            <a:avLst/>
            <a:gdLst/>
            <a:ahLst/>
            <a:cxnLst/>
            <a:rect l="l" t="t" r="r" b="b"/>
            <a:pathLst>
              <a:path w="6201572" h="4769573">
                <a:moveTo>
                  <a:pt x="0" y="0"/>
                </a:moveTo>
                <a:lnTo>
                  <a:pt x="6201573" y="0"/>
                </a:lnTo>
                <a:lnTo>
                  <a:pt x="6201573" y="4769573"/>
                </a:lnTo>
                <a:lnTo>
                  <a:pt x="0" y="4769573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  <p:txBody>
          <a:bodyPr/>
          <a:lstStyle/>
          <a:p>
            <a:endParaRPr lang="en-VN" dirty="0"/>
          </a:p>
        </p:txBody>
      </p:sp>
      <p:pic>
        <p:nvPicPr>
          <p:cNvPr id="22" name="Google Shape;12;p17" descr="A blue and yellow logo&#10;&#10;Description automatically generated">
            <a:extLst>
              <a:ext uri="{FF2B5EF4-FFF2-40B4-BE49-F238E27FC236}">
                <a16:creationId xmlns:a16="http://schemas.microsoft.com/office/drawing/2014/main" id="{40A2CD11-AE04-6A56-DF27-A6A3277903DC}"/>
              </a:ext>
            </a:extLst>
          </p:cNvPr>
          <p:cNvPicPr preferRelativeResize="0"/>
          <p:nvPr/>
        </p:nvPicPr>
        <p:blipFill rotWithShape="1">
          <a:blip r:embed="rId16"/>
          <a:srcRect t="5199" b="17605"/>
          <a:stretch/>
        </p:blipFill>
        <p:spPr>
          <a:xfrm>
            <a:off x="16002566" y="158701"/>
            <a:ext cx="2110429" cy="1143934"/>
          </a:xfrm>
          <a:prstGeom prst="rect">
            <a:avLst/>
          </a:prstGeom>
          <a:noFill/>
          <a:ln>
            <a:noFill/>
          </a:ln>
          <a:scene3d>
            <a:camera prst="orthographicFront"/>
            <a:lightRig rig="flat" dir="t"/>
          </a:scene3d>
          <a:sp3d extrusionH="76200" prstMaterial="dkEdge">
            <a:extrusionClr>
              <a:srgbClr val="FFFF00"/>
            </a:extrusionClr>
          </a:sp3d>
        </p:spPr>
      </p:pic>
      <p:sp>
        <p:nvSpPr>
          <p:cNvPr id="23" name="Oval Callout 22">
            <a:extLst>
              <a:ext uri="{FF2B5EF4-FFF2-40B4-BE49-F238E27FC236}">
                <a16:creationId xmlns:a16="http://schemas.microsoft.com/office/drawing/2014/main" id="{5B21B533-C9C7-48FD-A1BE-7E5BCA897D37}"/>
              </a:ext>
            </a:extLst>
          </p:cNvPr>
          <p:cNvSpPr/>
          <p:nvPr/>
        </p:nvSpPr>
        <p:spPr>
          <a:xfrm>
            <a:off x="12240927" y="3543300"/>
            <a:ext cx="5616801" cy="2482203"/>
          </a:xfrm>
          <a:prstGeom prst="wedgeEllipseCallout">
            <a:avLst>
              <a:gd name="adj1" fmla="val -12082"/>
              <a:gd name="adj2" fmla="val 99608"/>
            </a:avLst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>
                <a:solidFill>
                  <a:srgbClr val="002060"/>
                </a:solidFill>
                <a:latin typeface="Abadi" panose="020B0604020104020204" pitchFamily="34" charset="0"/>
                <a:cs typeface="Times New Roman" panose="02020603050405020304" pitchFamily="18" charset="0"/>
              </a:rPr>
              <a:t>water</a:t>
            </a:r>
            <a:r>
              <a:rPr lang="en-US" sz="3600" b="1" dirty="0">
                <a:solidFill>
                  <a:srgbClr val="002060"/>
                </a:solidFill>
                <a:latin typeface="Abadi" panose="020B0604020104020204" pitchFamily="34" charset="0"/>
                <a:cs typeface="Times New Roman" panose="02020603050405020304" pitchFamily="18" charset="0"/>
              </a:rPr>
              <a:t>, temperature, sunlight, fertilizer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32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3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4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5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6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" presetID="32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9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0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1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2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" presetID="32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5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6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7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8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8" grpId="0" animBg="1"/>
      <p:bldP spid="9" grpId="0" animBg="1"/>
      <p:bldP spid="11" grpId="0" animBg="1"/>
      <p:bldP spid="14" grpId="1" animBg="1"/>
      <p:bldP spid="17" grpId="0" animBg="1"/>
      <p:bldP spid="23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82BEC2-9281-4EB7-FB08-B40CDA960D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5288C165-0835-F351-9596-08705FF14387}"/>
              </a:ext>
            </a:extLst>
          </p:cNvPr>
          <p:cNvGrpSpPr/>
          <p:nvPr/>
        </p:nvGrpSpPr>
        <p:grpSpPr>
          <a:xfrm flipH="1">
            <a:off x="-304800" y="0"/>
            <a:ext cx="18611974" cy="10315919"/>
            <a:chOff x="22622" y="0"/>
            <a:chExt cx="18611974" cy="10315919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2D9CB075-61B5-0713-414B-68D52115C108}"/>
                </a:ext>
              </a:extLst>
            </p:cNvPr>
            <p:cNvSpPr/>
            <p:nvPr/>
          </p:nvSpPr>
          <p:spPr>
            <a:xfrm>
              <a:off x="22622" y="0"/>
              <a:ext cx="10287000" cy="10287000"/>
            </a:xfrm>
            <a:custGeom>
              <a:avLst/>
              <a:gdLst/>
              <a:ahLst/>
              <a:cxnLst/>
              <a:rect l="l" t="t" r="r" b="b"/>
              <a:pathLst>
                <a:path w="10287000" h="10287000">
                  <a:moveTo>
                    <a:pt x="0" y="0"/>
                  </a:moveTo>
                  <a:lnTo>
                    <a:pt x="10287000" y="0"/>
                  </a:lnTo>
                  <a:lnTo>
                    <a:pt x="10287000" y="10287000"/>
                  </a:lnTo>
                  <a:lnTo>
                    <a:pt x="0" y="10287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VN"/>
            </a:p>
          </p:txBody>
        </p:sp>
        <p:sp>
          <p:nvSpPr>
            <p:cNvPr id="12" name="Freeform 10">
              <a:extLst>
                <a:ext uri="{FF2B5EF4-FFF2-40B4-BE49-F238E27FC236}">
                  <a16:creationId xmlns:a16="http://schemas.microsoft.com/office/drawing/2014/main" id="{F144A278-58FC-A9CA-4C3A-7FA9FB0CA29F}"/>
                </a:ext>
              </a:extLst>
            </p:cNvPr>
            <p:cNvSpPr/>
            <p:nvPr/>
          </p:nvSpPr>
          <p:spPr>
            <a:xfrm flipH="1">
              <a:off x="9982200" y="4152900"/>
              <a:ext cx="8652396" cy="6163019"/>
            </a:xfrm>
            <a:custGeom>
              <a:avLst/>
              <a:gdLst/>
              <a:ahLst/>
              <a:cxnLst/>
              <a:rect l="l" t="t" r="r" b="b"/>
              <a:pathLst>
                <a:path w="10287000" h="10287000">
                  <a:moveTo>
                    <a:pt x="0" y="0"/>
                  </a:moveTo>
                  <a:lnTo>
                    <a:pt x="10287000" y="0"/>
                  </a:lnTo>
                  <a:lnTo>
                    <a:pt x="10287000" y="10287000"/>
                  </a:lnTo>
                  <a:lnTo>
                    <a:pt x="0" y="10287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8892" t="-66914" b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FE16442C-E7DE-088B-476A-AECB92ABB7FD}"/>
              </a:ext>
            </a:extLst>
          </p:cNvPr>
          <p:cNvSpPr/>
          <p:nvPr/>
        </p:nvSpPr>
        <p:spPr>
          <a:xfrm>
            <a:off x="368918" y="341145"/>
            <a:ext cx="11899281" cy="409405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0BD6E53A-BA6E-0F2F-FC8B-306F40A310C1}"/>
              </a:ext>
            </a:extLst>
          </p:cNvPr>
          <p:cNvSpPr/>
          <p:nvPr/>
        </p:nvSpPr>
        <p:spPr>
          <a:xfrm>
            <a:off x="152400" y="5132033"/>
            <a:ext cx="13490124" cy="372731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2" name="Freeform 2">
            <a:extLst>
              <a:ext uri="{FF2B5EF4-FFF2-40B4-BE49-F238E27FC236}">
                <a16:creationId xmlns:a16="http://schemas.microsoft.com/office/drawing/2014/main" id="{27A64720-0081-03E2-2A8F-E88B1691137D}"/>
              </a:ext>
            </a:extLst>
          </p:cNvPr>
          <p:cNvSpPr/>
          <p:nvPr/>
        </p:nvSpPr>
        <p:spPr>
          <a:xfrm>
            <a:off x="4006980" y="483390"/>
            <a:ext cx="1677193" cy="3843567"/>
          </a:xfrm>
          <a:custGeom>
            <a:avLst/>
            <a:gdLst/>
            <a:ahLst/>
            <a:cxnLst/>
            <a:rect l="l" t="t" r="r" b="b"/>
            <a:pathLst>
              <a:path w="1677193" h="3843567">
                <a:moveTo>
                  <a:pt x="0" y="0"/>
                </a:moveTo>
                <a:lnTo>
                  <a:pt x="1677193" y="0"/>
                </a:lnTo>
                <a:lnTo>
                  <a:pt x="1677193" y="3843568"/>
                </a:lnTo>
                <a:lnTo>
                  <a:pt x="0" y="38435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ADC2778F-5CF0-7771-FB0C-5D35308F3B75}"/>
              </a:ext>
            </a:extLst>
          </p:cNvPr>
          <p:cNvSpPr/>
          <p:nvPr/>
        </p:nvSpPr>
        <p:spPr>
          <a:xfrm>
            <a:off x="302532" y="6047205"/>
            <a:ext cx="1928737" cy="1950009"/>
          </a:xfrm>
          <a:custGeom>
            <a:avLst/>
            <a:gdLst/>
            <a:ahLst/>
            <a:cxnLst/>
            <a:rect l="l" t="t" r="r" b="b"/>
            <a:pathLst>
              <a:path w="4069911" h="4114800">
                <a:moveTo>
                  <a:pt x="0" y="0"/>
                </a:moveTo>
                <a:lnTo>
                  <a:pt x="4069912" y="0"/>
                </a:lnTo>
                <a:lnTo>
                  <a:pt x="406991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30259F2F-3942-AF84-5648-92C4C304E415}"/>
              </a:ext>
            </a:extLst>
          </p:cNvPr>
          <p:cNvSpPr/>
          <p:nvPr/>
        </p:nvSpPr>
        <p:spPr>
          <a:xfrm>
            <a:off x="5791200" y="6005026"/>
            <a:ext cx="1925867" cy="2034367"/>
          </a:xfrm>
          <a:custGeom>
            <a:avLst/>
            <a:gdLst/>
            <a:ahLst/>
            <a:cxnLst/>
            <a:rect l="l" t="t" r="r" b="b"/>
            <a:pathLst>
              <a:path w="4939512" h="5217795">
                <a:moveTo>
                  <a:pt x="0" y="0"/>
                </a:moveTo>
                <a:lnTo>
                  <a:pt x="4939512" y="0"/>
                </a:lnTo>
                <a:lnTo>
                  <a:pt x="4939512" y="5217795"/>
                </a:lnTo>
                <a:lnTo>
                  <a:pt x="0" y="521779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65EF5A5D-6957-6E84-C9E8-7234C8006697}"/>
              </a:ext>
            </a:extLst>
          </p:cNvPr>
          <p:cNvSpPr/>
          <p:nvPr/>
        </p:nvSpPr>
        <p:spPr>
          <a:xfrm>
            <a:off x="8229600" y="5559188"/>
            <a:ext cx="2553637" cy="2926043"/>
          </a:xfrm>
          <a:custGeom>
            <a:avLst/>
            <a:gdLst/>
            <a:ahLst/>
            <a:cxnLst/>
            <a:rect l="l" t="t" r="r" b="b"/>
            <a:pathLst>
              <a:path w="3705599" h="4245999">
                <a:moveTo>
                  <a:pt x="0" y="0"/>
                </a:moveTo>
                <a:lnTo>
                  <a:pt x="3705599" y="0"/>
                </a:lnTo>
                <a:lnTo>
                  <a:pt x="3705599" y="4245999"/>
                </a:lnTo>
                <a:lnTo>
                  <a:pt x="0" y="424599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78864C8E-C20E-B94F-CCE2-CC27D16E1984}"/>
              </a:ext>
            </a:extLst>
          </p:cNvPr>
          <p:cNvSpPr/>
          <p:nvPr/>
        </p:nvSpPr>
        <p:spPr>
          <a:xfrm>
            <a:off x="11353800" y="5555226"/>
            <a:ext cx="1835062" cy="2933966"/>
          </a:xfrm>
          <a:custGeom>
            <a:avLst/>
            <a:gdLst/>
            <a:ahLst/>
            <a:cxnLst/>
            <a:rect l="l" t="t" r="r" b="b"/>
            <a:pathLst>
              <a:path w="2573620" h="4114800">
                <a:moveTo>
                  <a:pt x="0" y="0"/>
                </a:moveTo>
                <a:lnTo>
                  <a:pt x="2573620" y="0"/>
                </a:lnTo>
                <a:lnTo>
                  <a:pt x="257362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C671B1A5-D085-7084-5AD5-1DA2B255AE31}"/>
              </a:ext>
            </a:extLst>
          </p:cNvPr>
          <p:cNvSpPr/>
          <p:nvPr/>
        </p:nvSpPr>
        <p:spPr>
          <a:xfrm>
            <a:off x="2438400" y="5439268"/>
            <a:ext cx="2964417" cy="3165883"/>
          </a:xfrm>
          <a:custGeom>
            <a:avLst/>
            <a:gdLst/>
            <a:ahLst/>
            <a:cxnLst/>
            <a:rect l="l" t="t" r="r" b="b"/>
            <a:pathLst>
              <a:path w="3271522" h="3493858">
                <a:moveTo>
                  <a:pt x="0" y="0"/>
                </a:moveTo>
                <a:lnTo>
                  <a:pt x="3271521" y="0"/>
                </a:lnTo>
                <a:lnTo>
                  <a:pt x="3271521" y="3493858"/>
                </a:lnTo>
                <a:lnTo>
                  <a:pt x="0" y="349385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CC25CAE3-4787-3115-7F57-74DC15258459}"/>
              </a:ext>
            </a:extLst>
          </p:cNvPr>
          <p:cNvSpPr/>
          <p:nvPr/>
        </p:nvSpPr>
        <p:spPr>
          <a:xfrm>
            <a:off x="5912169" y="928501"/>
            <a:ext cx="3286059" cy="2953345"/>
          </a:xfrm>
          <a:custGeom>
            <a:avLst/>
            <a:gdLst/>
            <a:ahLst/>
            <a:cxnLst/>
            <a:rect l="l" t="t" r="r" b="b"/>
            <a:pathLst>
              <a:path w="2660480" h="2391106">
                <a:moveTo>
                  <a:pt x="0" y="0"/>
                </a:moveTo>
                <a:lnTo>
                  <a:pt x="2660480" y="0"/>
                </a:lnTo>
                <a:lnTo>
                  <a:pt x="2660480" y="2391106"/>
                </a:lnTo>
                <a:lnTo>
                  <a:pt x="0" y="239110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ACCEFF6B-D035-7D8C-1016-C72410C11FF7}"/>
              </a:ext>
            </a:extLst>
          </p:cNvPr>
          <p:cNvSpPr/>
          <p:nvPr/>
        </p:nvSpPr>
        <p:spPr>
          <a:xfrm>
            <a:off x="9699590" y="1037976"/>
            <a:ext cx="2416210" cy="2734394"/>
          </a:xfrm>
          <a:custGeom>
            <a:avLst/>
            <a:gdLst/>
            <a:ahLst/>
            <a:cxnLst/>
            <a:rect l="l" t="t" r="r" b="b"/>
            <a:pathLst>
              <a:path w="2053643" h="2324082">
                <a:moveTo>
                  <a:pt x="0" y="0"/>
                </a:moveTo>
                <a:lnTo>
                  <a:pt x="2053644" y="0"/>
                </a:lnTo>
                <a:lnTo>
                  <a:pt x="2053644" y="2324082"/>
                </a:lnTo>
                <a:lnTo>
                  <a:pt x="0" y="232408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15" name="Freeform 12">
            <a:extLst>
              <a:ext uri="{FF2B5EF4-FFF2-40B4-BE49-F238E27FC236}">
                <a16:creationId xmlns:a16="http://schemas.microsoft.com/office/drawing/2014/main" id="{39F3ADA1-AD82-1C48-2824-E78C59F08A2C}"/>
              </a:ext>
            </a:extLst>
          </p:cNvPr>
          <p:cNvSpPr/>
          <p:nvPr/>
        </p:nvSpPr>
        <p:spPr>
          <a:xfrm>
            <a:off x="12801599" y="7197774"/>
            <a:ext cx="5445233" cy="2930525"/>
          </a:xfrm>
          <a:custGeom>
            <a:avLst/>
            <a:gdLst/>
            <a:ahLst/>
            <a:cxnLst/>
            <a:rect l="l" t="t" r="r" b="b"/>
            <a:pathLst>
              <a:path w="6318466" h="3400483">
                <a:moveTo>
                  <a:pt x="0" y="0"/>
                </a:moveTo>
                <a:lnTo>
                  <a:pt x="6318466" y="0"/>
                </a:lnTo>
                <a:lnTo>
                  <a:pt x="6318466" y="3400484"/>
                </a:lnTo>
                <a:lnTo>
                  <a:pt x="0" y="340048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VN"/>
          </a:p>
        </p:txBody>
      </p:sp>
      <p:sp>
        <p:nvSpPr>
          <p:cNvPr id="17" name="Freeform 3">
            <a:extLst>
              <a:ext uri="{FF2B5EF4-FFF2-40B4-BE49-F238E27FC236}">
                <a16:creationId xmlns:a16="http://schemas.microsoft.com/office/drawing/2014/main" id="{ADC7CC70-9705-8933-7BBE-39BEC66AFD88}"/>
              </a:ext>
            </a:extLst>
          </p:cNvPr>
          <p:cNvSpPr/>
          <p:nvPr/>
        </p:nvSpPr>
        <p:spPr>
          <a:xfrm>
            <a:off x="573527" y="1245344"/>
            <a:ext cx="3016104" cy="2319658"/>
          </a:xfrm>
          <a:custGeom>
            <a:avLst/>
            <a:gdLst/>
            <a:ahLst/>
            <a:cxnLst/>
            <a:rect l="l" t="t" r="r" b="b"/>
            <a:pathLst>
              <a:path w="6201572" h="4769573">
                <a:moveTo>
                  <a:pt x="0" y="0"/>
                </a:moveTo>
                <a:lnTo>
                  <a:pt x="6201573" y="0"/>
                </a:lnTo>
                <a:lnTo>
                  <a:pt x="6201573" y="4769573"/>
                </a:lnTo>
                <a:lnTo>
                  <a:pt x="0" y="4769573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  <p:txBody>
          <a:bodyPr/>
          <a:lstStyle/>
          <a:p>
            <a:endParaRPr lang="en-VN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E57E13E-4181-D022-1B02-FC97CAA6DA30}"/>
              </a:ext>
            </a:extLst>
          </p:cNvPr>
          <p:cNvGrpSpPr/>
          <p:nvPr/>
        </p:nvGrpSpPr>
        <p:grpSpPr>
          <a:xfrm>
            <a:off x="15679976" y="189280"/>
            <a:ext cx="2418895" cy="1283456"/>
            <a:chOff x="18930692" y="3279837"/>
            <a:chExt cx="3352800" cy="1778982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B2904B77-B46C-521E-2A40-FE86BFA84640}"/>
                </a:ext>
              </a:extLst>
            </p:cNvPr>
            <p:cNvSpPr/>
            <p:nvPr/>
          </p:nvSpPr>
          <p:spPr>
            <a:xfrm>
              <a:off x="18930692" y="3279837"/>
              <a:ext cx="3352800" cy="177898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>
                <a:latin typeface="Abadi" panose="020B0604020104020204" pitchFamily="34" charset="0"/>
                <a:cs typeface="Times New Roman" panose="02020603050405020304" pitchFamily="18" charset="0"/>
              </a:endParaRPr>
            </a:p>
          </p:txBody>
        </p:sp>
        <p:pic>
          <p:nvPicPr>
            <p:cNvPr id="22" name="Google Shape;12;p17" descr="A blue and yellow logo&#10;&#10;Description automatically generated">
              <a:extLst>
                <a:ext uri="{FF2B5EF4-FFF2-40B4-BE49-F238E27FC236}">
                  <a16:creationId xmlns:a16="http://schemas.microsoft.com/office/drawing/2014/main" id="{F123E62D-B53A-5949-5FBF-A9BCA78B2AA1}"/>
                </a:ext>
              </a:extLst>
            </p:cNvPr>
            <p:cNvPicPr preferRelativeResize="0"/>
            <p:nvPr/>
          </p:nvPicPr>
          <p:blipFill rotWithShape="1">
            <a:blip r:embed="rId16"/>
            <a:srcRect t="5199" b="17605"/>
            <a:stretch/>
          </p:blipFill>
          <p:spPr>
            <a:xfrm>
              <a:off x="19377831" y="3515612"/>
              <a:ext cx="2458523" cy="1307433"/>
            </a:xfrm>
            <a:prstGeom prst="rect">
              <a:avLst/>
            </a:prstGeom>
            <a:noFill/>
            <a:ln>
              <a:noFill/>
            </a:ln>
            <a:scene3d>
              <a:camera prst="orthographicFront"/>
              <a:lightRig rig="flat" dir="t"/>
            </a:scene3d>
            <a:sp3d extrusionH="76200" prstMaterial="dkEdge">
              <a:extrusionClr>
                <a:srgbClr val="FFFF00"/>
              </a:extrusionClr>
            </a:sp3d>
          </p:spPr>
        </p:pic>
      </p:grpSp>
      <p:sp>
        <p:nvSpPr>
          <p:cNvPr id="23" name="Oval Callout 22">
            <a:extLst>
              <a:ext uri="{FF2B5EF4-FFF2-40B4-BE49-F238E27FC236}">
                <a16:creationId xmlns:a16="http://schemas.microsoft.com/office/drawing/2014/main" id="{B39A0756-4FF9-955C-8634-975DBB530E20}"/>
              </a:ext>
            </a:extLst>
          </p:cNvPr>
          <p:cNvSpPr/>
          <p:nvPr/>
        </p:nvSpPr>
        <p:spPr>
          <a:xfrm>
            <a:off x="11963400" y="3544894"/>
            <a:ext cx="6201880" cy="2482203"/>
          </a:xfrm>
          <a:prstGeom prst="wedgeEllipseCallout">
            <a:avLst>
              <a:gd name="adj1" fmla="val -12082"/>
              <a:gd name="adj2" fmla="val 99608"/>
            </a:avLst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rgbClr val="002060"/>
                </a:solidFill>
                <a:latin typeface="Abadi" panose="020B0604020104020204" pitchFamily="34" charset="0"/>
                <a:cs typeface="Times New Roman" panose="02020603050405020304" pitchFamily="18" charset="0"/>
              </a:rPr>
              <a:t>Where do plants take nutrients from? </a:t>
            </a:r>
          </a:p>
        </p:txBody>
      </p:sp>
      <p:sp>
        <p:nvSpPr>
          <p:cNvPr id="14" name="Oval Callout 13">
            <a:extLst>
              <a:ext uri="{FF2B5EF4-FFF2-40B4-BE49-F238E27FC236}">
                <a16:creationId xmlns:a16="http://schemas.microsoft.com/office/drawing/2014/main" id="{EB13DECA-4285-0D71-B65E-48A5D6E0AC71}"/>
              </a:ext>
            </a:extLst>
          </p:cNvPr>
          <p:cNvSpPr/>
          <p:nvPr/>
        </p:nvSpPr>
        <p:spPr>
          <a:xfrm>
            <a:off x="12466002" y="3575697"/>
            <a:ext cx="5616801" cy="2482203"/>
          </a:xfrm>
          <a:prstGeom prst="wedgeEllipseCallout">
            <a:avLst>
              <a:gd name="adj1" fmla="val 17050"/>
              <a:gd name="adj2" fmla="val 97669"/>
            </a:avLst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accent1">
                    <a:lumMod val="50000"/>
                  </a:schemeClr>
                </a:solidFill>
                <a:latin typeface="Abadi" panose="020B0604020104020204" pitchFamily="34" charset="0"/>
                <a:cs typeface="Times New Roman" panose="02020603050405020304" pitchFamily="18" charset="0"/>
              </a:rPr>
              <a:t>Plants take nutrients from </a:t>
            </a:r>
            <a:r>
              <a:rPr lang="en-US" sz="3200" b="1">
                <a:solidFill>
                  <a:schemeClr val="accent1">
                    <a:lumMod val="50000"/>
                  </a:schemeClr>
                </a:solidFill>
                <a:latin typeface="Abadi" panose="020B0604020104020204" pitchFamily="34" charset="0"/>
                <a:cs typeface="Times New Roman" panose="02020603050405020304" pitchFamily="18" charset="0"/>
              </a:rPr>
              <a:t>the soil.</a:t>
            </a:r>
            <a:endParaRPr lang="en-US" sz="3200" b="1" dirty="0">
              <a:solidFill>
                <a:schemeClr val="accent1">
                  <a:lumMod val="50000"/>
                </a:schemeClr>
              </a:solidFill>
              <a:latin typeface="Abadi" panose="020B0604020104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8954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32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3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4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5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6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" presetID="32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9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0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1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2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" presetID="32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5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6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7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8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9" grpId="0" animBg="1"/>
      <p:bldP spid="11" grpId="0" animBg="1"/>
      <p:bldP spid="17" grpId="0" animBg="1"/>
      <p:bldP spid="23" grpId="0" animBg="1"/>
      <p:bldP spid="1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5DE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9479079">
            <a:off x="-999954" y="8270643"/>
            <a:ext cx="5469801" cy="3003418"/>
          </a:xfrm>
          <a:custGeom>
            <a:avLst/>
            <a:gdLst/>
            <a:ahLst/>
            <a:cxnLst/>
            <a:rect l="l" t="t" r="r" b="b"/>
            <a:pathLst>
              <a:path w="5469801" h="3003418">
                <a:moveTo>
                  <a:pt x="0" y="0"/>
                </a:moveTo>
                <a:lnTo>
                  <a:pt x="5469801" y="0"/>
                </a:lnTo>
                <a:lnTo>
                  <a:pt x="5469801" y="3003418"/>
                </a:lnTo>
                <a:lnTo>
                  <a:pt x="0" y="30034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>
              <a:latin typeface="Abadi" panose="020B0604020104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Freeform 8"/>
          <p:cNvSpPr/>
          <p:nvPr/>
        </p:nvSpPr>
        <p:spPr>
          <a:xfrm rot="2121845">
            <a:off x="13826256" y="-978546"/>
            <a:ext cx="5813856" cy="3541167"/>
          </a:xfrm>
          <a:custGeom>
            <a:avLst/>
            <a:gdLst/>
            <a:ahLst/>
            <a:cxnLst/>
            <a:rect l="l" t="t" r="r" b="b"/>
            <a:pathLst>
              <a:path w="5813856" h="3541167">
                <a:moveTo>
                  <a:pt x="0" y="0"/>
                </a:moveTo>
                <a:lnTo>
                  <a:pt x="5813855" y="0"/>
                </a:lnTo>
                <a:lnTo>
                  <a:pt x="5813855" y="3541167"/>
                </a:lnTo>
                <a:lnTo>
                  <a:pt x="0" y="354116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>
              <a:latin typeface="Abadi" panose="020B0604020104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FF1FCF6C-FF7C-AA08-8703-C69761E1F4AC}"/>
              </a:ext>
            </a:extLst>
          </p:cNvPr>
          <p:cNvSpPr/>
          <p:nvPr/>
        </p:nvSpPr>
        <p:spPr>
          <a:xfrm>
            <a:off x="9753735" y="2469099"/>
            <a:ext cx="8345136" cy="526520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1" name="Freeform 11"/>
          <p:cNvSpPr/>
          <p:nvPr/>
        </p:nvSpPr>
        <p:spPr>
          <a:xfrm>
            <a:off x="17299370" y="8848190"/>
            <a:ext cx="1977259" cy="1757963"/>
          </a:xfrm>
          <a:custGeom>
            <a:avLst/>
            <a:gdLst/>
            <a:ahLst/>
            <a:cxnLst/>
            <a:rect l="l" t="t" r="r" b="b"/>
            <a:pathLst>
              <a:path w="1977259" h="1757963">
                <a:moveTo>
                  <a:pt x="0" y="0"/>
                </a:moveTo>
                <a:lnTo>
                  <a:pt x="1977259" y="0"/>
                </a:lnTo>
                <a:lnTo>
                  <a:pt x="1977259" y="1757963"/>
                </a:lnTo>
                <a:lnTo>
                  <a:pt x="0" y="175796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>
              <a:latin typeface="Abadi" panose="020B060402010402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6C3E995-137B-6DBA-FE54-17BB94018D65}"/>
              </a:ext>
            </a:extLst>
          </p:cNvPr>
          <p:cNvGrpSpPr/>
          <p:nvPr/>
        </p:nvGrpSpPr>
        <p:grpSpPr>
          <a:xfrm>
            <a:off x="149550" y="190500"/>
            <a:ext cx="5184450" cy="1097280"/>
            <a:chOff x="228599" y="190500"/>
            <a:chExt cx="4264345" cy="1097280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915202B8-24CC-B5D1-3A52-09171452537C}"/>
                </a:ext>
              </a:extLst>
            </p:cNvPr>
            <p:cNvSpPr/>
            <p:nvPr/>
          </p:nvSpPr>
          <p:spPr>
            <a:xfrm>
              <a:off x="228599" y="190500"/>
              <a:ext cx="4264345" cy="1097280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badi" panose="020B0604020104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4E15234C-C808-DF54-E357-3F814308ADC3}"/>
                </a:ext>
              </a:extLst>
            </p:cNvPr>
            <p:cNvSpPr txBox="1"/>
            <p:nvPr/>
          </p:nvSpPr>
          <p:spPr>
            <a:xfrm>
              <a:off x="448356" y="241637"/>
              <a:ext cx="382483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dirty="0">
                  <a:solidFill>
                    <a:srgbClr val="C00000"/>
                  </a:solidFill>
                  <a:latin typeface="Abadi" panose="020B0604020104020204" pitchFamily="34" charset="0"/>
                  <a:ea typeface="ADLaM Display" panose="02010000000000000000" pitchFamily="2" charset="0"/>
                  <a:cs typeface="Times New Roman" panose="02020603050405020304" pitchFamily="18" charset="0"/>
                </a:rPr>
                <a:t>Vocabulary</a:t>
              </a: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6150771A-246A-21C1-BF9C-E197E90D3C7B}"/>
              </a:ext>
            </a:extLst>
          </p:cNvPr>
          <p:cNvSpPr txBox="1"/>
          <p:nvPr/>
        </p:nvSpPr>
        <p:spPr>
          <a:xfrm>
            <a:off x="9841131" y="2628900"/>
            <a:ext cx="817034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800" b="1" dirty="0">
                <a:solidFill>
                  <a:srgbClr val="002060"/>
                </a:solidFill>
                <a:latin typeface="Abadi" panose="020B0604020104020204" pitchFamily="34" charset="0"/>
                <a:cs typeface="Times New Roman" panose="02020603050405020304" pitchFamily="18" charset="0"/>
              </a:rPr>
              <a:t>o</a:t>
            </a:r>
            <a:r>
              <a:rPr lang="en-US" sz="8800" b="1">
                <a:solidFill>
                  <a:srgbClr val="002060"/>
                </a:solidFill>
                <a:latin typeface="Abadi" panose="020B0604020104020204" pitchFamily="34" charset="0"/>
                <a:cs typeface="Times New Roman" panose="02020603050405020304" pitchFamily="18" charset="0"/>
              </a:rPr>
              <a:t>rganic </a:t>
            </a:r>
            <a:r>
              <a:rPr lang="en-US" sz="8800" b="1" dirty="0">
                <a:solidFill>
                  <a:srgbClr val="002060"/>
                </a:solidFill>
                <a:latin typeface="Abadi" panose="020B0604020104020204" pitchFamily="34" charset="0"/>
                <a:cs typeface="Times New Roman" panose="02020603050405020304" pitchFamily="18" charset="0"/>
              </a:rPr>
              <a:t>matter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377E85-1F92-AE72-114E-6C8D8E0B4312}"/>
              </a:ext>
            </a:extLst>
          </p:cNvPr>
          <p:cNvSpPr txBox="1"/>
          <p:nvPr/>
        </p:nvSpPr>
        <p:spPr>
          <a:xfrm>
            <a:off x="10740361" y="4524970"/>
            <a:ext cx="64808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solidFill>
                  <a:schemeClr val="accent3">
                    <a:lumMod val="50000"/>
                  </a:schemeClr>
                </a:solidFill>
                <a:latin typeface="Abadi" panose="020B0604020104020204" pitchFamily="34" charset="0"/>
                <a:cs typeface="Times New Roman" panose="02020603050405020304" pitchFamily="18" charset="0"/>
              </a:rPr>
              <a:t>/</a:t>
            </a:r>
            <a:r>
              <a:rPr lang="en-US" sz="5400" dirty="0" err="1">
                <a:solidFill>
                  <a:schemeClr val="accent3">
                    <a:lumMod val="50000"/>
                  </a:schemeClr>
                </a:solidFill>
                <a:latin typeface="Abadi" panose="020B0604020104020204" pitchFamily="34" charset="0"/>
                <a:cs typeface="Times New Roman" panose="02020603050405020304" pitchFamily="18" charset="0"/>
              </a:rPr>
              <a:t>ɔːrˈɡænɪk</a:t>
            </a:r>
            <a:r>
              <a:rPr lang="en-US" sz="5400" dirty="0">
                <a:solidFill>
                  <a:schemeClr val="accent3">
                    <a:lumMod val="50000"/>
                  </a:schemeClr>
                </a:solidFill>
                <a:latin typeface="Abadi" panose="020B0604020104020204" pitchFamily="34" charset="0"/>
                <a:cs typeface="Times New Roman" panose="02020603050405020304" pitchFamily="18" charset="0"/>
              </a:rPr>
              <a:t> ˈ</a:t>
            </a:r>
            <a:r>
              <a:rPr lang="en-US" sz="5400" dirty="0" err="1">
                <a:solidFill>
                  <a:schemeClr val="accent3">
                    <a:lumMod val="50000"/>
                  </a:schemeClr>
                </a:solidFill>
                <a:latin typeface="Abadi" panose="020B0604020104020204" pitchFamily="34" charset="0"/>
                <a:cs typeface="Times New Roman" panose="02020603050405020304" pitchFamily="18" charset="0"/>
              </a:rPr>
              <a:t>mætər</a:t>
            </a:r>
            <a:r>
              <a:rPr lang="en-US" sz="5400" dirty="0">
                <a:solidFill>
                  <a:schemeClr val="accent3">
                    <a:lumMod val="50000"/>
                  </a:schemeClr>
                </a:solidFill>
                <a:latin typeface="Abadi" panose="020B0604020104020204" pitchFamily="34" charset="0"/>
                <a:cs typeface="Times New Roman" panose="02020603050405020304" pitchFamily="18" charset="0"/>
              </a:rPr>
              <a:t>/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5B6355B-FFC4-8B62-9EF7-25AEFE856C79}"/>
              </a:ext>
            </a:extLst>
          </p:cNvPr>
          <p:cNvSpPr txBox="1"/>
          <p:nvPr/>
        </p:nvSpPr>
        <p:spPr>
          <a:xfrm>
            <a:off x="9753735" y="5829300"/>
            <a:ext cx="834513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latin typeface="Abadi" panose="020B0604020104020204" pitchFamily="34" charset="0"/>
                <a:cs typeface="Times New Roman" panose="02020603050405020304" pitchFamily="18" charset="0"/>
              </a:rPr>
              <a:t>material that comes from living or once-living organisms.</a:t>
            </a:r>
          </a:p>
        </p:txBody>
      </p:sp>
      <p:sp>
        <p:nvSpPr>
          <p:cNvPr id="12" name="Freeform 12"/>
          <p:cNvSpPr/>
          <p:nvPr/>
        </p:nvSpPr>
        <p:spPr>
          <a:xfrm>
            <a:off x="4684845" y="-624198"/>
            <a:ext cx="1832655" cy="1629396"/>
          </a:xfrm>
          <a:custGeom>
            <a:avLst/>
            <a:gdLst/>
            <a:ahLst/>
            <a:cxnLst/>
            <a:rect l="l" t="t" r="r" b="b"/>
            <a:pathLst>
              <a:path w="1832655" h="1629396">
                <a:moveTo>
                  <a:pt x="0" y="0"/>
                </a:moveTo>
                <a:lnTo>
                  <a:pt x="1832654" y="0"/>
                </a:lnTo>
                <a:lnTo>
                  <a:pt x="1832654" y="1629397"/>
                </a:lnTo>
                <a:lnTo>
                  <a:pt x="0" y="162939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>
              <a:latin typeface="Abadi" panose="020B0604020104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Do You Know the Difference Between Organic Material and Soil Organic  Matter? – On Pasture">
            <a:extLst>
              <a:ext uri="{FF2B5EF4-FFF2-40B4-BE49-F238E27FC236}">
                <a16:creationId xmlns:a16="http://schemas.microsoft.com/office/drawing/2014/main" id="{133CAB5D-CE91-0119-1618-A58C101548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991" y="2247888"/>
            <a:ext cx="9370720" cy="6252675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5DEE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34A777-229B-BE00-7506-225D80963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DEF5546-DD95-DC9B-4F66-C076248D20A2}"/>
              </a:ext>
            </a:extLst>
          </p:cNvPr>
          <p:cNvSpPr/>
          <p:nvPr/>
        </p:nvSpPr>
        <p:spPr>
          <a:xfrm rot="-9479079">
            <a:off x="-999954" y="8270643"/>
            <a:ext cx="5469801" cy="3003418"/>
          </a:xfrm>
          <a:custGeom>
            <a:avLst/>
            <a:gdLst/>
            <a:ahLst/>
            <a:cxnLst/>
            <a:rect l="l" t="t" r="r" b="b"/>
            <a:pathLst>
              <a:path w="5469801" h="3003418">
                <a:moveTo>
                  <a:pt x="0" y="0"/>
                </a:moveTo>
                <a:lnTo>
                  <a:pt x="5469801" y="0"/>
                </a:lnTo>
                <a:lnTo>
                  <a:pt x="5469801" y="3003418"/>
                </a:lnTo>
                <a:lnTo>
                  <a:pt x="0" y="30034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>
              <a:latin typeface="Abadi" panose="020B0604020104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1B09A64E-3374-F7F1-43C9-F55666816EE4}"/>
              </a:ext>
            </a:extLst>
          </p:cNvPr>
          <p:cNvSpPr/>
          <p:nvPr/>
        </p:nvSpPr>
        <p:spPr>
          <a:xfrm rot="2121845">
            <a:off x="13826256" y="-978546"/>
            <a:ext cx="5813856" cy="3541167"/>
          </a:xfrm>
          <a:custGeom>
            <a:avLst/>
            <a:gdLst/>
            <a:ahLst/>
            <a:cxnLst/>
            <a:rect l="l" t="t" r="r" b="b"/>
            <a:pathLst>
              <a:path w="5813856" h="3541167">
                <a:moveTo>
                  <a:pt x="0" y="0"/>
                </a:moveTo>
                <a:lnTo>
                  <a:pt x="5813855" y="0"/>
                </a:lnTo>
                <a:lnTo>
                  <a:pt x="5813855" y="3541167"/>
                </a:lnTo>
                <a:lnTo>
                  <a:pt x="0" y="354116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>
              <a:latin typeface="Abadi" panose="020B0604020104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15311A69-D556-7A58-5A74-D6D164651A72}"/>
              </a:ext>
            </a:extLst>
          </p:cNvPr>
          <p:cNvSpPr/>
          <p:nvPr/>
        </p:nvSpPr>
        <p:spPr>
          <a:xfrm>
            <a:off x="17299370" y="8848190"/>
            <a:ext cx="1977259" cy="1757963"/>
          </a:xfrm>
          <a:custGeom>
            <a:avLst/>
            <a:gdLst/>
            <a:ahLst/>
            <a:cxnLst/>
            <a:rect l="l" t="t" r="r" b="b"/>
            <a:pathLst>
              <a:path w="1977259" h="1757963">
                <a:moveTo>
                  <a:pt x="0" y="0"/>
                </a:moveTo>
                <a:lnTo>
                  <a:pt x="1977259" y="0"/>
                </a:lnTo>
                <a:lnTo>
                  <a:pt x="1977259" y="1757963"/>
                </a:lnTo>
                <a:lnTo>
                  <a:pt x="0" y="175796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>
              <a:latin typeface="Abadi" panose="020B060402010402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034FF15-B422-B5DD-41E1-3FC9203C5ADF}"/>
              </a:ext>
            </a:extLst>
          </p:cNvPr>
          <p:cNvGrpSpPr/>
          <p:nvPr/>
        </p:nvGrpSpPr>
        <p:grpSpPr>
          <a:xfrm>
            <a:off x="149550" y="190500"/>
            <a:ext cx="5184450" cy="1097280"/>
            <a:chOff x="228599" y="190500"/>
            <a:chExt cx="4264345" cy="1097280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6530FEDE-17BC-87E8-67E8-426E2AABF0CC}"/>
                </a:ext>
              </a:extLst>
            </p:cNvPr>
            <p:cNvSpPr/>
            <p:nvPr/>
          </p:nvSpPr>
          <p:spPr>
            <a:xfrm>
              <a:off x="228599" y="190500"/>
              <a:ext cx="4264345" cy="1097280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badi" panose="020B0604020104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068CECD-3F9A-B576-8DD3-02D09FBDC485}"/>
                </a:ext>
              </a:extLst>
            </p:cNvPr>
            <p:cNvSpPr txBox="1"/>
            <p:nvPr/>
          </p:nvSpPr>
          <p:spPr>
            <a:xfrm>
              <a:off x="448356" y="241637"/>
              <a:ext cx="382483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dirty="0">
                  <a:solidFill>
                    <a:srgbClr val="C00000"/>
                  </a:solidFill>
                  <a:latin typeface="Abadi" panose="020B0604020104020204" pitchFamily="34" charset="0"/>
                  <a:ea typeface="ADLaM Display" panose="02010000000000000000" pitchFamily="2" charset="0"/>
                  <a:cs typeface="Times New Roman" panose="02020603050405020304" pitchFamily="18" charset="0"/>
                </a:rPr>
                <a:t>Vocabulary</a:t>
              </a:r>
            </a:p>
          </p:txBody>
        </p:sp>
      </p:grpSp>
      <p:sp>
        <p:nvSpPr>
          <p:cNvPr id="12" name="Freeform 12">
            <a:extLst>
              <a:ext uri="{FF2B5EF4-FFF2-40B4-BE49-F238E27FC236}">
                <a16:creationId xmlns:a16="http://schemas.microsoft.com/office/drawing/2014/main" id="{F9E34B00-18A2-9858-4E9B-6A20DBE3FE56}"/>
              </a:ext>
            </a:extLst>
          </p:cNvPr>
          <p:cNvSpPr/>
          <p:nvPr/>
        </p:nvSpPr>
        <p:spPr>
          <a:xfrm>
            <a:off x="4684845" y="-624198"/>
            <a:ext cx="1832655" cy="1629396"/>
          </a:xfrm>
          <a:custGeom>
            <a:avLst/>
            <a:gdLst/>
            <a:ahLst/>
            <a:cxnLst/>
            <a:rect l="l" t="t" r="r" b="b"/>
            <a:pathLst>
              <a:path w="1832655" h="1629396">
                <a:moveTo>
                  <a:pt x="0" y="0"/>
                </a:moveTo>
                <a:lnTo>
                  <a:pt x="1832654" y="0"/>
                </a:lnTo>
                <a:lnTo>
                  <a:pt x="1832654" y="1629397"/>
                </a:lnTo>
                <a:lnTo>
                  <a:pt x="0" y="162939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>
              <a:latin typeface="Abadi" panose="020B060402010402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0533EB3-1CA3-4ECC-18F5-53C9916DD27B}"/>
              </a:ext>
            </a:extLst>
          </p:cNvPr>
          <p:cNvGrpSpPr/>
          <p:nvPr/>
        </p:nvGrpSpPr>
        <p:grpSpPr>
          <a:xfrm>
            <a:off x="94608" y="1611332"/>
            <a:ext cx="8761290" cy="7064335"/>
            <a:chOff x="5666999" y="293011"/>
            <a:chExt cx="6096001" cy="4915280"/>
          </a:xfrm>
        </p:grpSpPr>
        <p:pic>
          <p:nvPicPr>
            <p:cNvPr id="17" name="Picture 2" descr="Phân bón vô cơ có thực sự cần thiết trong nền nông nghiệp hiện nay">
              <a:extLst>
                <a:ext uri="{FF2B5EF4-FFF2-40B4-BE49-F238E27FC236}">
                  <a16:creationId xmlns:a16="http://schemas.microsoft.com/office/drawing/2014/main" id="{47713BC9-C0F1-F7B3-F27C-EC0F3C239CE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01" t="2646" r="4434"/>
            <a:stretch/>
          </p:blipFill>
          <p:spPr bwMode="auto">
            <a:xfrm>
              <a:off x="5666999" y="293011"/>
              <a:ext cx="6096001" cy="49152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F686EE97-CA02-FD8F-E543-12A5BEAFA410}"/>
                </a:ext>
              </a:extLst>
            </p:cNvPr>
            <p:cNvSpPr/>
            <p:nvPr/>
          </p:nvSpPr>
          <p:spPr>
            <a:xfrm>
              <a:off x="5666999" y="340881"/>
              <a:ext cx="1104428" cy="73308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badi" panose="020B0604020104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E6CA4919-EA0A-76A5-DA95-5E8E9BBCA9E6}"/>
                </a:ext>
              </a:extLst>
            </p:cNvPr>
            <p:cNvSpPr/>
            <p:nvPr/>
          </p:nvSpPr>
          <p:spPr>
            <a:xfrm>
              <a:off x="9712252" y="1090338"/>
              <a:ext cx="1738866" cy="73308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badi" panose="020B060402010402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0" name="Rounded Rectangle 14">
            <a:extLst>
              <a:ext uri="{FF2B5EF4-FFF2-40B4-BE49-F238E27FC236}">
                <a16:creationId xmlns:a16="http://schemas.microsoft.com/office/drawing/2014/main" id="{11AE48BB-3CE6-83DE-558A-71BF977334C0}"/>
              </a:ext>
            </a:extLst>
          </p:cNvPr>
          <p:cNvSpPr/>
          <p:nvPr/>
        </p:nvSpPr>
        <p:spPr>
          <a:xfrm>
            <a:off x="9065548" y="2469099"/>
            <a:ext cx="8621867" cy="526520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>
              <a:latin typeface="Abadi" panose="020B0604020104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1FBB55D-2C88-C3D9-6C6D-73ABDAB69283}"/>
              </a:ext>
            </a:extLst>
          </p:cNvPr>
          <p:cNvSpPr txBox="1"/>
          <p:nvPr/>
        </p:nvSpPr>
        <p:spPr>
          <a:xfrm>
            <a:off x="9134985" y="2906628"/>
            <a:ext cx="8543415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800" b="1" dirty="0">
                <a:solidFill>
                  <a:srgbClr val="002060"/>
                </a:solidFill>
                <a:latin typeface="Abadi" panose="020B0604020104020204" pitchFamily="34" charset="0"/>
                <a:cs typeface="Times New Roman" panose="02020603050405020304" pitchFamily="18" charset="0"/>
              </a:rPr>
              <a:t>i</a:t>
            </a:r>
            <a:r>
              <a:rPr lang="en-US" sz="8800" b="1">
                <a:solidFill>
                  <a:srgbClr val="002060"/>
                </a:solidFill>
                <a:latin typeface="Abadi" panose="020B0604020104020204" pitchFamily="34" charset="0"/>
                <a:cs typeface="Times New Roman" panose="02020603050405020304" pitchFamily="18" charset="0"/>
              </a:rPr>
              <a:t>norganic </a:t>
            </a:r>
            <a:r>
              <a:rPr lang="en-US" sz="8800" b="1" dirty="0">
                <a:solidFill>
                  <a:srgbClr val="002060"/>
                </a:solidFill>
                <a:latin typeface="Abadi" panose="020B0604020104020204" pitchFamily="34" charset="0"/>
                <a:cs typeface="Times New Roman" panose="02020603050405020304" pitchFamily="18" charset="0"/>
              </a:rPr>
              <a:t>matter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58BF3A0-AFCD-C614-582A-92637A7F47DB}"/>
              </a:ext>
            </a:extLst>
          </p:cNvPr>
          <p:cNvSpPr txBox="1"/>
          <p:nvPr/>
        </p:nvSpPr>
        <p:spPr>
          <a:xfrm>
            <a:off x="10034624" y="4563361"/>
            <a:ext cx="71352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solidFill>
                  <a:schemeClr val="accent3">
                    <a:lumMod val="50000"/>
                  </a:schemeClr>
                </a:solidFill>
                <a:latin typeface="Abadi" panose="020B0604020104020204" pitchFamily="34" charset="0"/>
                <a:cs typeface="Times New Roman" panose="02020603050405020304" pitchFamily="18" charset="0"/>
              </a:rPr>
              <a:t>/ˌ</a:t>
            </a:r>
            <a:r>
              <a:rPr lang="en-US" sz="5400" dirty="0" err="1">
                <a:solidFill>
                  <a:schemeClr val="accent3">
                    <a:lumMod val="50000"/>
                  </a:schemeClr>
                </a:solidFill>
                <a:latin typeface="Abadi" panose="020B0604020104020204" pitchFamily="34" charset="0"/>
                <a:cs typeface="Times New Roman" panose="02020603050405020304" pitchFamily="18" charset="0"/>
              </a:rPr>
              <a:t>ɪnɔːrˈɡænɪk</a:t>
            </a:r>
            <a:r>
              <a:rPr lang="en-US" sz="5400" dirty="0">
                <a:solidFill>
                  <a:schemeClr val="accent3">
                    <a:lumMod val="50000"/>
                  </a:schemeClr>
                </a:solidFill>
                <a:latin typeface="Abadi" panose="020B0604020104020204" pitchFamily="34" charset="0"/>
                <a:cs typeface="Times New Roman" panose="02020603050405020304" pitchFamily="18" charset="0"/>
              </a:rPr>
              <a:t> ˈ</a:t>
            </a:r>
            <a:r>
              <a:rPr lang="en-US" sz="5400" dirty="0" err="1">
                <a:solidFill>
                  <a:schemeClr val="accent3">
                    <a:lumMod val="50000"/>
                  </a:schemeClr>
                </a:solidFill>
                <a:latin typeface="Abadi" panose="020B0604020104020204" pitchFamily="34" charset="0"/>
                <a:cs typeface="Times New Roman" panose="02020603050405020304" pitchFamily="18" charset="0"/>
              </a:rPr>
              <a:t>mætər</a:t>
            </a:r>
            <a:r>
              <a:rPr lang="en-US" sz="5400" dirty="0">
                <a:solidFill>
                  <a:schemeClr val="accent3">
                    <a:lumMod val="50000"/>
                  </a:schemeClr>
                </a:solidFill>
                <a:latin typeface="Abadi" panose="020B0604020104020204" pitchFamily="34" charset="0"/>
                <a:cs typeface="Times New Roman" panose="02020603050405020304" pitchFamily="18" charset="0"/>
              </a:rPr>
              <a:t>/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0AA65A7-D3DD-A5CF-4019-1DE4E5A211E8}"/>
              </a:ext>
            </a:extLst>
          </p:cNvPr>
          <p:cNvSpPr txBox="1"/>
          <p:nvPr/>
        </p:nvSpPr>
        <p:spPr>
          <a:xfrm>
            <a:off x="9321519" y="5785291"/>
            <a:ext cx="817034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latin typeface="Abadi" panose="020B0604020104020204" pitchFamily="34" charset="0"/>
                <a:cs typeface="Times New Roman" panose="02020603050405020304" pitchFamily="18" charset="0"/>
              </a:rPr>
              <a:t>material that does not come from living organisms.</a:t>
            </a:r>
          </a:p>
        </p:txBody>
      </p:sp>
    </p:spTree>
    <p:extLst>
      <p:ext uri="{BB962C8B-B14F-4D97-AF65-F5344CB8AC3E}">
        <p14:creationId xmlns:p14="http://schemas.microsoft.com/office/powerpoint/2010/main" val="2410153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2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FD0D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9AC08A-B356-C618-E831-D3148EABE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F78C3EE-17B4-9829-3541-618EBD8C4F76}"/>
              </a:ext>
            </a:extLst>
          </p:cNvPr>
          <p:cNvSpPr/>
          <p:nvPr/>
        </p:nvSpPr>
        <p:spPr>
          <a:xfrm rot="-9479079">
            <a:off x="-999954" y="8270643"/>
            <a:ext cx="5469801" cy="3003418"/>
          </a:xfrm>
          <a:custGeom>
            <a:avLst/>
            <a:gdLst/>
            <a:ahLst/>
            <a:cxnLst/>
            <a:rect l="l" t="t" r="r" b="b"/>
            <a:pathLst>
              <a:path w="5469801" h="3003418">
                <a:moveTo>
                  <a:pt x="0" y="0"/>
                </a:moveTo>
                <a:lnTo>
                  <a:pt x="5469801" y="0"/>
                </a:lnTo>
                <a:lnTo>
                  <a:pt x="5469801" y="3003418"/>
                </a:lnTo>
                <a:lnTo>
                  <a:pt x="0" y="30034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>
              <a:latin typeface="Abadi" panose="020B0604020104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79312074-F405-7653-E8E3-BA6454246933}"/>
              </a:ext>
            </a:extLst>
          </p:cNvPr>
          <p:cNvSpPr/>
          <p:nvPr/>
        </p:nvSpPr>
        <p:spPr>
          <a:xfrm rot="2121845">
            <a:off x="13826256" y="-978546"/>
            <a:ext cx="5813856" cy="3541167"/>
          </a:xfrm>
          <a:custGeom>
            <a:avLst/>
            <a:gdLst/>
            <a:ahLst/>
            <a:cxnLst/>
            <a:rect l="l" t="t" r="r" b="b"/>
            <a:pathLst>
              <a:path w="5813856" h="3541167">
                <a:moveTo>
                  <a:pt x="0" y="0"/>
                </a:moveTo>
                <a:lnTo>
                  <a:pt x="5813855" y="0"/>
                </a:lnTo>
                <a:lnTo>
                  <a:pt x="5813855" y="3541167"/>
                </a:lnTo>
                <a:lnTo>
                  <a:pt x="0" y="354116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>
              <a:latin typeface="Abadi" panose="020B0604020104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037E6D9B-A97D-19BB-9B13-83FE08C9D76C}"/>
              </a:ext>
            </a:extLst>
          </p:cNvPr>
          <p:cNvSpPr/>
          <p:nvPr/>
        </p:nvSpPr>
        <p:spPr>
          <a:xfrm>
            <a:off x="9296400" y="2656096"/>
            <a:ext cx="8894347" cy="526520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A69A35E9-38C4-AC83-78F4-74A77B682828}"/>
              </a:ext>
            </a:extLst>
          </p:cNvPr>
          <p:cNvSpPr/>
          <p:nvPr/>
        </p:nvSpPr>
        <p:spPr>
          <a:xfrm>
            <a:off x="17299370" y="8848190"/>
            <a:ext cx="1977259" cy="1757963"/>
          </a:xfrm>
          <a:custGeom>
            <a:avLst/>
            <a:gdLst/>
            <a:ahLst/>
            <a:cxnLst/>
            <a:rect l="l" t="t" r="r" b="b"/>
            <a:pathLst>
              <a:path w="1977259" h="1757963">
                <a:moveTo>
                  <a:pt x="0" y="0"/>
                </a:moveTo>
                <a:lnTo>
                  <a:pt x="1977259" y="0"/>
                </a:lnTo>
                <a:lnTo>
                  <a:pt x="1977259" y="1757963"/>
                </a:lnTo>
                <a:lnTo>
                  <a:pt x="0" y="175796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>
              <a:latin typeface="Abadi" panose="020B0604020104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E7D973-E72D-43F5-0B9E-6A6F2D1A40C0}"/>
              </a:ext>
            </a:extLst>
          </p:cNvPr>
          <p:cNvSpPr txBox="1"/>
          <p:nvPr/>
        </p:nvSpPr>
        <p:spPr>
          <a:xfrm>
            <a:off x="9834147" y="2933700"/>
            <a:ext cx="792045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b="1" dirty="0">
                <a:solidFill>
                  <a:srgbClr val="002060"/>
                </a:solidFill>
                <a:latin typeface="Abadi" panose="020B0604020104020204" pitchFamily="34" charset="0"/>
                <a:cs typeface="Times New Roman" panose="02020603050405020304" pitchFamily="18" charset="0"/>
              </a:rPr>
              <a:t>Nitrogen fixation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48255B-4932-55D4-ADE8-1EE49A4D3293}"/>
              </a:ext>
            </a:extLst>
          </p:cNvPr>
          <p:cNvSpPr txBox="1"/>
          <p:nvPr/>
        </p:nvSpPr>
        <p:spPr>
          <a:xfrm>
            <a:off x="10249154" y="4381500"/>
            <a:ext cx="720064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chemeClr val="accent3">
                    <a:lumMod val="50000"/>
                  </a:schemeClr>
                </a:solidFill>
                <a:latin typeface="Abadi" panose="020B0604020104020204" pitchFamily="34" charset="0"/>
                <a:cs typeface="Times New Roman" panose="02020603050405020304" pitchFamily="18" charset="0"/>
              </a:rPr>
              <a:t> /ˈ</a:t>
            </a:r>
            <a:r>
              <a:rPr lang="en-US" sz="4800" dirty="0" err="1">
                <a:solidFill>
                  <a:schemeClr val="accent3">
                    <a:lumMod val="50000"/>
                  </a:schemeClr>
                </a:solidFill>
                <a:latin typeface="Abadi" panose="020B0604020104020204" pitchFamily="34" charset="0"/>
                <a:cs typeface="Times New Roman" panose="02020603050405020304" pitchFamily="18" charset="0"/>
              </a:rPr>
              <a:t>naɪ.trə.dʒən</a:t>
            </a:r>
            <a:r>
              <a:rPr lang="en-US" sz="4800" dirty="0">
                <a:solidFill>
                  <a:schemeClr val="accent3">
                    <a:lumMod val="50000"/>
                  </a:schemeClr>
                </a:solidFill>
                <a:latin typeface="Abadi" panose="020B0604020104020204" pitchFamily="34" charset="0"/>
                <a:cs typeface="Times New Roman" panose="02020603050405020304" pitchFamily="18" charset="0"/>
              </a:rPr>
              <a:t> </a:t>
            </a:r>
            <a:r>
              <a:rPr lang="en-US" sz="4800" dirty="0" err="1">
                <a:solidFill>
                  <a:schemeClr val="accent3">
                    <a:lumMod val="50000"/>
                  </a:schemeClr>
                </a:solidFill>
                <a:latin typeface="Abadi" panose="020B0604020104020204" pitchFamily="34" charset="0"/>
                <a:cs typeface="Times New Roman" panose="02020603050405020304" pitchFamily="18" charset="0"/>
              </a:rPr>
              <a:t>fɪkˌseɪ.ʃən</a:t>
            </a:r>
            <a:r>
              <a:rPr lang="en-US" sz="4800" dirty="0">
                <a:solidFill>
                  <a:schemeClr val="accent3">
                    <a:lumMod val="50000"/>
                  </a:schemeClr>
                </a:solidFill>
                <a:latin typeface="Abadi" panose="020B0604020104020204" pitchFamily="34" charset="0"/>
                <a:cs typeface="Times New Roman" panose="02020603050405020304" pitchFamily="18" charset="0"/>
              </a:rPr>
              <a:t>/</a:t>
            </a: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09CE911F-6F34-184B-CC31-B22D0FBAA84D}"/>
              </a:ext>
            </a:extLst>
          </p:cNvPr>
          <p:cNvSpPr/>
          <p:nvPr/>
        </p:nvSpPr>
        <p:spPr>
          <a:xfrm>
            <a:off x="4684845" y="-624198"/>
            <a:ext cx="1832655" cy="1629396"/>
          </a:xfrm>
          <a:custGeom>
            <a:avLst/>
            <a:gdLst/>
            <a:ahLst/>
            <a:cxnLst/>
            <a:rect l="l" t="t" r="r" b="b"/>
            <a:pathLst>
              <a:path w="1832655" h="1629396">
                <a:moveTo>
                  <a:pt x="0" y="0"/>
                </a:moveTo>
                <a:lnTo>
                  <a:pt x="1832654" y="0"/>
                </a:lnTo>
                <a:lnTo>
                  <a:pt x="1832654" y="1629397"/>
                </a:lnTo>
                <a:lnTo>
                  <a:pt x="0" y="162939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>
              <a:latin typeface="Abadi" panose="020B0604020104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6" name="Picture 2" descr="Nitrogen fixation, its types and mechanism - Online Science Notes">
            <a:extLst>
              <a:ext uri="{FF2B5EF4-FFF2-40B4-BE49-F238E27FC236}">
                <a16:creationId xmlns:a16="http://schemas.microsoft.com/office/drawing/2014/main" id="{3F9AFFD3-3263-2959-BF1B-3CB58603C1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897796"/>
            <a:ext cx="9113600" cy="67818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2D885B06-8FF1-F8E1-1A51-F45D33F71CDC}"/>
              </a:ext>
            </a:extLst>
          </p:cNvPr>
          <p:cNvGrpSpPr/>
          <p:nvPr/>
        </p:nvGrpSpPr>
        <p:grpSpPr>
          <a:xfrm>
            <a:off x="149550" y="190500"/>
            <a:ext cx="5184450" cy="1097280"/>
            <a:chOff x="228599" y="190500"/>
            <a:chExt cx="4264345" cy="1097280"/>
          </a:xfrm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0AAE4DD3-8544-01AA-34C3-8454FA7A8BBE}"/>
                </a:ext>
              </a:extLst>
            </p:cNvPr>
            <p:cNvSpPr/>
            <p:nvPr/>
          </p:nvSpPr>
          <p:spPr>
            <a:xfrm>
              <a:off x="228599" y="190500"/>
              <a:ext cx="4264345" cy="1097280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badi" panose="020B0604020104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32EC8A0-085C-A696-33F1-579234E04820}"/>
                </a:ext>
              </a:extLst>
            </p:cNvPr>
            <p:cNvSpPr txBox="1"/>
            <p:nvPr/>
          </p:nvSpPr>
          <p:spPr>
            <a:xfrm>
              <a:off x="448356" y="241637"/>
              <a:ext cx="382483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dirty="0">
                  <a:solidFill>
                    <a:srgbClr val="C00000"/>
                  </a:solidFill>
                  <a:latin typeface="Abadi" panose="020B0604020104020204" pitchFamily="34" charset="0"/>
                  <a:ea typeface="ADLaM Display" panose="02010000000000000000" pitchFamily="2" charset="0"/>
                  <a:cs typeface="Times New Roman" panose="02020603050405020304" pitchFamily="18" charset="0"/>
                </a:rPr>
                <a:t>Vocabulary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9FEDFBD3-03A7-0393-9EDA-254C67CC0CC6}"/>
              </a:ext>
            </a:extLst>
          </p:cNvPr>
          <p:cNvSpPr txBox="1"/>
          <p:nvPr/>
        </p:nvSpPr>
        <p:spPr>
          <a:xfrm>
            <a:off x="9450855" y="5412735"/>
            <a:ext cx="853234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>
                <a:latin typeface="Abadi" panose="020B0604020104020204" pitchFamily="34" charset="0"/>
                <a:cs typeface="Times New Roman" panose="02020603050405020304" pitchFamily="18" charset="0"/>
              </a:rPr>
              <a:t>the process by which nitrogen from the atmosphere is changed either naturally or in industry into compounds that are used in several processes</a:t>
            </a:r>
            <a:endParaRPr lang="en-US" sz="3600" dirty="0">
              <a:latin typeface="Abadi" panose="020B0604020104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4775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FD0D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A2EEC7-CE6F-81A3-6F07-B736C97C86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860B506-EBCB-BF51-BAE9-B45D76D8487A}"/>
              </a:ext>
            </a:extLst>
          </p:cNvPr>
          <p:cNvSpPr/>
          <p:nvPr/>
        </p:nvSpPr>
        <p:spPr>
          <a:xfrm rot="-9479079">
            <a:off x="-999954" y="8270643"/>
            <a:ext cx="5469801" cy="3003418"/>
          </a:xfrm>
          <a:custGeom>
            <a:avLst/>
            <a:gdLst/>
            <a:ahLst/>
            <a:cxnLst/>
            <a:rect l="l" t="t" r="r" b="b"/>
            <a:pathLst>
              <a:path w="5469801" h="3003418">
                <a:moveTo>
                  <a:pt x="0" y="0"/>
                </a:moveTo>
                <a:lnTo>
                  <a:pt x="5469801" y="0"/>
                </a:lnTo>
                <a:lnTo>
                  <a:pt x="5469801" y="3003418"/>
                </a:lnTo>
                <a:lnTo>
                  <a:pt x="0" y="30034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>
              <a:latin typeface="Abadi" panose="020B0604020104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47DD267B-FFCD-9D9B-06B1-F23956CF9102}"/>
              </a:ext>
            </a:extLst>
          </p:cNvPr>
          <p:cNvSpPr/>
          <p:nvPr/>
        </p:nvSpPr>
        <p:spPr>
          <a:xfrm rot="2121845">
            <a:off x="13826256" y="-978546"/>
            <a:ext cx="5813856" cy="3541167"/>
          </a:xfrm>
          <a:custGeom>
            <a:avLst/>
            <a:gdLst/>
            <a:ahLst/>
            <a:cxnLst/>
            <a:rect l="l" t="t" r="r" b="b"/>
            <a:pathLst>
              <a:path w="5813856" h="3541167">
                <a:moveTo>
                  <a:pt x="0" y="0"/>
                </a:moveTo>
                <a:lnTo>
                  <a:pt x="5813855" y="0"/>
                </a:lnTo>
                <a:lnTo>
                  <a:pt x="5813855" y="3541167"/>
                </a:lnTo>
                <a:lnTo>
                  <a:pt x="0" y="354116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>
              <a:latin typeface="Abadi" panose="020B0604020104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2B5B8C87-130E-FE7A-A1B2-13A9BE9C4CEF}"/>
              </a:ext>
            </a:extLst>
          </p:cNvPr>
          <p:cNvSpPr/>
          <p:nvPr/>
        </p:nvSpPr>
        <p:spPr>
          <a:xfrm>
            <a:off x="10141264" y="2833449"/>
            <a:ext cx="8003850" cy="566285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>
              <a:latin typeface="Abadi" panose="020B0604020104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541F7BAD-991A-83D4-AB02-F0666C23CDD0}"/>
              </a:ext>
            </a:extLst>
          </p:cNvPr>
          <p:cNvSpPr/>
          <p:nvPr/>
        </p:nvSpPr>
        <p:spPr>
          <a:xfrm>
            <a:off x="17299370" y="8848190"/>
            <a:ext cx="1977259" cy="1757963"/>
          </a:xfrm>
          <a:custGeom>
            <a:avLst/>
            <a:gdLst/>
            <a:ahLst/>
            <a:cxnLst/>
            <a:rect l="l" t="t" r="r" b="b"/>
            <a:pathLst>
              <a:path w="1977259" h="1757963">
                <a:moveTo>
                  <a:pt x="0" y="0"/>
                </a:moveTo>
                <a:lnTo>
                  <a:pt x="1977259" y="0"/>
                </a:lnTo>
                <a:lnTo>
                  <a:pt x="1977259" y="1757963"/>
                </a:lnTo>
                <a:lnTo>
                  <a:pt x="0" y="175796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>
              <a:latin typeface="Abadi" panose="020B0604020104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86A08D-210F-300C-7AB3-A4E59D923EBB}"/>
              </a:ext>
            </a:extLst>
          </p:cNvPr>
          <p:cNvSpPr txBox="1"/>
          <p:nvPr/>
        </p:nvSpPr>
        <p:spPr>
          <a:xfrm>
            <a:off x="11664692" y="3412728"/>
            <a:ext cx="479450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800" b="1" dirty="0">
                <a:solidFill>
                  <a:srgbClr val="002060"/>
                </a:solidFill>
                <a:latin typeface="Abadi" panose="020B0604020104020204" pitchFamily="34" charset="0"/>
                <a:cs typeface="Times New Roman" panose="02020603050405020304" pitchFamily="18" charset="0"/>
              </a:rPr>
              <a:t>fertilizer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9378D9-84E3-306F-ECFC-4D97DBDE0B2F}"/>
              </a:ext>
            </a:extLst>
          </p:cNvPr>
          <p:cNvSpPr txBox="1"/>
          <p:nvPr/>
        </p:nvSpPr>
        <p:spPr>
          <a:xfrm>
            <a:off x="12084665" y="4922103"/>
            <a:ext cx="395456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chemeClr val="accent3">
                    <a:lumMod val="50000"/>
                  </a:schemeClr>
                </a:solidFill>
                <a:latin typeface="Abadi" panose="020B0604020104020204" pitchFamily="34" charset="0"/>
                <a:cs typeface="Times New Roman" panose="02020603050405020304" pitchFamily="18" charset="0"/>
              </a:rPr>
              <a:t>/ˈ</a:t>
            </a:r>
            <a:r>
              <a:rPr lang="en-US" sz="4800" dirty="0" err="1">
                <a:solidFill>
                  <a:schemeClr val="accent3">
                    <a:lumMod val="50000"/>
                  </a:schemeClr>
                </a:solidFill>
                <a:latin typeface="Abadi" panose="020B0604020104020204" pitchFamily="34" charset="0"/>
                <a:cs typeface="Times New Roman" panose="02020603050405020304" pitchFamily="18" charset="0"/>
              </a:rPr>
              <a:t>fɝ</a:t>
            </a:r>
            <a:r>
              <a:rPr lang="en-US" sz="4800" dirty="0">
                <a:solidFill>
                  <a:schemeClr val="accent3">
                    <a:lumMod val="50000"/>
                  </a:schemeClr>
                </a:solidFill>
                <a:latin typeface="Abadi" panose="020B0604020104020204" pitchFamily="34" charset="0"/>
                <a:cs typeface="Times New Roman" panose="02020603050405020304" pitchFamily="18" charset="0"/>
              </a:rPr>
              <a:t>ː.</a:t>
            </a:r>
            <a:r>
              <a:rPr lang="en-US" sz="4800" dirty="0" err="1">
                <a:solidFill>
                  <a:schemeClr val="accent3">
                    <a:lumMod val="50000"/>
                  </a:schemeClr>
                </a:solidFill>
                <a:latin typeface="Abadi" panose="020B0604020104020204" pitchFamily="34" charset="0"/>
                <a:cs typeface="Times New Roman" panose="02020603050405020304" pitchFamily="18" charset="0"/>
              </a:rPr>
              <a:t>t̬əl.aɪ.zɚ</a:t>
            </a:r>
            <a:r>
              <a:rPr lang="en-US" sz="4800" dirty="0">
                <a:solidFill>
                  <a:schemeClr val="accent3">
                    <a:lumMod val="50000"/>
                  </a:schemeClr>
                </a:solidFill>
                <a:latin typeface="Abadi" panose="020B0604020104020204" pitchFamily="34" charset="0"/>
                <a:cs typeface="Times New Roman" panose="02020603050405020304" pitchFamily="18" charset="0"/>
              </a:rPr>
              <a:t>/</a:t>
            </a: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8231C3B4-0BE4-4F3D-CBE6-0F2EC9341A2D}"/>
              </a:ext>
            </a:extLst>
          </p:cNvPr>
          <p:cNvSpPr/>
          <p:nvPr/>
        </p:nvSpPr>
        <p:spPr>
          <a:xfrm>
            <a:off x="4684845" y="-624198"/>
            <a:ext cx="1832655" cy="1629396"/>
          </a:xfrm>
          <a:custGeom>
            <a:avLst/>
            <a:gdLst/>
            <a:ahLst/>
            <a:cxnLst/>
            <a:rect l="l" t="t" r="r" b="b"/>
            <a:pathLst>
              <a:path w="1832655" h="1629396">
                <a:moveTo>
                  <a:pt x="0" y="0"/>
                </a:moveTo>
                <a:lnTo>
                  <a:pt x="1832654" y="0"/>
                </a:lnTo>
                <a:lnTo>
                  <a:pt x="1832654" y="1629397"/>
                </a:lnTo>
                <a:lnTo>
                  <a:pt x="0" y="162939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>
              <a:latin typeface="Abadi" panose="020B0604020104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9" name="Picture 6" descr="Know When to Apply Fertilizer | Beautiful Boundaries">
            <a:extLst>
              <a:ext uri="{FF2B5EF4-FFF2-40B4-BE49-F238E27FC236}">
                <a16:creationId xmlns:a16="http://schemas.microsoft.com/office/drawing/2014/main" id="{2FEB5C20-B332-3E7F-A469-3F6EC03109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162300"/>
            <a:ext cx="10058400" cy="5029200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2C85C2DF-F6BC-DDD9-60AA-27914E913979}"/>
              </a:ext>
            </a:extLst>
          </p:cNvPr>
          <p:cNvGrpSpPr/>
          <p:nvPr/>
        </p:nvGrpSpPr>
        <p:grpSpPr>
          <a:xfrm>
            <a:off x="149550" y="190500"/>
            <a:ext cx="5184450" cy="1097280"/>
            <a:chOff x="228599" y="190500"/>
            <a:chExt cx="4264345" cy="1097280"/>
          </a:xfrm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D10450E6-DBC7-EEA5-C6F0-9B097A243689}"/>
                </a:ext>
              </a:extLst>
            </p:cNvPr>
            <p:cNvSpPr/>
            <p:nvPr/>
          </p:nvSpPr>
          <p:spPr>
            <a:xfrm>
              <a:off x="228599" y="190500"/>
              <a:ext cx="4264345" cy="1097280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badi" panose="020B0604020104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24E6560-6AA7-41A1-C58B-1591B5BEE401}"/>
                </a:ext>
              </a:extLst>
            </p:cNvPr>
            <p:cNvSpPr txBox="1"/>
            <p:nvPr/>
          </p:nvSpPr>
          <p:spPr>
            <a:xfrm>
              <a:off x="448356" y="241637"/>
              <a:ext cx="382483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dirty="0">
                  <a:solidFill>
                    <a:srgbClr val="C00000"/>
                  </a:solidFill>
                  <a:latin typeface="Abadi" panose="020B0604020104020204" pitchFamily="34" charset="0"/>
                  <a:ea typeface="ADLaM Display" panose="02010000000000000000" pitchFamily="2" charset="0"/>
                  <a:cs typeface="Times New Roman" panose="02020603050405020304" pitchFamily="18" charset="0"/>
                </a:rPr>
                <a:t>Vocabulary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23193ADF-82AF-7D02-B2B0-EB1BA4D07925}"/>
              </a:ext>
            </a:extLst>
          </p:cNvPr>
          <p:cNvSpPr txBox="1"/>
          <p:nvPr/>
        </p:nvSpPr>
        <p:spPr>
          <a:xfrm>
            <a:off x="10141264" y="5905500"/>
            <a:ext cx="800385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>
                <a:latin typeface="Abadi" panose="020B0604020104020204" pitchFamily="34" charset="0"/>
                <a:cs typeface="Times New Roman" panose="02020603050405020304" pitchFamily="18" charset="0"/>
              </a:rPr>
              <a:t>a natural or chemical substance that is spread on the land or given to plants, to make plants grow well.</a:t>
            </a:r>
            <a:endParaRPr lang="en-US" sz="4000" dirty="0">
              <a:latin typeface="Abadi" panose="020B0604020104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2538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FD0D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629A09-1C85-18D5-EA85-E73C91DB3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2">
            <a:extLst>
              <a:ext uri="{FF2B5EF4-FFF2-40B4-BE49-F238E27FC236}">
                <a16:creationId xmlns:a16="http://schemas.microsoft.com/office/drawing/2014/main" id="{02BCECC5-040D-F5CA-60AB-CB5EF1FBC805}"/>
              </a:ext>
            </a:extLst>
          </p:cNvPr>
          <p:cNvSpPr/>
          <p:nvPr/>
        </p:nvSpPr>
        <p:spPr>
          <a:xfrm>
            <a:off x="4924751" y="-448938"/>
            <a:ext cx="2096955" cy="1911978"/>
          </a:xfrm>
          <a:custGeom>
            <a:avLst/>
            <a:gdLst/>
            <a:ahLst/>
            <a:cxnLst/>
            <a:rect l="l" t="t" r="r" b="b"/>
            <a:pathLst>
              <a:path w="1832655" h="1629396">
                <a:moveTo>
                  <a:pt x="0" y="0"/>
                </a:moveTo>
                <a:lnTo>
                  <a:pt x="1832654" y="0"/>
                </a:lnTo>
                <a:lnTo>
                  <a:pt x="1832654" y="1629397"/>
                </a:lnTo>
                <a:lnTo>
                  <a:pt x="0" y="16293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>
              <a:latin typeface="Abadi" panose="020B060402010402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0CB44C8-19F8-CF87-E620-3A2323FA2DF7}"/>
              </a:ext>
            </a:extLst>
          </p:cNvPr>
          <p:cNvGrpSpPr/>
          <p:nvPr/>
        </p:nvGrpSpPr>
        <p:grpSpPr>
          <a:xfrm>
            <a:off x="149550" y="190500"/>
            <a:ext cx="5184450" cy="1097280"/>
            <a:chOff x="228599" y="190500"/>
            <a:chExt cx="4264345" cy="1097280"/>
          </a:xfrm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2473D245-CA5C-C7A2-4B1F-3ECCC5EE21F2}"/>
                </a:ext>
              </a:extLst>
            </p:cNvPr>
            <p:cNvSpPr/>
            <p:nvPr/>
          </p:nvSpPr>
          <p:spPr>
            <a:xfrm>
              <a:off x="228599" y="190500"/>
              <a:ext cx="4264345" cy="1097280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badi" panose="020B0604020104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2C648E7-CDB9-E5AD-5993-ED2F7105CB4E}"/>
                </a:ext>
              </a:extLst>
            </p:cNvPr>
            <p:cNvSpPr txBox="1"/>
            <p:nvPr/>
          </p:nvSpPr>
          <p:spPr>
            <a:xfrm>
              <a:off x="448356" y="241637"/>
              <a:ext cx="382483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dirty="0">
                  <a:solidFill>
                    <a:srgbClr val="C00000"/>
                  </a:solidFill>
                  <a:latin typeface="Abadi" panose="020B0604020104020204" pitchFamily="34" charset="0"/>
                  <a:ea typeface="ADLaM Display" panose="02010000000000000000" pitchFamily="2" charset="0"/>
                  <a:cs typeface="Times New Roman" panose="02020603050405020304" pitchFamily="18" charset="0"/>
                </a:rPr>
                <a:t>Vocabulary</a:t>
              </a:r>
            </a:p>
          </p:txBody>
        </p:sp>
      </p:grp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8476EB2-570B-2984-A2F6-203F4859AD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3727908"/>
              </p:ext>
            </p:extLst>
          </p:nvPr>
        </p:nvGraphicFramePr>
        <p:xfrm>
          <a:off x="174950" y="1638299"/>
          <a:ext cx="17884449" cy="84070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61483">
                  <a:extLst>
                    <a:ext uri="{9D8B030D-6E8A-4147-A177-3AD203B41FA5}">
                      <a16:colId xmlns:a16="http://schemas.microsoft.com/office/drawing/2014/main" val="1801397487"/>
                    </a:ext>
                  </a:extLst>
                </a:gridCol>
                <a:gridCol w="5961483">
                  <a:extLst>
                    <a:ext uri="{9D8B030D-6E8A-4147-A177-3AD203B41FA5}">
                      <a16:colId xmlns:a16="http://schemas.microsoft.com/office/drawing/2014/main" val="1808971321"/>
                    </a:ext>
                  </a:extLst>
                </a:gridCol>
                <a:gridCol w="5961483">
                  <a:extLst>
                    <a:ext uri="{9D8B030D-6E8A-4147-A177-3AD203B41FA5}">
                      <a16:colId xmlns:a16="http://schemas.microsoft.com/office/drawing/2014/main" val="1404403246"/>
                    </a:ext>
                  </a:extLst>
                </a:gridCol>
              </a:tblGrid>
              <a:tr h="1681413">
                <a:tc>
                  <a:txBody>
                    <a:bodyPr/>
                    <a:lstStyle/>
                    <a:p>
                      <a:pPr algn="ctr"/>
                      <a:r>
                        <a:rPr lang="en-US" sz="4400"/>
                        <a:t>New words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/>
                        <a:t>Pronunciation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/>
                        <a:t>Meaning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0912072"/>
                  </a:ext>
                </a:extLst>
              </a:tr>
              <a:tr h="1681413">
                <a:tc>
                  <a:txBody>
                    <a:bodyPr/>
                    <a:lstStyle/>
                    <a:p>
                      <a:pPr algn="ctr"/>
                      <a:r>
                        <a:rPr lang="en-US" sz="4400" b="1">
                          <a:solidFill>
                            <a:srgbClr val="002060"/>
                          </a:solidFill>
                          <a:latin typeface="+mn-lt"/>
                        </a:rPr>
                        <a:t>organic matter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ɔːrˈɡænɪk ˈmætər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40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Chất hữu cơ </a:t>
                      </a:r>
                      <a:endParaRPr lang="en-US" sz="4000" b="1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0884948"/>
                  </a:ext>
                </a:extLst>
              </a:tr>
              <a:tr h="168141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400" b="1">
                          <a:solidFill>
                            <a:srgbClr val="002060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inorganic matter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ˌɪnɔːrˈɡænɪk ˈmætər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40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Chất vô cơ</a:t>
                      </a:r>
                      <a:endParaRPr lang="en-US" sz="4000" b="1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4536011"/>
                  </a:ext>
                </a:extLst>
              </a:tr>
              <a:tr h="168141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400" b="1">
                          <a:solidFill>
                            <a:srgbClr val="002060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Nitrogen fixation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 ˈnaɪ.trə.dʒən fɪkˌseɪ.ʃən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Cố định đạm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9007271"/>
                  </a:ext>
                </a:extLst>
              </a:tr>
              <a:tr h="1681413">
                <a:tc>
                  <a:txBody>
                    <a:bodyPr/>
                    <a:lstStyle/>
                    <a:p>
                      <a:pPr algn="ctr"/>
                      <a:r>
                        <a:rPr lang="en-US" sz="4400" b="1">
                          <a:solidFill>
                            <a:srgbClr val="002060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fertilizer</a:t>
                      </a:r>
                      <a:endParaRPr lang="en-US" sz="4400" b="1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ˈfɝː.t̬əl.aɪ.zɚ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Phân bón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57306925"/>
                  </a:ext>
                </a:extLst>
              </a:tr>
            </a:tbl>
          </a:graphicData>
        </a:graphic>
      </p:graphicFrame>
      <p:sp>
        <p:nvSpPr>
          <p:cNvPr id="8" name="Freeform 8">
            <a:extLst>
              <a:ext uri="{FF2B5EF4-FFF2-40B4-BE49-F238E27FC236}">
                <a16:creationId xmlns:a16="http://schemas.microsoft.com/office/drawing/2014/main" id="{B90DF43B-9637-4AB1-4E51-14F0C1A21C56}"/>
              </a:ext>
            </a:extLst>
          </p:cNvPr>
          <p:cNvSpPr/>
          <p:nvPr/>
        </p:nvSpPr>
        <p:spPr>
          <a:xfrm rot="2121845">
            <a:off x="13826256" y="-978546"/>
            <a:ext cx="5813856" cy="3541167"/>
          </a:xfrm>
          <a:custGeom>
            <a:avLst/>
            <a:gdLst/>
            <a:ahLst/>
            <a:cxnLst/>
            <a:rect l="l" t="t" r="r" b="b"/>
            <a:pathLst>
              <a:path w="5813856" h="3541167">
                <a:moveTo>
                  <a:pt x="0" y="0"/>
                </a:moveTo>
                <a:lnTo>
                  <a:pt x="5813855" y="0"/>
                </a:lnTo>
                <a:lnTo>
                  <a:pt x="5813855" y="3541167"/>
                </a:lnTo>
                <a:lnTo>
                  <a:pt x="0" y="354116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>
              <a:latin typeface="Abadi" panose="020B0604020104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EB6E3174-EA9C-9809-E3F8-4B5FC5ED51D7}"/>
              </a:ext>
            </a:extLst>
          </p:cNvPr>
          <p:cNvSpPr/>
          <p:nvPr/>
        </p:nvSpPr>
        <p:spPr>
          <a:xfrm>
            <a:off x="17299370" y="8848190"/>
            <a:ext cx="1977259" cy="1757963"/>
          </a:xfrm>
          <a:custGeom>
            <a:avLst/>
            <a:gdLst/>
            <a:ahLst/>
            <a:cxnLst/>
            <a:rect l="l" t="t" r="r" b="b"/>
            <a:pathLst>
              <a:path w="1977259" h="1757963">
                <a:moveTo>
                  <a:pt x="0" y="0"/>
                </a:moveTo>
                <a:lnTo>
                  <a:pt x="1977259" y="0"/>
                </a:lnTo>
                <a:lnTo>
                  <a:pt x="1977259" y="1757963"/>
                </a:lnTo>
                <a:lnTo>
                  <a:pt x="0" y="175796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>
              <a:latin typeface="Abadi" panose="020B0604020104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Freeform 2">
            <a:extLst>
              <a:ext uri="{FF2B5EF4-FFF2-40B4-BE49-F238E27FC236}">
                <a16:creationId xmlns:a16="http://schemas.microsoft.com/office/drawing/2014/main" id="{65C4B677-91DC-B04D-3C12-EC8CD370ABA6}"/>
              </a:ext>
            </a:extLst>
          </p:cNvPr>
          <p:cNvSpPr/>
          <p:nvPr/>
        </p:nvSpPr>
        <p:spPr>
          <a:xfrm rot="-9479079">
            <a:off x="-297081" y="9102338"/>
            <a:ext cx="2717623" cy="1941283"/>
          </a:xfrm>
          <a:custGeom>
            <a:avLst/>
            <a:gdLst/>
            <a:ahLst/>
            <a:cxnLst/>
            <a:rect l="l" t="t" r="r" b="b"/>
            <a:pathLst>
              <a:path w="5469801" h="3003418">
                <a:moveTo>
                  <a:pt x="0" y="0"/>
                </a:moveTo>
                <a:lnTo>
                  <a:pt x="5469801" y="0"/>
                </a:lnTo>
                <a:lnTo>
                  <a:pt x="5469801" y="3003418"/>
                </a:lnTo>
                <a:lnTo>
                  <a:pt x="0" y="300341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>
              <a:latin typeface="Abadi" panose="020B0604020104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04919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678720-B809-596D-D4F2-40BA2FA07A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E472ECFE-9BB2-DAE8-5DE8-AFC3AE7B56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0" y="1488506"/>
            <a:ext cx="12760410" cy="3654994"/>
          </a:xfrm>
          <a:prstGeom prst="rect">
            <a:avLst/>
          </a:prstGeom>
        </p:spPr>
      </p:pic>
      <p:sp>
        <p:nvSpPr>
          <p:cNvPr id="9" name="Freeform 9">
            <a:extLst>
              <a:ext uri="{FF2B5EF4-FFF2-40B4-BE49-F238E27FC236}">
                <a16:creationId xmlns:a16="http://schemas.microsoft.com/office/drawing/2014/main" id="{4B404A1D-904E-ACF7-962D-757E1C98CC59}"/>
              </a:ext>
            </a:extLst>
          </p:cNvPr>
          <p:cNvSpPr/>
          <p:nvPr/>
        </p:nvSpPr>
        <p:spPr>
          <a:xfrm>
            <a:off x="7088" y="0"/>
            <a:ext cx="2500843" cy="2223477"/>
          </a:xfrm>
          <a:custGeom>
            <a:avLst/>
            <a:gdLst/>
            <a:ahLst/>
            <a:cxnLst/>
            <a:rect l="l" t="t" r="r" b="b"/>
            <a:pathLst>
              <a:path w="2500843" h="2223477">
                <a:moveTo>
                  <a:pt x="0" y="0"/>
                </a:moveTo>
                <a:lnTo>
                  <a:pt x="2500843" y="0"/>
                </a:lnTo>
                <a:lnTo>
                  <a:pt x="2500843" y="2223477"/>
                </a:lnTo>
                <a:lnTo>
                  <a:pt x="0" y="22234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>
              <a:latin typeface="Abadi" panose="020B060402010402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11C2702-141C-5451-CF22-F50753911E4D}"/>
              </a:ext>
            </a:extLst>
          </p:cNvPr>
          <p:cNvGrpSpPr/>
          <p:nvPr/>
        </p:nvGrpSpPr>
        <p:grpSpPr>
          <a:xfrm>
            <a:off x="149550" y="190500"/>
            <a:ext cx="4248216" cy="1097280"/>
            <a:chOff x="228599" y="190500"/>
            <a:chExt cx="4264345" cy="1097280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7B5FC0AD-3964-2D2F-C9A0-8B841BE3A230}"/>
                </a:ext>
              </a:extLst>
            </p:cNvPr>
            <p:cNvSpPr/>
            <p:nvPr/>
          </p:nvSpPr>
          <p:spPr>
            <a:xfrm>
              <a:off x="228599" y="190500"/>
              <a:ext cx="4264345" cy="1097280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C00000"/>
                </a:solidFill>
                <a:latin typeface="Abadi" panose="020B0604020104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44F3AD0B-62B4-F790-DB2B-D105C00BFB33}"/>
                </a:ext>
              </a:extLst>
            </p:cNvPr>
            <p:cNvSpPr txBox="1"/>
            <p:nvPr/>
          </p:nvSpPr>
          <p:spPr>
            <a:xfrm>
              <a:off x="448356" y="241637"/>
              <a:ext cx="382483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dirty="0">
                  <a:solidFill>
                    <a:srgbClr val="C00000"/>
                  </a:solidFill>
                  <a:latin typeface="Abadi" panose="020B0604020104020204" pitchFamily="34" charset="0"/>
                  <a:ea typeface="ADLaM Display" panose="02010000000000000000" pitchFamily="2" charset="0"/>
                  <a:cs typeface="Times New Roman" panose="02020603050405020304" pitchFamily="18" charset="0"/>
                </a:rPr>
                <a:t>Listening </a:t>
              </a:r>
              <a:endParaRPr lang="en-US" sz="6000" b="1" dirty="0">
                <a:solidFill>
                  <a:srgbClr val="C00000"/>
                </a:solidFill>
                <a:latin typeface="Abadi" panose="020B060402010402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0" name="Freeform 10">
            <a:extLst>
              <a:ext uri="{FF2B5EF4-FFF2-40B4-BE49-F238E27FC236}">
                <a16:creationId xmlns:a16="http://schemas.microsoft.com/office/drawing/2014/main" id="{3EC73F9C-A642-2B76-0C50-155D337E80F5}"/>
              </a:ext>
            </a:extLst>
          </p:cNvPr>
          <p:cNvSpPr/>
          <p:nvPr/>
        </p:nvSpPr>
        <p:spPr>
          <a:xfrm>
            <a:off x="16887564" y="-423471"/>
            <a:ext cx="2414713" cy="2146899"/>
          </a:xfrm>
          <a:custGeom>
            <a:avLst/>
            <a:gdLst/>
            <a:ahLst/>
            <a:cxnLst/>
            <a:rect l="l" t="t" r="r" b="b"/>
            <a:pathLst>
              <a:path w="2414713" h="2146899">
                <a:moveTo>
                  <a:pt x="0" y="0"/>
                </a:moveTo>
                <a:lnTo>
                  <a:pt x="2414713" y="0"/>
                </a:lnTo>
                <a:lnTo>
                  <a:pt x="2414713" y="2146899"/>
                </a:lnTo>
                <a:lnTo>
                  <a:pt x="0" y="214689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>
              <a:latin typeface="Abadi" panose="020B0604020104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261A364-5DA8-4113-814B-24F21CF83C1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5064694"/>
            <a:ext cx="13174986" cy="5108006"/>
          </a:xfrm>
          <a:prstGeom prst="rect">
            <a:avLst/>
          </a:prstGeom>
        </p:spPr>
      </p:pic>
      <p:sp>
        <p:nvSpPr>
          <p:cNvPr id="14" name="Freeform 12">
            <a:extLst>
              <a:ext uri="{FF2B5EF4-FFF2-40B4-BE49-F238E27FC236}">
                <a16:creationId xmlns:a16="http://schemas.microsoft.com/office/drawing/2014/main" id="{C139B743-BA52-E9D3-F652-9BF002100BDF}"/>
              </a:ext>
            </a:extLst>
          </p:cNvPr>
          <p:cNvSpPr/>
          <p:nvPr/>
        </p:nvSpPr>
        <p:spPr>
          <a:xfrm>
            <a:off x="13716000" y="7689888"/>
            <a:ext cx="4530832" cy="2438411"/>
          </a:xfrm>
          <a:custGeom>
            <a:avLst/>
            <a:gdLst/>
            <a:ahLst/>
            <a:cxnLst/>
            <a:rect l="l" t="t" r="r" b="b"/>
            <a:pathLst>
              <a:path w="6318466" h="3400483">
                <a:moveTo>
                  <a:pt x="0" y="0"/>
                </a:moveTo>
                <a:lnTo>
                  <a:pt x="6318466" y="0"/>
                </a:lnTo>
                <a:lnTo>
                  <a:pt x="6318466" y="3400484"/>
                </a:lnTo>
                <a:lnTo>
                  <a:pt x="0" y="340048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VN"/>
          </a:p>
        </p:txBody>
      </p:sp>
      <p:sp>
        <p:nvSpPr>
          <p:cNvPr id="27" name="Rounded Rectangular Callout 26">
            <a:extLst>
              <a:ext uri="{FF2B5EF4-FFF2-40B4-BE49-F238E27FC236}">
                <a16:creationId xmlns:a16="http://schemas.microsoft.com/office/drawing/2014/main" id="{4A79A8BB-A285-9D10-D1AC-C5C146FF495A}"/>
              </a:ext>
            </a:extLst>
          </p:cNvPr>
          <p:cNvSpPr/>
          <p:nvPr/>
        </p:nvSpPr>
        <p:spPr>
          <a:xfrm>
            <a:off x="13106400" y="4076700"/>
            <a:ext cx="4839033" cy="2362200"/>
          </a:xfrm>
          <a:prstGeom prst="wedgeRoundRectCallout">
            <a:avLst>
              <a:gd name="adj1" fmla="val -1015"/>
              <a:gd name="adj2" fmla="val 94758"/>
              <a:gd name="adj3" fmla="val 16667"/>
            </a:avLst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chemeClr val="accent6">
                    <a:lumMod val="50000"/>
                  </a:schemeClr>
                </a:solidFill>
                <a:latin typeface="Abadi" panose="020B0604020104020204" pitchFamily="34" charset="0"/>
                <a:cs typeface="Times New Roman" panose="02020603050405020304" pitchFamily="18" charset="0"/>
              </a:rPr>
              <a:t>Can you guess the missing words before listening?</a:t>
            </a:r>
            <a:endParaRPr lang="en-US" sz="7200" b="1" dirty="0">
              <a:solidFill>
                <a:schemeClr val="accent6">
                  <a:lumMod val="50000"/>
                </a:schemeClr>
              </a:solidFill>
              <a:latin typeface="Abadi" panose="020B0604020104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55C5009-40DD-DAFD-8EAD-B8AAE0C2753B}"/>
              </a:ext>
            </a:extLst>
          </p:cNvPr>
          <p:cNvSpPr/>
          <p:nvPr/>
        </p:nvSpPr>
        <p:spPr>
          <a:xfrm>
            <a:off x="4991100" y="190500"/>
            <a:ext cx="8305800" cy="1097280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>
                <a:solidFill>
                  <a:srgbClr val="002060"/>
                </a:solidFill>
                <a:latin typeface="Abadi" panose="020B0604020104020204" pitchFamily="34" charset="0"/>
                <a:cs typeface="Times New Roman" panose="02020603050405020304" pitchFamily="18" charset="0"/>
              </a:rPr>
              <a:t>Look at the pie chart. </a:t>
            </a:r>
          </a:p>
        </p:txBody>
      </p:sp>
    </p:spTree>
    <p:extLst>
      <p:ext uri="{BB962C8B-B14F-4D97-AF65-F5344CB8AC3E}">
        <p14:creationId xmlns:p14="http://schemas.microsoft.com/office/powerpoint/2010/main" val="7676798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9"/>
          <p:cNvSpPr/>
          <p:nvPr/>
        </p:nvSpPr>
        <p:spPr>
          <a:xfrm>
            <a:off x="7088" y="0"/>
            <a:ext cx="2500843" cy="2223477"/>
          </a:xfrm>
          <a:custGeom>
            <a:avLst/>
            <a:gdLst/>
            <a:ahLst/>
            <a:cxnLst/>
            <a:rect l="l" t="t" r="r" b="b"/>
            <a:pathLst>
              <a:path w="2500843" h="2223477">
                <a:moveTo>
                  <a:pt x="0" y="0"/>
                </a:moveTo>
                <a:lnTo>
                  <a:pt x="2500843" y="0"/>
                </a:lnTo>
                <a:lnTo>
                  <a:pt x="2500843" y="2223477"/>
                </a:lnTo>
                <a:lnTo>
                  <a:pt x="0" y="222347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>
              <a:latin typeface="Abadi" panose="020B060402010402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04A5EEA-0B39-7BEE-B6EB-EAC9B5F3E22A}"/>
              </a:ext>
            </a:extLst>
          </p:cNvPr>
          <p:cNvGrpSpPr/>
          <p:nvPr/>
        </p:nvGrpSpPr>
        <p:grpSpPr>
          <a:xfrm>
            <a:off x="149550" y="190500"/>
            <a:ext cx="5184450" cy="1097280"/>
            <a:chOff x="228599" y="190500"/>
            <a:chExt cx="4264345" cy="1097280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AB1CAE5E-E326-06A0-FCDE-027CCFDFED82}"/>
                </a:ext>
              </a:extLst>
            </p:cNvPr>
            <p:cNvSpPr/>
            <p:nvPr/>
          </p:nvSpPr>
          <p:spPr>
            <a:xfrm>
              <a:off x="228599" y="190500"/>
              <a:ext cx="4264345" cy="1097280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C00000"/>
                </a:solidFill>
                <a:latin typeface="Abadi" panose="020B0604020104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BA4FFABC-3970-42F0-F344-20A1729A73B9}"/>
                </a:ext>
              </a:extLst>
            </p:cNvPr>
            <p:cNvSpPr txBox="1"/>
            <p:nvPr/>
          </p:nvSpPr>
          <p:spPr>
            <a:xfrm>
              <a:off x="448356" y="272117"/>
              <a:ext cx="382483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dirty="0">
                  <a:solidFill>
                    <a:srgbClr val="C00000"/>
                  </a:solidFill>
                  <a:latin typeface="Abadi" panose="020B0604020104020204" pitchFamily="34" charset="0"/>
                  <a:ea typeface="ADLaM Display" panose="02010000000000000000" pitchFamily="2" charset="0"/>
                  <a:cs typeface="Times New Roman" panose="02020603050405020304" pitchFamily="18" charset="0"/>
                </a:rPr>
                <a:t>Listening </a:t>
              </a:r>
              <a:endParaRPr lang="en-US" sz="6000" b="1" dirty="0">
                <a:solidFill>
                  <a:srgbClr val="C00000"/>
                </a:solidFill>
                <a:latin typeface="Abadi" panose="020B060402010402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CE58E07-985C-86FB-3FF1-73D6E03959C4}"/>
              </a:ext>
            </a:extLst>
          </p:cNvPr>
          <p:cNvSpPr/>
          <p:nvPr/>
        </p:nvSpPr>
        <p:spPr>
          <a:xfrm>
            <a:off x="4991100" y="224219"/>
            <a:ext cx="8305800" cy="1097280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>
                <a:solidFill>
                  <a:srgbClr val="002060"/>
                </a:solidFill>
                <a:latin typeface="Abadi" panose="020B0604020104020204" pitchFamily="34" charset="0"/>
                <a:cs typeface="Times New Roman" panose="02020603050405020304" pitchFamily="18" charset="0"/>
              </a:rPr>
              <a:t>Listen </a:t>
            </a:r>
            <a:r>
              <a:rPr lang="en-US" sz="4000" dirty="0">
                <a:solidFill>
                  <a:srgbClr val="002060"/>
                </a:solidFill>
                <a:latin typeface="Abadi" panose="020B0604020104020204" pitchFamily="34" charset="0"/>
                <a:cs typeface="Times New Roman" panose="02020603050405020304" pitchFamily="18" charset="0"/>
              </a:rPr>
              <a:t>and fill in the blanks.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BE68C8A-8538-EDCC-CF5C-5769452E307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5133" y="2413977"/>
            <a:ext cx="17737735" cy="6877006"/>
          </a:xfrm>
          <a:prstGeom prst="rect">
            <a:avLst/>
          </a:prstGeom>
        </p:spPr>
      </p:pic>
      <p:sp>
        <p:nvSpPr>
          <p:cNvPr id="10" name="Freeform 10"/>
          <p:cNvSpPr/>
          <p:nvPr/>
        </p:nvSpPr>
        <p:spPr>
          <a:xfrm>
            <a:off x="17355332" y="1844675"/>
            <a:ext cx="2414713" cy="2146899"/>
          </a:xfrm>
          <a:custGeom>
            <a:avLst/>
            <a:gdLst/>
            <a:ahLst/>
            <a:cxnLst/>
            <a:rect l="l" t="t" r="r" b="b"/>
            <a:pathLst>
              <a:path w="2414713" h="2146899">
                <a:moveTo>
                  <a:pt x="0" y="0"/>
                </a:moveTo>
                <a:lnTo>
                  <a:pt x="2414713" y="0"/>
                </a:lnTo>
                <a:lnTo>
                  <a:pt x="2414713" y="2146899"/>
                </a:lnTo>
                <a:lnTo>
                  <a:pt x="0" y="214689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>
              <a:latin typeface="Abadi" panose="020B0604020104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CCA855C-F741-C746-B6B1-1B8B0838DF5A}"/>
              </a:ext>
            </a:extLst>
          </p:cNvPr>
          <p:cNvSpPr txBox="1"/>
          <p:nvPr/>
        </p:nvSpPr>
        <p:spPr>
          <a:xfrm>
            <a:off x="2971800" y="2454535"/>
            <a:ext cx="1371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  <a:latin typeface="Abadi" panose="020B0604020104020204" pitchFamily="34" charset="0"/>
                <a:cs typeface="Times New Roman" panose="02020603050405020304" pitchFamily="18" charset="0"/>
              </a:rPr>
              <a:t>rock </a:t>
            </a:r>
            <a:endParaRPr lang="en-US" sz="4000" b="1" dirty="0">
              <a:solidFill>
                <a:srgbClr val="FF0000"/>
              </a:solidFill>
              <a:latin typeface="Abadi" panose="020B0604020104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D18E75D-65D1-4478-4379-C283CBDFB811}"/>
              </a:ext>
            </a:extLst>
          </p:cNvPr>
          <p:cNvSpPr txBox="1"/>
          <p:nvPr/>
        </p:nvSpPr>
        <p:spPr>
          <a:xfrm>
            <a:off x="14644512" y="2454535"/>
            <a:ext cx="25930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  <a:latin typeface="Abadi" panose="020B0604020104020204" pitchFamily="34" charset="0"/>
                <a:cs typeface="Times New Roman" panose="02020603050405020304" pitchFamily="18" charset="0"/>
              </a:rPr>
              <a:t>biological </a:t>
            </a:r>
            <a:endParaRPr lang="en-US" sz="4000" b="1" dirty="0">
              <a:solidFill>
                <a:srgbClr val="FF0000"/>
              </a:solidFill>
              <a:latin typeface="Abadi" panose="020B0604020104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08162E6-65C0-E853-DB95-886448957F10}"/>
              </a:ext>
            </a:extLst>
          </p:cNvPr>
          <p:cNvSpPr txBox="1"/>
          <p:nvPr/>
        </p:nvSpPr>
        <p:spPr>
          <a:xfrm>
            <a:off x="13289102" y="3100866"/>
            <a:ext cx="27108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  <a:latin typeface="Abadi" panose="020B0604020104020204" pitchFamily="34" charset="0"/>
                <a:cs typeface="Times New Roman" panose="02020603050405020304" pitchFamily="18" charset="0"/>
              </a:rPr>
              <a:t>components </a:t>
            </a:r>
            <a:endParaRPr lang="en-US" sz="4000" b="1" dirty="0">
              <a:solidFill>
                <a:srgbClr val="FF0000"/>
              </a:solidFill>
              <a:latin typeface="Abadi" panose="020B0604020104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589A9DB-BA05-4779-BA15-1809D0328964}"/>
              </a:ext>
            </a:extLst>
          </p:cNvPr>
          <p:cNvSpPr txBox="1"/>
          <p:nvPr/>
        </p:nvSpPr>
        <p:spPr>
          <a:xfrm>
            <a:off x="9448800" y="4229100"/>
            <a:ext cx="1981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  <a:latin typeface="Abadi" panose="020B0604020104020204" pitchFamily="34" charset="0"/>
                <a:cs typeface="Times New Roman" panose="02020603050405020304" pitchFamily="18" charset="0"/>
              </a:rPr>
              <a:t>organic </a:t>
            </a:r>
            <a:endParaRPr lang="en-US" sz="4000" b="1" dirty="0">
              <a:solidFill>
                <a:srgbClr val="FF0000"/>
              </a:solidFill>
              <a:latin typeface="Abadi" panose="020B0604020104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B801019-3C3C-6FFF-2514-3A15A4B01867}"/>
              </a:ext>
            </a:extLst>
          </p:cNvPr>
          <p:cNvSpPr txBox="1"/>
          <p:nvPr/>
        </p:nvSpPr>
        <p:spPr>
          <a:xfrm>
            <a:off x="9252155" y="4875431"/>
            <a:ext cx="23744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  <a:latin typeface="Abadi" panose="020B0604020104020204" pitchFamily="34" charset="0"/>
                <a:cs typeface="Times New Roman" panose="02020603050405020304" pitchFamily="18" charset="0"/>
              </a:rPr>
              <a:t>inorganic </a:t>
            </a:r>
            <a:endParaRPr lang="en-US" sz="4000" b="1" dirty="0">
              <a:solidFill>
                <a:srgbClr val="FF0000"/>
              </a:solidFill>
              <a:latin typeface="Abadi" panose="020B0604020104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B151C3B-A23B-2EA2-87ED-2BA031DC43C4}"/>
              </a:ext>
            </a:extLst>
          </p:cNvPr>
          <p:cNvSpPr txBox="1"/>
          <p:nvPr/>
        </p:nvSpPr>
        <p:spPr>
          <a:xfrm>
            <a:off x="8305800" y="5502741"/>
            <a:ext cx="3505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  <a:latin typeface="Abadi" panose="020B0604020104020204" pitchFamily="34" charset="0"/>
                <a:cs typeface="Times New Roman" panose="02020603050405020304" pitchFamily="18" charset="0"/>
              </a:rPr>
              <a:t>microorganisms </a:t>
            </a:r>
            <a:endParaRPr lang="en-US" sz="4000" b="1" dirty="0">
              <a:solidFill>
                <a:srgbClr val="FF0000"/>
              </a:solidFill>
              <a:latin typeface="Abadi" panose="020B0604020104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1B07177-3A61-117D-44B9-44F283AF14A7}"/>
              </a:ext>
            </a:extLst>
          </p:cNvPr>
          <p:cNvSpPr txBox="1"/>
          <p:nvPr/>
        </p:nvSpPr>
        <p:spPr>
          <a:xfrm>
            <a:off x="2971800" y="6743700"/>
            <a:ext cx="1371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  <a:latin typeface="Abadi" panose="020B0604020104020204" pitchFamily="34" charset="0"/>
                <a:cs typeface="Times New Roman" panose="02020603050405020304" pitchFamily="18" charset="0"/>
              </a:rPr>
              <a:t>roots </a:t>
            </a:r>
            <a:endParaRPr lang="en-US" sz="4000" b="1" dirty="0">
              <a:solidFill>
                <a:srgbClr val="FF0000"/>
              </a:solidFill>
              <a:latin typeface="Abadi" panose="020B0604020104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6D7C5FD-F458-8969-188C-058B118147BE}"/>
              </a:ext>
            </a:extLst>
          </p:cNvPr>
          <p:cNvSpPr txBox="1"/>
          <p:nvPr/>
        </p:nvSpPr>
        <p:spPr>
          <a:xfrm>
            <a:off x="7543800" y="7390031"/>
            <a:ext cx="1371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  <a:latin typeface="Abadi" panose="020B0604020104020204" pitchFamily="34" charset="0"/>
                <a:cs typeface="Times New Roman" panose="02020603050405020304" pitchFamily="18" charset="0"/>
              </a:rPr>
              <a:t>ions </a:t>
            </a:r>
            <a:endParaRPr lang="en-US" sz="4000" b="1" dirty="0">
              <a:solidFill>
                <a:srgbClr val="FF0000"/>
              </a:solidFill>
              <a:latin typeface="Abadi" panose="020B0604020104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6" name="Track 3_Sinh_7">
            <a:hlinkClick r:id="" action="ppaction://media"/>
            <a:extLst>
              <a:ext uri="{FF2B5EF4-FFF2-40B4-BE49-F238E27FC236}">
                <a16:creationId xmlns:a16="http://schemas.microsoft.com/office/drawing/2014/main" id="{3F1DE06B-5907-CFC2-0DFF-071BAFB7D7C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4425190" y="949712"/>
            <a:ext cx="1329645" cy="1329645"/>
          </a:xfrm>
          <a:prstGeom prst="rect">
            <a:avLst/>
          </a:prstGeom>
        </p:spPr>
      </p:pic>
      <p:pic>
        <p:nvPicPr>
          <p:cNvPr id="11" name="Google Shape;12;p17" descr="A blue and yellow logo&#10;&#10;Description automatically generated">
            <a:extLst>
              <a:ext uri="{FF2B5EF4-FFF2-40B4-BE49-F238E27FC236}">
                <a16:creationId xmlns:a16="http://schemas.microsoft.com/office/drawing/2014/main" id="{CBF5CA59-FBD7-FF32-5B3D-1FF49A201F96}"/>
              </a:ext>
            </a:extLst>
          </p:cNvPr>
          <p:cNvPicPr preferRelativeResize="0"/>
          <p:nvPr/>
        </p:nvPicPr>
        <p:blipFill rotWithShape="1">
          <a:blip r:embed="rId10"/>
          <a:srcRect t="5199" b="17605"/>
          <a:stretch/>
        </p:blipFill>
        <p:spPr>
          <a:xfrm>
            <a:off x="16002566" y="190500"/>
            <a:ext cx="2135883" cy="1112135"/>
          </a:xfrm>
          <a:prstGeom prst="rect">
            <a:avLst/>
          </a:prstGeom>
          <a:noFill/>
          <a:ln>
            <a:noFill/>
          </a:ln>
          <a:scene3d>
            <a:camera prst="orthographicFront"/>
            <a:lightRig rig="flat" dir="t"/>
          </a:scene3d>
          <a:sp3d extrusionH="76200" prstMaterial="dkEdge">
            <a:extrusionClr>
              <a:srgbClr val="FFFF00"/>
            </a:extrusionClr>
          </a:sp3d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0928" fill="hold"/>
                                        <p:tgtEl>
                                          <p:spTgt spid="2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4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6"/>
                </p:tgtEl>
              </p:cMediaNode>
            </p:audio>
          </p:childTnLst>
        </p:cTn>
      </p:par>
    </p:tnLst>
    <p:bldLst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5DE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99116">
            <a:off x="12806422" y="-853543"/>
            <a:ext cx="6855852" cy="3764486"/>
          </a:xfrm>
          <a:custGeom>
            <a:avLst/>
            <a:gdLst/>
            <a:ahLst/>
            <a:cxnLst/>
            <a:rect l="l" t="t" r="r" b="b"/>
            <a:pathLst>
              <a:path w="6855852" h="3764486">
                <a:moveTo>
                  <a:pt x="0" y="0"/>
                </a:moveTo>
                <a:lnTo>
                  <a:pt x="6855852" y="0"/>
                </a:lnTo>
                <a:lnTo>
                  <a:pt x="6855852" y="3764486"/>
                </a:lnTo>
                <a:lnTo>
                  <a:pt x="0" y="37644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>
              <a:latin typeface="Abadi" panose="020B0604020104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Freeform 3"/>
          <p:cNvSpPr/>
          <p:nvPr/>
        </p:nvSpPr>
        <p:spPr>
          <a:xfrm rot="-10023158">
            <a:off x="-882717" y="7776843"/>
            <a:ext cx="6855852" cy="3764486"/>
          </a:xfrm>
          <a:custGeom>
            <a:avLst/>
            <a:gdLst/>
            <a:ahLst/>
            <a:cxnLst/>
            <a:rect l="l" t="t" r="r" b="b"/>
            <a:pathLst>
              <a:path w="6855852" h="3764486">
                <a:moveTo>
                  <a:pt x="0" y="0"/>
                </a:moveTo>
                <a:lnTo>
                  <a:pt x="6855852" y="0"/>
                </a:lnTo>
                <a:lnTo>
                  <a:pt x="6855852" y="3764486"/>
                </a:lnTo>
                <a:lnTo>
                  <a:pt x="0" y="37644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>
              <a:latin typeface="Abadi" panose="020B0604020104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" name="Freeform 12"/>
          <p:cNvSpPr/>
          <p:nvPr/>
        </p:nvSpPr>
        <p:spPr>
          <a:xfrm>
            <a:off x="15055203" y="5420424"/>
            <a:ext cx="2105643" cy="1872108"/>
          </a:xfrm>
          <a:custGeom>
            <a:avLst/>
            <a:gdLst/>
            <a:ahLst/>
            <a:cxnLst/>
            <a:rect l="l" t="t" r="r" b="b"/>
            <a:pathLst>
              <a:path w="2105643" h="1872108">
                <a:moveTo>
                  <a:pt x="0" y="0"/>
                </a:moveTo>
                <a:lnTo>
                  <a:pt x="2105643" y="0"/>
                </a:lnTo>
                <a:lnTo>
                  <a:pt x="2105643" y="1872108"/>
                </a:lnTo>
                <a:lnTo>
                  <a:pt x="0" y="18721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>
              <a:latin typeface="Abadi" panose="020B0604020104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Freeform 13"/>
          <p:cNvSpPr/>
          <p:nvPr/>
        </p:nvSpPr>
        <p:spPr>
          <a:xfrm>
            <a:off x="5577445" y="-445691"/>
            <a:ext cx="2105643" cy="1872108"/>
          </a:xfrm>
          <a:custGeom>
            <a:avLst/>
            <a:gdLst/>
            <a:ahLst/>
            <a:cxnLst/>
            <a:rect l="l" t="t" r="r" b="b"/>
            <a:pathLst>
              <a:path w="2105643" h="1872108">
                <a:moveTo>
                  <a:pt x="0" y="0"/>
                </a:moveTo>
                <a:lnTo>
                  <a:pt x="2105643" y="0"/>
                </a:lnTo>
                <a:lnTo>
                  <a:pt x="2105643" y="1872108"/>
                </a:lnTo>
                <a:lnTo>
                  <a:pt x="0" y="187210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>
              <a:latin typeface="Abadi" panose="020B060402010402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46D7F7A-7DA8-156A-8812-94A4886ACFF6}"/>
              </a:ext>
            </a:extLst>
          </p:cNvPr>
          <p:cNvGrpSpPr/>
          <p:nvPr/>
        </p:nvGrpSpPr>
        <p:grpSpPr>
          <a:xfrm>
            <a:off x="26573" y="190500"/>
            <a:ext cx="5184450" cy="1097280"/>
            <a:chOff x="228598" y="133922"/>
            <a:chExt cx="4264345" cy="1097280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A651569C-2FC3-10EB-CD89-0E39EDAF4DEE}"/>
                </a:ext>
              </a:extLst>
            </p:cNvPr>
            <p:cNvSpPr/>
            <p:nvPr/>
          </p:nvSpPr>
          <p:spPr>
            <a:xfrm>
              <a:off x="228598" y="133922"/>
              <a:ext cx="4264345" cy="1097280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C00000"/>
                </a:solidFill>
                <a:latin typeface="Abadi" panose="020B0604020104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F93EF0E-98AA-CDF5-058D-0FBCF442654C}"/>
                </a:ext>
              </a:extLst>
            </p:cNvPr>
            <p:cNvSpPr txBox="1"/>
            <p:nvPr/>
          </p:nvSpPr>
          <p:spPr>
            <a:xfrm>
              <a:off x="448356" y="148883"/>
              <a:ext cx="382483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dirty="0">
                  <a:solidFill>
                    <a:srgbClr val="C00000"/>
                  </a:solidFill>
                  <a:latin typeface="Abadi" panose="020B0604020104020204" pitchFamily="34" charset="0"/>
                  <a:ea typeface="ADLaM Display" panose="02010000000000000000" pitchFamily="2" charset="0"/>
                  <a:cs typeface="Times New Roman" panose="02020603050405020304" pitchFamily="18" charset="0"/>
                </a:rPr>
                <a:t>Reading</a:t>
              </a:r>
              <a:endParaRPr lang="en-US" sz="6000" b="1" dirty="0">
                <a:solidFill>
                  <a:srgbClr val="C00000"/>
                </a:solidFill>
                <a:latin typeface="Abadi" panose="020B060402010402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4" name="Freeform 4"/>
          <p:cNvSpPr/>
          <p:nvPr/>
        </p:nvSpPr>
        <p:spPr>
          <a:xfrm>
            <a:off x="-762000" y="2232628"/>
            <a:ext cx="2105643" cy="1872108"/>
          </a:xfrm>
          <a:custGeom>
            <a:avLst/>
            <a:gdLst/>
            <a:ahLst/>
            <a:cxnLst/>
            <a:rect l="l" t="t" r="r" b="b"/>
            <a:pathLst>
              <a:path w="2105643" h="1872108">
                <a:moveTo>
                  <a:pt x="0" y="0"/>
                </a:moveTo>
                <a:lnTo>
                  <a:pt x="2105643" y="0"/>
                </a:lnTo>
                <a:lnTo>
                  <a:pt x="2105643" y="1872108"/>
                </a:lnTo>
                <a:lnTo>
                  <a:pt x="0" y="187210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>
              <a:latin typeface="Abadi" panose="020B060402010402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1CAAB48-073E-3805-0C57-DF13A712755B}"/>
              </a:ext>
            </a:extLst>
          </p:cNvPr>
          <p:cNvGrpSpPr/>
          <p:nvPr/>
        </p:nvGrpSpPr>
        <p:grpSpPr>
          <a:xfrm>
            <a:off x="2925273" y="1301821"/>
            <a:ext cx="12437452" cy="7530119"/>
            <a:chOff x="2486688" y="1471240"/>
            <a:chExt cx="13314625" cy="8061194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98140740-A91C-A3A3-E01E-B6C9A1D150C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2486688" y="1471240"/>
              <a:ext cx="13314625" cy="5552435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C01878EB-6F67-CBCA-77AF-8AB3B7D0F950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2486688" y="6773848"/>
              <a:ext cx="13314624" cy="2758586"/>
            </a:xfrm>
            <a:prstGeom prst="rect">
              <a:avLst/>
            </a:prstGeom>
          </p:spPr>
        </p:pic>
      </p:grpSp>
      <p:pic>
        <p:nvPicPr>
          <p:cNvPr id="19" name="Picture 18">
            <a:extLst>
              <a:ext uri="{FF2B5EF4-FFF2-40B4-BE49-F238E27FC236}">
                <a16:creationId xmlns:a16="http://schemas.microsoft.com/office/drawing/2014/main" id="{C89BF4AB-E116-313E-7368-F3012B0A6190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b="79114"/>
          <a:stretch>
            <a:fillRect/>
          </a:stretch>
        </p:blipFill>
        <p:spPr>
          <a:xfrm>
            <a:off x="707980" y="8877300"/>
            <a:ext cx="16872039" cy="1449508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E0B63C92-89F0-9E0F-F791-6AEF58E4E7EA}"/>
              </a:ext>
            </a:extLst>
          </p:cNvPr>
          <p:cNvSpPr txBox="1"/>
          <p:nvPr/>
        </p:nvSpPr>
        <p:spPr>
          <a:xfrm>
            <a:off x="1343643" y="9457162"/>
            <a:ext cx="119388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  <a:latin typeface="Quattrocento Sans" panose="020B0502050000020003" pitchFamily="34" charset="0"/>
              </a:rPr>
              <a:t>Nucleic acids and proteins.</a:t>
            </a:r>
            <a:endParaRPr lang="en-US" sz="4000" b="1" dirty="0">
              <a:solidFill>
                <a:srgbClr val="FF0000"/>
              </a:solidFill>
              <a:latin typeface="Quattrocento Sans" panose="020B0502050000020003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D5B0768-DBCD-11EA-43EB-5C55CDE684D4}"/>
              </a:ext>
            </a:extLst>
          </p:cNvPr>
          <p:cNvSpPr/>
          <p:nvPr/>
        </p:nvSpPr>
        <p:spPr>
          <a:xfrm>
            <a:off x="7848600" y="1916592"/>
            <a:ext cx="1143000" cy="559908"/>
          </a:xfrm>
          <a:prstGeom prst="rect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A388D0D-2179-E7E5-7D09-F6858DC0012D}"/>
              </a:ext>
            </a:extLst>
          </p:cNvPr>
          <p:cNvSpPr/>
          <p:nvPr/>
        </p:nvSpPr>
        <p:spPr>
          <a:xfrm>
            <a:off x="3058310" y="2412589"/>
            <a:ext cx="2732890" cy="559908"/>
          </a:xfrm>
          <a:prstGeom prst="rect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BA762DA8-F08B-5F4D-B018-CAFC39CE724E}"/>
              </a:ext>
            </a:extLst>
          </p:cNvPr>
          <p:cNvSpPr/>
          <p:nvPr/>
        </p:nvSpPr>
        <p:spPr>
          <a:xfrm>
            <a:off x="4991100" y="190500"/>
            <a:ext cx="10172700" cy="1097280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>
                <a:solidFill>
                  <a:srgbClr val="002060"/>
                </a:solidFill>
                <a:latin typeface="Abadi" panose="020B0604020104020204" pitchFamily="34" charset="0"/>
                <a:cs typeface="Times New Roman" panose="02020603050405020304" pitchFamily="18" charset="0"/>
              </a:rPr>
              <a:t>Read the passage and answer the questions.</a:t>
            </a:r>
          </a:p>
        </p:txBody>
      </p:sp>
      <p:pic>
        <p:nvPicPr>
          <p:cNvPr id="24" name="Google Shape;12;p17" descr="A blue and yellow logo&#10;&#10;Description automatically generated">
            <a:extLst>
              <a:ext uri="{FF2B5EF4-FFF2-40B4-BE49-F238E27FC236}">
                <a16:creationId xmlns:a16="http://schemas.microsoft.com/office/drawing/2014/main" id="{AE1E2963-7CCC-74DB-B56B-AB6219E9A092}"/>
              </a:ext>
            </a:extLst>
          </p:cNvPr>
          <p:cNvPicPr preferRelativeResize="0"/>
          <p:nvPr/>
        </p:nvPicPr>
        <p:blipFill rotWithShape="1">
          <a:blip r:embed="rId13"/>
          <a:srcRect t="5199" b="17605"/>
          <a:stretch/>
        </p:blipFill>
        <p:spPr>
          <a:xfrm>
            <a:off x="16002566" y="190500"/>
            <a:ext cx="2135883" cy="1112135"/>
          </a:xfrm>
          <a:prstGeom prst="rect">
            <a:avLst/>
          </a:prstGeom>
          <a:noFill/>
          <a:ln>
            <a:noFill/>
          </a:ln>
          <a:scene3d>
            <a:camera prst="orthographicFront"/>
            <a:lightRig rig="flat" dir="t"/>
          </a:scene3d>
          <a:sp3d extrusionH="76200" prstMaterial="dkEdge">
            <a:extrusionClr>
              <a:srgbClr val="FFFF00"/>
            </a:extrusionClr>
          </a:sp3d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 animBg="1"/>
      <p:bldP spid="2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FD0D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757108-0794-E258-C56C-82871DF264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51D69292-EEB1-66DB-6C29-F31C3E5D8092}"/>
              </a:ext>
            </a:extLst>
          </p:cNvPr>
          <p:cNvGrpSpPr/>
          <p:nvPr/>
        </p:nvGrpSpPr>
        <p:grpSpPr>
          <a:xfrm>
            <a:off x="26573" y="190500"/>
            <a:ext cx="5184450" cy="1097280"/>
            <a:chOff x="228598" y="133922"/>
            <a:chExt cx="4264345" cy="1097280"/>
          </a:xfrm>
        </p:grpSpPr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3240121B-FDF3-4EEA-BECB-8F2E43778D86}"/>
                </a:ext>
              </a:extLst>
            </p:cNvPr>
            <p:cNvSpPr/>
            <p:nvPr/>
          </p:nvSpPr>
          <p:spPr>
            <a:xfrm>
              <a:off x="228598" y="133922"/>
              <a:ext cx="4264345" cy="1097280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C00000"/>
                </a:solidFill>
                <a:latin typeface="Abadi" panose="020B0604020104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B5AF2574-4F0E-85FE-F510-ED27DD09ADF7}"/>
                </a:ext>
              </a:extLst>
            </p:cNvPr>
            <p:cNvSpPr txBox="1"/>
            <p:nvPr/>
          </p:nvSpPr>
          <p:spPr>
            <a:xfrm>
              <a:off x="448356" y="148883"/>
              <a:ext cx="382483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dirty="0">
                  <a:solidFill>
                    <a:srgbClr val="C00000"/>
                  </a:solidFill>
                  <a:latin typeface="Abadi" panose="020B0604020104020204" pitchFamily="34" charset="0"/>
                  <a:ea typeface="ADLaM Display" panose="02010000000000000000" pitchFamily="2" charset="0"/>
                  <a:cs typeface="Times New Roman" panose="02020603050405020304" pitchFamily="18" charset="0"/>
                </a:rPr>
                <a:t>Reading</a:t>
              </a:r>
              <a:endParaRPr lang="en-US" sz="6000" b="1" dirty="0">
                <a:solidFill>
                  <a:srgbClr val="C00000"/>
                </a:solidFill>
                <a:latin typeface="Abadi" panose="020B060402010402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" name="Freeform 2">
            <a:extLst>
              <a:ext uri="{FF2B5EF4-FFF2-40B4-BE49-F238E27FC236}">
                <a16:creationId xmlns:a16="http://schemas.microsoft.com/office/drawing/2014/main" id="{E718C85F-D13A-D89C-A76B-F82969EDC249}"/>
              </a:ext>
            </a:extLst>
          </p:cNvPr>
          <p:cNvSpPr/>
          <p:nvPr/>
        </p:nvSpPr>
        <p:spPr>
          <a:xfrm rot="299116">
            <a:off x="12806422" y="-853543"/>
            <a:ext cx="6855852" cy="3764486"/>
          </a:xfrm>
          <a:custGeom>
            <a:avLst/>
            <a:gdLst/>
            <a:ahLst/>
            <a:cxnLst/>
            <a:rect l="l" t="t" r="r" b="b"/>
            <a:pathLst>
              <a:path w="6855852" h="3764486">
                <a:moveTo>
                  <a:pt x="0" y="0"/>
                </a:moveTo>
                <a:lnTo>
                  <a:pt x="6855852" y="0"/>
                </a:lnTo>
                <a:lnTo>
                  <a:pt x="6855852" y="3764486"/>
                </a:lnTo>
                <a:lnTo>
                  <a:pt x="0" y="37644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>
              <a:latin typeface="Abadi" panose="020B0604020104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5BA71D33-9878-C96D-8434-25D48997E6E0}"/>
              </a:ext>
            </a:extLst>
          </p:cNvPr>
          <p:cNvSpPr/>
          <p:nvPr/>
        </p:nvSpPr>
        <p:spPr>
          <a:xfrm rot="-10023158">
            <a:off x="-882717" y="7776843"/>
            <a:ext cx="6855852" cy="3764486"/>
          </a:xfrm>
          <a:custGeom>
            <a:avLst/>
            <a:gdLst/>
            <a:ahLst/>
            <a:cxnLst/>
            <a:rect l="l" t="t" r="r" b="b"/>
            <a:pathLst>
              <a:path w="6855852" h="3764486">
                <a:moveTo>
                  <a:pt x="0" y="0"/>
                </a:moveTo>
                <a:lnTo>
                  <a:pt x="6855852" y="0"/>
                </a:lnTo>
                <a:lnTo>
                  <a:pt x="6855852" y="3764486"/>
                </a:lnTo>
                <a:lnTo>
                  <a:pt x="0" y="37644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>
              <a:latin typeface="Abadi" panose="020B0604020104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8BD834C9-40C8-179A-57B5-75FCDD7F1EA0}"/>
              </a:ext>
            </a:extLst>
          </p:cNvPr>
          <p:cNvSpPr/>
          <p:nvPr/>
        </p:nvSpPr>
        <p:spPr>
          <a:xfrm>
            <a:off x="15055203" y="5420424"/>
            <a:ext cx="2105643" cy="1872108"/>
          </a:xfrm>
          <a:custGeom>
            <a:avLst/>
            <a:gdLst/>
            <a:ahLst/>
            <a:cxnLst/>
            <a:rect l="l" t="t" r="r" b="b"/>
            <a:pathLst>
              <a:path w="2105643" h="1872108">
                <a:moveTo>
                  <a:pt x="0" y="0"/>
                </a:moveTo>
                <a:lnTo>
                  <a:pt x="2105643" y="0"/>
                </a:lnTo>
                <a:lnTo>
                  <a:pt x="2105643" y="1872108"/>
                </a:lnTo>
                <a:lnTo>
                  <a:pt x="0" y="18721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>
              <a:latin typeface="Abadi" panose="020B0604020104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08689842-A8C3-8FD8-3E57-A75786CE4F13}"/>
              </a:ext>
            </a:extLst>
          </p:cNvPr>
          <p:cNvSpPr/>
          <p:nvPr/>
        </p:nvSpPr>
        <p:spPr>
          <a:xfrm>
            <a:off x="5577445" y="-445691"/>
            <a:ext cx="2105643" cy="1872108"/>
          </a:xfrm>
          <a:custGeom>
            <a:avLst/>
            <a:gdLst/>
            <a:ahLst/>
            <a:cxnLst/>
            <a:rect l="l" t="t" r="r" b="b"/>
            <a:pathLst>
              <a:path w="2105643" h="1872108">
                <a:moveTo>
                  <a:pt x="0" y="0"/>
                </a:moveTo>
                <a:lnTo>
                  <a:pt x="2105643" y="0"/>
                </a:lnTo>
                <a:lnTo>
                  <a:pt x="2105643" y="1872108"/>
                </a:lnTo>
                <a:lnTo>
                  <a:pt x="0" y="187210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>
              <a:latin typeface="Abadi" panose="020B0604020104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130BE46C-5AC3-627D-860B-69BA77E7F075}"/>
              </a:ext>
            </a:extLst>
          </p:cNvPr>
          <p:cNvSpPr/>
          <p:nvPr/>
        </p:nvSpPr>
        <p:spPr>
          <a:xfrm>
            <a:off x="-762000" y="2232628"/>
            <a:ext cx="2105643" cy="1872108"/>
          </a:xfrm>
          <a:custGeom>
            <a:avLst/>
            <a:gdLst/>
            <a:ahLst/>
            <a:cxnLst/>
            <a:rect l="l" t="t" r="r" b="b"/>
            <a:pathLst>
              <a:path w="2105643" h="1872108">
                <a:moveTo>
                  <a:pt x="0" y="0"/>
                </a:moveTo>
                <a:lnTo>
                  <a:pt x="2105643" y="0"/>
                </a:lnTo>
                <a:lnTo>
                  <a:pt x="2105643" y="1872108"/>
                </a:lnTo>
                <a:lnTo>
                  <a:pt x="0" y="187210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>
              <a:latin typeface="Abadi" panose="020B060402010402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19F5F29-3D68-DD90-A0AE-1F9DDA368949}"/>
              </a:ext>
            </a:extLst>
          </p:cNvPr>
          <p:cNvGrpSpPr/>
          <p:nvPr/>
        </p:nvGrpSpPr>
        <p:grpSpPr>
          <a:xfrm>
            <a:off x="2925273" y="1301821"/>
            <a:ext cx="12437452" cy="7530119"/>
            <a:chOff x="2486688" y="1471240"/>
            <a:chExt cx="13314625" cy="8061194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9829FBD0-5023-51F1-210D-74D64790AD9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2486688" y="1471240"/>
              <a:ext cx="13314625" cy="5552435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AEC458CD-3A16-954D-D312-4068F99C98B3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2486688" y="6773848"/>
              <a:ext cx="13314624" cy="2758586"/>
            </a:xfrm>
            <a:prstGeom prst="rect">
              <a:avLst/>
            </a:prstGeom>
          </p:spPr>
        </p:pic>
      </p:grpSp>
      <p:pic>
        <p:nvPicPr>
          <p:cNvPr id="19" name="Picture 18">
            <a:extLst>
              <a:ext uri="{FF2B5EF4-FFF2-40B4-BE49-F238E27FC236}">
                <a16:creationId xmlns:a16="http://schemas.microsoft.com/office/drawing/2014/main" id="{57C71D0F-242A-5BF8-B8BF-59A950284858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t="18416" b="60698"/>
          <a:stretch>
            <a:fillRect/>
          </a:stretch>
        </p:blipFill>
        <p:spPr>
          <a:xfrm>
            <a:off x="707980" y="8877300"/>
            <a:ext cx="16872039" cy="1449508"/>
          </a:xfrm>
          <a:prstGeom prst="rect">
            <a:avLst/>
          </a:prstGeom>
        </p:spPr>
      </p:pic>
      <p:sp>
        <p:nvSpPr>
          <p:cNvPr id="23" name="Freeform 22">
            <a:extLst>
              <a:ext uri="{FF2B5EF4-FFF2-40B4-BE49-F238E27FC236}">
                <a16:creationId xmlns:a16="http://schemas.microsoft.com/office/drawing/2014/main" id="{9882D7C5-56E1-F861-6F9A-214F627748FE}"/>
              </a:ext>
            </a:extLst>
          </p:cNvPr>
          <p:cNvSpPr/>
          <p:nvPr/>
        </p:nvSpPr>
        <p:spPr>
          <a:xfrm>
            <a:off x="3106560" y="2754792"/>
            <a:ext cx="5808840" cy="1119816"/>
          </a:xfrm>
          <a:custGeom>
            <a:avLst/>
            <a:gdLst>
              <a:gd name="csX0" fmla="*/ 3523706 w 5808840"/>
              <a:gd name="csY0" fmla="*/ 0 h 1119816"/>
              <a:gd name="csX1" fmla="*/ 5808840 w 5808840"/>
              <a:gd name="csY1" fmla="*/ 0 h 1119816"/>
              <a:gd name="csX2" fmla="*/ 5808840 w 5808840"/>
              <a:gd name="csY2" fmla="*/ 559908 h 1119816"/>
              <a:gd name="csX3" fmla="*/ 4576527 w 5808840"/>
              <a:gd name="csY3" fmla="*/ 559908 h 1119816"/>
              <a:gd name="csX4" fmla="*/ 4576527 w 5808840"/>
              <a:gd name="csY4" fmla="*/ 1119816 h 1119816"/>
              <a:gd name="csX5" fmla="*/ 0 w 5808840"/>
              <a:gd name="csY5" fmla="*/ 1119816 h 1119816"/>
              <a:gd name="csX6" fmla="*/ 0 w 5808840"/>
              <a:gd name="csY6" fmla="*/ 559908 h 1119816"/>
              <a:gd name="csX7" fmla="*/ 3523706 w 5808840"/>
              <a:gd name="csY7" fmla="*/ 559908 h 11198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5808840" h="1119816">
                <a:moveTo>
                  <a:pt x="3523706" y="0"/>
                </a:moveTo>
                <a:lnTo>
                  <a:pt x="5808840" y="0"/>
                </a:lnTo>
                <a:lnTo>
                  <a:pt x="5808840" y="559908"/>
                </a:lnTo>
                <a:lnTo>
                  <a:pt x="4576527" y="559908"/>
                </a:lnTo>
                <a:lnTo>
                  <a:pt x="4576527" y="1119816"/>
                </a:lnTo>
                <a:lnTo>
                  <a:pt x="0" y="1119816"/>
                </a:lnTo>
                <a:lnTo>
                  <a:pt x="0" y="559908"/>
                </a:lnTo>
                <a:lnTo>
                  <a:pt x="3523706" y="559908"/>
                </a:lnTo>
                <a:close/>
              </a:path>
            </a:pathLst>
          </a:cu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A7BAC91-5AB9-ACFF-B9EA-595FC2E26460}"/>
              </a:ext>
            </a:extLst>
          </p:cNvPr>
          <p:cNvSpPr txBox="1"/>
          <p:nvPr/>
        </p:nvSpPr>
        <p:spPr>
          <a:xfrm>
            <a:off x="2438400" y="9476132"/>
            <a:ext cx="13639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  <a:latin typeface="Abadi" panose="020B0604020104020204" pitchFamily="34" charset="0"/>
                <a:cs typeface="Times New Roman" panose="02020603050405020304" pitchFamily="18" charset="0"/>
              </a:rPr>
              <a:t>The percentage of molecule N2 in the atmosphere is 80%.</a:t>
            </a:r>
            <a:endParaRPr lang="en-US" sz="4000" b="1" dirty="0">
              <a:solidFill>
                <a:srgbClr val="FF0000"/>
              </a:solidFill>
              <a:latin typeface="Abadi" panose="020B0604020104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8C45AC7A-CDCB-9820-8DDD-E699B560B44B}"/>
              </a:ext>
            </a:extLst>
          </p:cNvPr>
          <p:cNvSpPr/>
          <p:nvPr/>
        </p:nvSpPr>
        <p:spPr>
          <a:xfrm>
            <a:off x="4991100" y="190500"/>
            <a:ext cx="10172700" cy="1097280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>
                <a:solidFill>
                  <a:srgbClr val="002060"/>
                </a:solidFill>
                <a:latin typeface="Abadi" panose="020B0604020104020204" pitchFamily="34" charset="0"/>
                <a:cs typeface="Times New Roman" panose="02020603050405020304" pitchFamily="18" charset="0"/>
              </a:rPr>
              <a:t>Read the passage and answer the questions.</a:t>
            </a:r>
          </a:p>
        </p:txBody>
      </p:sp>
      <p:pic>
        <p:nvPicPr>
          <p:cNvPr id="24" name="Google Shape;12;p17" descr="A blue and yellow logo&#10;&#10;Description automatically generated">
            <a:extLst>
              <a:ext uri="{FF2B5EF4-FFF2-40B4-BE49-F238E27FC236}">
                <a16:creationId xmlns:a16="http://schemas.microsoft.com/office/drawing/2014/main" id="{773981C4-B0ED-FA28-C0E3-4D87C30CD6A4}"/>
              </a:ext>
            </a:extLst>
          </p:cNvPr>
          <p:cNvPicPr preferRelativeResize="0"/>
          <p:nvPr/>
        </p:nvPicPr>
        <p:blipFill rotWithShape="1">
          <a:blip r:embed="rId13"/>
          <a:srcRect t="5199" b="17605"/>
          <a:stretch/>
        </p:blipFill>
        <p:spPr>
          <a:xfrm>
            <a:off x="16002566" y="190500"/>
            <a:ext cx="2135883" cy="1112135"/>
          </a:xfrm>
          <a:prstGeom prst="rect">
            <a:avLst/>
          </a:prstGeom>
          <a:noFill/>
          <a:ln>
            <a:noFill/>
          </a:ln>
          <a:scene3d>
            <a:camera prst="orthographicFront"/>
            <a:lightRig rig="flat" dir="t"/>
          </a:scene3d>
          <a:sp3d extrusionH="76200" prstMaterial="dkEdge">
            <a:extrusionClr>
              <a:srgbClr val="FFFF00"/>
            </a:extrusionClr>
          </a:sp3d>
        </p:spPr>
      </p:pic>
    </p:spTree>
    <p:extLst>
      <p:ext uri="{BB962C8B-B14F-4D97-AF65-F5344CB8AC3E}">
        <p14:creationId xmlns:p14="http://schemas.microsoft.com/office/powerpoint/2010/main" val="2256077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0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1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FD0D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59AC7F-DA51-1885-39B3-99A78AC3F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4BA45D64-43DA-1044-0BE4-559790156FE6}"/>
              </a:ext>
            </a:extLst>
          </p:cNvPr>
          <p:cNvGrpSpPr/>
          <p:nvPr/>
        </p:nvGrpSpPr>
        <p:grpSpPr>
          <a:xfrm>
            <a:off x="26573" y="190500"/>
            <a:ext cx="5184450" cy="1097280"/>
            <a:chOff x="228598" y="133922"/>
            <a:chExt cx="4264345" cy="1097280"/>
          </a:xfrm>
        </p:grpSpPr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6690B760-07F2-9BA4-A7FC-416F48DB9F49}"/>
                </a:ext>
              </a:extLst>
            </p:cNvPr>
            <p:cNvSpPr/>
            <p:nvPr/>
          </p:nvSpPr>
          <p:spPr>
            <a:xfrm>
              <a:off x="228598" y="133922"/>
              <a:ext cx="4264345" cy="1097280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C00000"/>
                </a:solidFill>
                <a:latin typeface="Abadi" panose="020B0604020104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A6FB2F29-74FA-88E5-279A-BF7D0AF09DA3}"/>
                </a:ext>
              </a:extLst>
            </p:cNvPr>
            <p:cNvSpPr txBox="1"/>
            <p:nvPr/>
          </p:nvSpPr>
          <p:spPr>
            <a:xfrm>
              <a:off x="448356" y="148883"/>
              <a:ext cx="382483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dirty="0">
                  <a:solidFill>
                    <a:srgbClr val="C00000"/>
                  </a:solidFill>
                  <a:latin typeface="Abadi" panose="020B0604020104020204" pitchFamily="34" charset="0"/>
                  <a:ea typeface="ADLaM Display" panose="02010000000000000000" pitchFamily="2" charset="0"/>
                  <a:cs typeface="Times New Roman" panose="02020603050405020304" pitchFamily="18" charset="0"/>
                </a:rPr>
                <a:t>Reading</a:t>
              </a:r>
              <a:endParaRPr lang="en-US" sz="6000" b="1" dirty="0">
                <a:solidFill>
                  <a:srgbClr val="C00000"/>
                </a:solidFill>
                <a:latin typeface="Abadi" panose="020B060402010402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" name="Freeform 2">
            <a:extLst>
              <a:ext uri="{FF2B5EF4-FFF2-40B4-BE49-F238E27FC236}">
                <a16:creationId xmlns:a16="http://schemas.microsoft.com/office/drawing/2014/main" id="{0E71CEEB-8B6E-7062-5B8A-8023AC26D63C}"/>
              </a:ext>
            </a:extLst>
          </p:cNvPr>
          <p:cNvSpPr/>
          <p:nvPr/>
        </p:nvSpPr>
        <p:spPr>
          <a:xfrm rot="299116">
            <a:off x="12806422" y="-853543"/>
            <a:ext cx="6855852" cy="3764486"/>
          </a:xfrm>
          <a:custGeom>
            <a:avLst/>
            <a:gdLst/>
            <a:ahLst/>
            <a:cxnLst/>
            <a:rect l="l" t="t" r="r" b="b"/>
            <a:pathLst>
              <a:path w="6855852" h="3764486">
                <a:moveTo>
                  <a:pt x="0" y="0"/>
                </a:moveTo>
                <a:lnTo>
                  <a:pt x="6855852" y="0"/>
                </a:lnTo>
                <a:lnTo>
                  <a:pt x="6855852" y="3764486"/>
                </a:lnTo>
                <a:lnTo>
                  <a:pt x="0" y="37644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>
              <a:latin typeface="Abadi" panose="020B0604020104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03E767B5-5C0D-7A1D-B240-181279822FAE}"/>
              </a:ext>
            </a:extLst>
          </p:cNvPr>
          <p:cNvSpPr/>
          <p:nvPr/>
        </p:nvSpPr>
        <p:spPr>
          <a:xfrm rot="-10023158">
            <a:off x="-882717" y="7776843"/>
            <a:ext cx="6855852" cy="3764486"/>
          </a:xfrm>
          <a:custGeom>
            <a:avLst/>
            <a:gdLst/>
            <a:ahLst/>
            <a:cxnLst/>
            <a:rect l="l" t="t" r="r" b="b"/>
            <a:pathLst>
              <a:path w="6855852" h="3764486">
                <a:moveTo>
                  <a:pt x="0" y="0"/>
                </a:moveTo>
                <a:lnTo>
                  <a:pt x="6855852" y="0"/>
                </a:lnTo>
                <a:lnTo>
                  <a:pt x="6855852" y="3764486"/>
                </a:lnTo>
                <a:lnTo>
                  <a:pt x="0" y="37644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>
              <a:latin typeface="Abadi" panose="020B0604020104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398FE715-C375-598A-2D0C-CF771FE19336}"/>
              </a:ext>
            </a:extLst>
          </p:cNvPr>
          <p:cNvSpPr/>
          <p:nvPr/>
        </p:nvSpPr>
        <p:spPr>
          <a:xfrm>
            <a:off x="15055203" y="5420424"/>
            <a:ext cx="2105643" cy="1872108"/>
          </a:xfrm>
          <a:custGeom>
            <a:avLst/>
            <a:gdLst/>
            <a:ahLst/>
            <a:cxnLst/>
            <a:rect l="l" t="t" r="r" b="b"/>
            <a:pathLst>
              <a:path w="2105643" h="1872108">
                <a:moveTo>
                  <a:pt x="0" y="0"/>
                </a:moveTo>
                <a:lnTo>
                  <a:pt x="2105643" y="0"/>
                </a:lnTo>
                <a:lnTo>
                  <a:pt x="2105643" y="1872108"/>
                </a:lnTo>
                <a:lnTo>
                  <a:pt x="0" y="18721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>
              <a:latin typeface="Abadi" panose="020B0604020104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0831A4D9-C58B-67C8-B138-D87D5248CF22}"/>
              </a:ext>
            </a:extLst>
          </p:cNvPr>
          <p:cNvSpPr/>
          <p:nvPr/>
        </p:nvSpPr>
        <p:spPr>
          <a:xfrm>
            <a:off x="5577445" y="-445691"/>
            <a:ext cx="2105643" cy="1872108"/>
          </a:xfrm>
          <a:custGeom>
            <a:avLst/>
            <a:gdLst/>
            <a:ahLst/>
            <a:cxnLst/>
            <a:rect l="l" t="t" r="r" b="b"/>
            <a:pathLst>
              <a:path w="2105643" h="1872108">
                <a:moveTo>
                  <a:pt x="0" y="0"/>
                </a:moveTo>
                <a:lnTo>
                  <a:pt x="2105643" y="0"/>
                </a:lnTo>
                <a:lnTo>
                  <a:pt x="2105643" y="1872108"/>
                </a:lnTo>
                <a:lnTo>
                  <a:pt x="0" y="187210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>
              <a:latin typeface="Abadi" panose="020B0604020104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DABE9C32-6276-5D69-F750-3B0CC928B8F7}"/>
              </a:ext>
            </a:extLst>
          </p:cNvPr>
          <p:cNvSpPr/>
          <p:nvPr/>
        </p:nvSpPr>
        <p:spPr>
          <a:xfrm>
            <a:off x="-762000" y="2232628"/>
            <a:ext cx="2105643" cy="1872108"/>
          </a:xfrm>
          <a:custGeom>
            <a:avLst/>
            <a:gdLst/>
            <a:ahLst/>
            <a:cxnLst/>
            <a:rect l="l" t="t" r="r" b="b"/>
            <a:pathLst>
              <a:path w="2105643" h="1872108">
                <a:moveTo>
                  <a:pt x="0" y="0"/>
                </a:moveTo>
                <a:lnTo>
                  <a:pt x="2105643" y="0"/>
                </a:lnTo>
                <a:lnTo>
                  <a:pt x="2105643" y="1872108"/>
                </a:lnTo>
                <a:lnTo>
                  <a:pt x="0" y="187210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>
              <a:latin typeface="Abadi" panose="020B060402010402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B6E53F8-09D2-8D9F-B467-B6142ED94F40}"/>
              </a:ext>
            </a:extLst>
          </p:cNvPr>
          <p:cNvGrpSpPr/>
          <p:nvPr/>
        </p:nvGrpSpPr>
        <p:grpSpPr>
          <a:xfrm>
            <a:off x="2925273" y="1301821"/>
            <a:ext cx="12437452" cy="7530119"/>
            <a:chOff x="2486688" y="1471240"/>
            <a:chExt cx="13314625" cy="8061194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07479033-7E07-612E-469E-53BF605BA9E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2486688" y="1471240"/>
              <a:ext cx="13314625" cy="5552435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B0FF5A6B-7295-983E-7564-B0506E2AE1F3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2486688" y="6773848"/>
              <a:ext cx="13314624" cy="2758586"/>
            </a:xfrm>
            <a:prstGeom prst="rect">
              <a:avLst/>
            </a:prstGeom>
          </p:spPr>
        </p:pic>
      </p:grpSp>
      <p:pic>
        <p:nvPicPr>
          <p:cNvPr id="19" name="Picture 18">
            <a:extLst>
              <a:ext uri="{FF2B5EF4-FFF2-40B4-BE49-F238E27FC236}">
                <a16:creationId xmlns:a16="http://schemas.microsoft.com/office/drawing/2014/main" id="{809450F9-20E1-D6FD-EB5F-6A5DAA19CD6B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t="34301" b="44813"/>
          <a:stretch>
            <a:fillRect/>
          </a:stretch>
        </p:blipFill>
        <p:spPr>
          <a:xfrm>
            <a:off x="707980" y="8877300"/>
            <a:ext cx="16872039" cy="1449508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D1BB12AA-4EF8-C865-DB72-6BF8847A645B}"/>
              </a:ext>
            </a:extLst>
          </p:cNvPr>
          <p:cNvSpPr txBox="1"/>
          <p:nvPr/>
        </p:nvSpPr>
        <p:spPr>
          <a:xfrm>
            <a:off x="2400300" y="9567242"/>
            <a:ext cx="129243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  <a:latin typeface="Abadi" panose="020B0604020104020204" pitchFamily="34" charset="0"/>
                <a:cs typeface="Times New Roman" panose="02020603050405020304" pitchFamily="18" charset="0"/>
              </a:rPr>
              <a:t>There are two natural sources of usable nitrogen for plants.</a:t>
            </a:r>
            <a:endParaRPr lang="en-US" sz="4000" b="1" dirty="0">
              <a:solidFill>
                <a:srgbClr val="FF0000"/>
              </a:solidFill>
              <a:latin typeface="Abadi" panose="020B0604020104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DECA250-7CC5-5665-85BB-F4D819A00139}"/>
              </a:ext>
            </a:extLst>
          </p:cNvPr>
          <p:cNvSpPr/>
          <p:nvPr/>
        </p:nvSpPr>
        <p:spPr>
          <a:xfrm>
            <a:off x="6307712" y="6182329"/>
            <a:ext cx="4512687" cy="559908"/>
          </a:xfrm>
          <a:prstGeom prst="rect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4D4247E-B217-9FF2-3DE7-C09C3A825181}"/>
              </a:ext>
            </a:extLst>
          </p:cNvPr>
          <p:cNvSpPr/>
          <p:nvPr/>
        </p:nvSpPr>
        <p:spPr>
          <a:xfrm>
            <a:off x="4991100" y="190500"/>
            <a:ext cx="10172700" cy="1097280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>
                <a:solidFill>
                  <a:srgbClr val="002060"/>
                </a:solidFill>
                <a:latin typeface="Abadi" panose="020B0604020104020204" pitchFamily="34" charset="0"/>
                <a:cs typeface="Times New Roman" panose="02020603050405020304" pitchFamily="18" charset="0"/>
              </a:rPr>
              <a:t>Read the passage and answer the questions.</a:t>
            </a:r>
          </a:p>
        </p:txBody>
      </p:sp>
      <p:pic>
        <p:nvPicPr>
          <p:cNvPr id="23" name="Google Shape;12;p17" descr="A blue and yellow logo&#10;&#10;Description automatically generated">
            <a:extLst>
              <a:ext uri="{FF2B5EF4-FFF2-40B4-BE49-F238E27FC236}">
                <a16:creationId xmlns:a16="http://schemas.microsoft.com/office/drawing/2014/main" id="{1711A7EF-370C-6800-66B4-E4878B354B4D}"/>
              </a:ext>
            </a:extLst>
          </p:cNvPr>
          <p:cNvPicPr preferRelativeResize="0"/>
          <p:nvPr/>
        </p:nvPicPr>
        <p:blipFill rotWithShape="1">
          <a:blip r:embed="rId13"/>
          <a:srcRect t="5199" b="17605"/>
          <a:stretch/>
        </p:blipFill>
        <p:spPr>
          <a:xfrm>
            <a:off x="16002566" y="190500"/>
            <a:ext cx="2135883" cy="1112135"/>
          </a:xfrm>
          <a:prstGeom prst="rect">
            <a:avLst/>
          </a:prstGeom>
          <a:noFill/>
          <a:ln>
            <a:noFill/>
          </a:ln>
          <a:scene3d>
            <a:camera prst="orthographicFront"/>
            <a:lightRig rig="flat" dir="t"/>
          </a:scene3d>
          <a:sp3d extrusionH="76200" prstMaterial="dkEdge">
            <a:extrusionClr>
              <a:srgbClr val="FFFF00"/>
            </a:extrusionClr>
          </a:sp3d>
        </p:spPr>
      </p:pic>
    </p:spTree>
    <p:extLst>
      <p:ext uri="{BB962C8B-B14F-4D97-AF65-F5344CB8AC3E}">
        <p14:creationId xmlns:p14="http://schemas.microsoft.com/office/powerpoint/2010/main" val="4241099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FD0D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85E15C-6FA3-D465-B675-CBD06ABA08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40F310B9-2747-C97C-BB60-EB3400DE2BB8}"/>
              </a:ext>
            </a:extLst>
          </p:cNvPr>
          <p:cNvSpPr/>
          <p:nvPr/>
        </p:nvSpPr>
        <p:spPr>
          <a:xfrm rot="-10023158">
            <a:off x="-882717" y="7776843"/>
            <a:ext cx="6855852" cy="3764486"/>
          </a:xfrm>
          <a:custGeom>
            <a:avLst/>
            <a:gdLst/>
            <a:ahLst/>
            <a:cxnLst/>
            <a:rect l="l" t="t" r="r" b="b"/>
            <a:pathLst>
              <a:path w="6855852" h="3764486">
                <a:moveTo>
                  <a:pt x="0" y="0"/>
                </a:moveTo>
                <a:lnTo>
                  <a:pt x="6855852" y="0"/>
                </a:lnTo>
                <a:lnTo>
                  <a:pt x="6855852" y="3764486"/>
                </a:lnTo>
                <a:lnTo>
                  <a:pt x="0" y="37644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>
              <a:latin typeface="Abadi" panose="020B060402010402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F100BBF-5B4C-7C0E-80DB-3F7E3B720DE4}"/>
              </a:ext>
            </a:extLst>
          </p:cNvPr>
          <p:cNvGrpSpPr/>
          <p:nvPr/>
        </p:nvGrpSpPr>
        <p:grpSpPr>
          <a:xfrm>
            <a:off x="2925273" y="1118581"/>
            <a:ext cx="12437452" cy="7530119"/>
            <a:chOff x="2486688" y="1471240"/>
            <a:chExt cx="13314625" cy="8061194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62CFFCEC-BF0E-1DD0-1262-B47F59A6E45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486688" y="1471240"/>
              <a:ext cx="13314625" cy="5552435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6EC6C64C-7BA3-C748-40E2-D34384D044B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486688" y="6773848"/>
              <a:ext cx="13314624" cy="2758586"/>
            </a:xfrm>
            <a:prstGeom prst="rect">
              <a:avLst/>
            </a:prstGeom>
          </p:spPr>
        </p:pic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A1D8C5D-C27F-A6BA-0740-A4CCA2E0613B}"/>
              </a:ext>
            </a:extLst>
          </p:cNvPr>
          <p:cNvGrpSpPr/>
          <p:nvPr/>
        </p:nvGrpSpPr>
        <p:grpSpPr>
          <a:xfrm>
            <a:off x="26573" y="190500"/>
            <a:ext cx="5184450" cy="1097280"/>
            <a:chOff x="228598" y="133922"/>
            <a:chExt cx="4264345" cy="1097280"/>
          </a:xfrm>
        </p:grpSpPr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CBAAE51C-82A6-5D14-BA46-87FFDF597073}"/>
                </a:ext>
              </a:extLst>
            </p:cNvPr>
            <p:cNvSpPr/>
            <p:nvPr/>
          </p:nvSpPr>
          <p:spPr>
            <a:xfrm>
              <a:off x="228598" y="133922"/>
              <a:ext cx="4264345" cy="1097280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C00000"/>
                </a:solidFill>
                <a:latin typeface="Abadi" panose="020B0604020104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7D3AC84-8E35-10D6-7317-A2E8057DF0ED}"/>
                </a:ext>
              </a:extLst>
            </p:cNvPr>
            <p:cNvSpPr txBox="1"/>
            <p:nvPr/>
          </p:nvSpPr>
          <p:spPr>
            <a:xfrm>
              <a:off x="448356" y="148883"/>
              <a:ext cx="382483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dirty="0">
                  <a:solidFill>
                    <a:srgbClr val="C00000"/>
                  </a:solidFill>
                  <a:latin typeface="Abadi" panose="020B0604020104020204" pitchFamily="34" charset="0"/>
                  <a:ea typeface="ADLaM Display" panose="02010000000000000000" pitchFamily="2" charset="0"/>
                  <a:cs typeface="Times New Roman" panose="02020603050405020304" pitchFamily="18" charset="0"/>
                </a:rPr>
                <a:t>Reading</a:t>
              </a:r>
              <a:endParaRPr lang="en-US" sz="6000" b="1" dirty="0">
                <a:solidFill>
                  <a:srgbClr val="C00000"/>
                </a:solidFill>
                <a:latin typeface="Abadi" panose="020B060402010402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" name="Freeform 2">
            <a:extLst>
              <a:ext uri="{FF2B5EF4-FFF2-40B4-BE49-F238E27FC236}">
                <a16:creationId xmlns:a16="http://schemas.microsoft.com/office/drawing/2014/main" id="{821E8E93-85CA-F6C2-D2AD-EA6C5808EB29}"/>
              </a:ext>
            </a:extLst>
          </p:cNvPr>
          <p:cNvSpPr/>
          <p:nvPr/>
        </p:nvSpPr>
        <p:spPr>
          <a:xfrm rot="299116">
            <a:off x="12806422" y="-853543"/>
            <a:ext cx="6855852" cy="3764486"/>
          </a:xfrm>
          <a:custGeom>
            <a:avLst/>
            <a:gdLst/>
            <a:ahLst/>
            <a:cxnLst/>
            <a:rect l="l" t="t" r="r" b="b"/>
            <a:pathLst>
              <a:path w="6855852" h="3764486">
                <a:moveTo>
                  <a:pt x="0" y="0"/>
                </a:moveTo>
                <a:lnTo>
                  <a:pt x="6855852" y="0"/>
                </a:lnTo>
                <a:lnTo>
                  <a:pt x="6855852" y="3764486"/>
                </a:lnTo>
                <a:lnTo>
                  <a:pt x="0" y="37644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>
              <a:latin typeface="Abadi" panose="020B0604020104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83EF0E0F-45BA-753E-1A0D-14557B30DC74}"/>
              </a:ext>
            </a:extLst>
          </p:cNvPr>
          <p:cNvSpPr/>
          <p:nvPr/>
        </p:nvSpPr>
        <p:spPr>
          <a:xfrm>
            <a:off x="15055203" y="5420424"/>
            <a:ext cx="2105643" cy="1872108"/>
          </a:xfrm>
          <a:custGeom>
            <a:avLst/>
            <a:gdLst/>
            <a:ahLst/>
            <a:cxnLst/>
            <a:rect l="l" t="t" r="r" b="b"/>
            <a:pathLst>
              <a:path w="2105643" h="1872108">
                <a:moveTo>
                  <a:pt x="0" y="0"/>
                </a:moveTo>
                <a:lnTo>
                  <a:pt x="2105643" y="0"/>
                </a:lnTo>
                <a:lnTo>
                  <a:pt x="2105643" y="1872108"/>
                </a:lnTo>
                <a:lnTo>
                  <a:pt x="0" y="187210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>
              <a:latin typeface="Abadi" panose="020B0604020104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7DE96C13-DDEC-DDD2-138C-972242216DB7}"/>
              </a:ext>
            </a:extLst>
          </p:cNvPr>
          <p:cNvSpPr/>
          <p:nvPr/>
        </p:nvSpPr>
        <p:spPr>
          <a:xfrm>
            <a:off x="5577445" y="-445691"/>
            <a:ext cx="2105643" cy="1872108"/>
          </a:xfrm>
          <a:custGeom>
            <a:avLst/>
            <a:gdLst/>
            <a:ahLst/>
            <a:cxnLst/>
            <a:rect l="l" t="t" r="r" b="b"/>
            <a:pathLst>
              <a:path w="2105643" h="1872108">
                <a:moveTo>
                  <a:pt x="0" y="0"/>
                </a:moveTo>
                <a:lnTo>
                  <a:pt x="2105643" y="0"/>
                </a:lnTo>
                <a:lnTo>
                  <a:pt x="2105643" y="1872108"/>
                </a:lnTo>
                <a:lnTo>
                  <a:pt x="0" y="187210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>
              <a:latin typeface="Abadi" panose="020B0604020104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E39B612C-46D6-3376-12C6-18660D4544A8}"/>
              </a:ext>
            </a:extLst>
          </p:cNvPr>
          <p:cNvSpPr/>
          <p:nvPr/>
        </p:nvSpPr>
        <p:spPr>
          <a:xfrm>
            <a:off x="-762000" y="2232628"/>
            <a:ext cx="2105643" cy="1872108"/>
          </a:xfrm>
          <a:custGeom>
            <a:avLst/>
            <a:gdLst/>
            <a:ahLst/>
            <a:cxnLst/>
            <a:rect l="l" t="t" r="r" b="b"/>
            <a:pathLst>
              <a:path w="2105643" h="1872108">
                <a:moveTo>
                  <a:pt x="0" y="0"/>
                </a:moveTo>
                <a:lnTo>
                  <a:pt x="2105643" y="0"/>
                </a:lnTo>
                <a:lnTo>
                  <a:pt x="2105643" y="1872108"/>
                </a:lnTo>
                <a:lnTo>
                  <a:pt x="0" y="187210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>
              <a:latin typeface="Abadi" panose="020B0604020104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0F783D71-6E7C-7092-97B8-EF3186D53A75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-1004" t="54564" r="1004" b="24550"/>
          <a:stretch>
            <a:fillRect/>
          </a:stretch>
        </p:blipFill>
        <p:spPr>
          <a:xfrm>
            <a:off x="707980" y="8723192"/>
            <a:ext cx="16872039" cy="1449508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2F00642E-9ADF-25C4-0073-9F830DDB5BB7}"/>
              </a:ext>
            </a:extLst>
          </p:cNvPr>
          <p:cNvSpPr txBox="1"/>
          <p:nvPr/>
        </p:nvSpPr>
        <p:spPr>
          <a:xfrm>
            <a:off x="6160871" y="9219733"/>
            <a:ext cx="11963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FF0000"/>
                </a:solidFill>
                <a:latin typeface="Abadi" panose="020B0604020104020204" pitchFamily="34" charset="0"/>
                <a:cs typeface="Times New Roman" panose="02020603050405020304" pitchFamily="18" charset="0"/>
              </a:rPr>
              <a:t>Decomposer such as fungi.</a:t>
            </a:r>
            <a:endParaRPr lang="en-US" sz="4400" b="1" dirty="0">
              <a:solidFill>
                <a:srgbClr val="FF0000"/>
              </a:solidFill>
              <a:latin typeface="Abadi" panose="020B0604020104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7F20161-3816-066B-8513-60DC40D6ADD3}"/>
              </a:ext>
            </a:extLst>
          </p:cNvPr>
          <p:cNvSpPr/>
          <p:nvPr/>
        </p:nvSpPr>
        <p:spPr>
          <a:xfrm>
            <a:off x="3429000" y="6838752"/>
            <a:ext cx="6798687" cy="559908"/>
          </a:xfrm>
          <a:prstGeom prst="rect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894B7552-F3F8-DE6B-A947-42004AAFBED4}"/>
              </a:ext>
            </a:extLst>
          </p:cNvPr>
          <p:cNvSpPr/>
          <p:nvPr/>
        </p:nvSpPr>
        <p:spPr>
          <a:xfrm>
            <a:off x="4991100" y="190500"/>
            <a:ext cx="10172700" cy="1097280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>
                <a:solidFill>
                  <a:srgbClr val="002060"/>
                </a:solidFill>
                <a:latin typeface="Abadi" panose="020B0604020104020204" pitchFamily="34" charset="0"/>
                <a:cs typeface="Times New Roman" panose="02020603050405020304" pitchFamily="18" charset="0"/>
              </a:rPr>
              <a:t>Read the passage and answer the questions.</a:t>
            </a:r>
          </a:p>
        </p:txBody>
      </p:sp>
      <p:pic>
        <p:nvPicPr>
          <p:cNvPr id="23" name="Google Shape;12;p17" descr="A blue and yellow logo&#10;&#10;Description automatically generated">
            <a:extLst>
              <a:ext uri="{FF2B5EF4-FFF2-40B4-BE49-F238E27FC236}">
                <a16:creationId xmlns:a16="http://schemas.microsoft.com/office/drawing/2014/main" id="{551FBC79-0F44-1FD6-779D-52907259B708}"/>
              </a:ext>
            </a:extLst>
          </p:cNvPr>
          <p:cNvPicPr preferRelativeResize="0"/>
          <p:nvPr/>
        </p:nvPicPr>
        <p:blipFill rotWithShape="1">
          <a:blip r:embed="rId13"/>
          <a:srcRect t="5199" b="17605"/>
          <a:stretch/>
        </p:blipFill>
        <p:spPr>
          <a:xfrm>
            <a:off x="16002566" y="190500"/>
            <a:ext cx="2135883" cy="1112135"/>
          </a:xfrm>
          <a:prstGeom prst="rect">
            <a:avLst/>
          </a:prstGeom>
          <a:noFill/>
          <a:ln>
            <a:noFill/>
          </a:ln>
          <a:scene3d>
            <a:camera prst="orthographicFront"/>
            <a:lightRig rig="flat" dir="t"/>
          </a:scene3d>
          <a:sp3d extrusionH="76200" prstMaterial="dkEdge">
            <a:extrusionClr>
              <a:srgbClr val="FFFF00"/>
            </a:extrusionClr>
          </a:sp3d>
        </p:spPr>
      </p:pic>
    </p:spTree>
    <p:extLst>
      <p:ext uri="{BB962C8B-B14F-4D97-AF65-F5344CB8AC3E}">
        <p14:creationId xmlns:p14="http://schemas.microsoft.com/office/powerpoint/2010/main" val="3952704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FD0D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24F01A-5F5B-52BE-99AA-8FF3525BC5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B152F76D-8013-0DCE-3B0B-CA12CAB8D42A}"/>
              </a:ext>
            </a:extLst>
          </p:cNvPr>
          <p:cNvSpPr/>
          <p:nvPr/>
        </p:nvSpPr>
        <p:spPr>
          <a:xfrm rot="-10023158">
            <a:off x="-882717" y="7776843"/>
            <a:ext cx="6855852" cy="3764486"/>
          </a:xfrm>
          <a:custGeom>
            <a:avLst/>
            <a:gdLst/>
            <a:ahLst/>
            <a:cxnLst/>
            <a:rect l="l" t="t" r="r" b="b"/>
            <a:pathLst>
              <a:path w="6855852" h="3764486">
                <a:moveTo>
                  <a:pt x="0" y="0"/>
                </a:moveTo>
                <a:lnTo>
                  <a:pt x="6855852" y="0"/>
                </a:lnTo>
                <a:lnTo>
                  <a:pt x="6855852" y="3764486"/>
                </a:lnTo>
                <a:lnTo>
                  <a:pt x="0" y="37644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>
              <a:latin typeface="Abadi" panose="020B060402010402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B47A85E-4BB6-11B3-672C-D920C0D895D7}"/>
              </a:ext>
            </a:extLst>
          </p:cNvPr>
          <p:cNvGrpSpPr/>
          <p:nvPr/>
        </p:nvGrpSpPr>
        <p:grpSpPr>
          <a:xfrm>
            <a:off x="2925273" y="1118581"/>
            <a:ext cx="12437452" cy="7530119"/>
            <a:chOff x="2486688" y="1471240"/>
            <a:chExt cx="13314625" cy="8061194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69AF84A2-5C83-B906-DA75-49E72E73DB3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486688" y="1471240"/>
              <a:ext cx="13314625" cy="5552435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F88946C1-7A7B-42EF-3421-016A961BB23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486688" y="6773848"/>
              <a:ext cx="13314624" cy="2758586"/>
            </a:xfrm>
            <a:prstGeom prst="rect">
              <a:avLst/>
            </a:prstGeom>
          </p:spPr>
        </p:pic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F6E4C5C5-9D0D-B480-1BD5-3F67E24E11EA}"/>
              </a:ext>
            </a:extLst>
          </p:cNvPr>
          <p:cNvGrpSpPr/>
          <p:nvPr/>
        </p:nvGrpSpPr>
        <p:grpSpPr>
          <a:xfrm>
            <a:off x="26573" y="190500"/>
            <a:ext cx="5184450" cy="1097280"/>
            <a:chOff x="228598" y="133922"/>
            <a:chExt cx="4264345" cy="1097280"/>
          </a:xfrm>
        </p:grpSpPr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A3D124D4-ADE2-6AD6-783C-BB523DF86C43}"/>
                </a:ext>
              </a:extLst>
            </p:cNvPr>
            <p:cNvSpPr/>
            <p:nvPr/>
          </p:nvSpPr>
          <p:spPr>
            <a:xfrm>
              <a:off x="228598" y="133922"/>
              <a:ext cx="4264345" cy="1097280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C00000"/>
                </a:solidFill>
                <a:latin typeface="Abadi" panose="020B0604020104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5C1AAF79-9586-84A4-EF58-29B48C617C5A}"/>
                </a:ext>
              </a:extLst>
            </p:cNvPr>
            <p:cNvSpPr txBox="1"/>
            <p:nvPr/>
          </p:nvSpPr>
          <p:spPr>
            <a:xfrm>
              <a:off x="448356" y="148883"/>
              <a:ext cx="382483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dirty="0">
                  <a:solidFill>
                    <a:srgbClr val="C00000"/>
                  </a:solidFill>
                  <a:latin typeface="Abadi" panose="020B0604020104020204" pitchFamily="34" charset="0"/>
                  <a:ea typeface="ADLaM Display" panose="02010000000000000000" pitchFamily="2" charset="0"/>
                  <a:cs typeface="Times New Roman" panose="02020603050405020304" pitchFamily="18" charset="0"/>
                </a:rPr>
                <a:t>Reading</a:t>
              </a:r>
              <a:endParaRPr lang="en-US" sz="6000" b="1" dirty="0">
                <a:solidFill>
                  <a:srgbClr val="C00000"/>
                </a:solidFill>
                <a:latin typeface="Abadi" panose="020B060402010402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" name="Freeform 2">
            <a:extLst>
              <a:ext uri="{FF2B5EF4-FFF2-40B4-BE49-F238E27FC236}">
                <a16:creationId xmlns:a16="http://schemas.microsoft.com/office/drawing/2014/main" id="{874644E6-57BA-289B-8A6F-E70A20ADF081}"/>
              </a:ext>
            </a:extLst>
          </p:cNvPr>
          <p:cNvSpPr/>
          <p:nvPr/>
        </p:nvSpPr>
        <p:spPr>
          <a:xfrm rot="299116">
            <a:off x="12806422" y="-853543"/>
            <a:ext cx="6855852" cy="3764486"/>
          </a:xfrm>
          <a:custGeom>
            <a:avLst/>
            <a:gdLst/>
            <a:ahLst/>
            <a:cxnLst/>
            <a:rect l="l" t="t" r="r" b="b"/>
            <a:pathLst>
              <a:path w="6855852" h="3764486">
                <a:moveTo>
                  <a:pt x="0" y="0"/>
                </a:moveTo>
                <a:lnTo>
                  <a:pt x="6855852" y="0"/>
                </a:lnTo>
                <a:lnTo>
                  <a:pt x="6855852" y="3764486"/>
                </a:lnTo>
                <a:lnTo>
                  <a:pt x="0" y="37644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>
              <a:latin typeface="Abadi" panose="020B0604020104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EAD0B99A-F621-9E6C-12F6-CC93CDAEF34E}"/>
              </a:ext>
            </a:extLst>
          </p:cNvPr>
          <p:cNvSpPr/>
          <p:nvPr/>
        </p:nvSpPr>
        <p:spPr>
          <a:xfrm>
            <a:off x="15055203" y="5420424"/>
            <a:ext cx="2105643" cy="1872108"/>
          </a:xfrm>
          <a:custGeom>
            <a:avLst/>
            <a:gdLst/>
            <a:ahLst/>
            <a:cxnLst/>
            <a:rect l="l" t="t" r="r" b="b"/>
            <a:pathLst>
              <a:path w="2105643" h="1872108">
                <a:moveTo>
                  <a:pt x="0" y="0"/>
                </a:moveTo>
                <a:lnTo>
                  <a:pt x="2105643" y="0"/>
                </a:lnTo>
                <a:lnTo>
                  <a:pt x="2105643" y="1872108"/>
                </a:lnTo>
                <a:lnTo>
                  <a:pt x="0" y="187210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>
              <a:latin typeface="Abadi" panose="020B0604020104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36981165-4AD1-18C2-8464-795577378780}"/>
              </a:ext>
            </a:extLst>
          </p:cNvPr>
          <p:cNvSpPr/>
          <p:nvPr/>
        </p:nvSpPr>
        <p:spPr>
          <a:xfrm>
            <a:off x="5577445" y="-445691"/>
            <a:ext cx="2105643" cy="1872108"/>
          </a:xfrm>
          <a:custGeom>
            <a:avLst/>
            <a:gdLst/>
            <a:ahLst/>
            <a:cxnLst/>
            <a:rect l="l" t="t" r="r" b="b"/>
            <a:pathLst>
              <a:path w="2105643" h="1872108">
                <a:moveTo>
                  <a:pt x="0" y="0"/>
                </a:moveTo>
                <a:lnTo>
                  <a:pt x="2105643" y="0"/>
                </a:lnTo>
                <a:lnTo>
                  <a:pt x="2105643" y="1872108"/>
                </a:lnTo>
                <a:lnTo>
                  <a:pt x="0" y="187210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>
              <a:latin typeface="Abadi" panose="020B0604020104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388F5EB4-1713-0A29-7633-764628D88D70}"/>
              </a:ext>
            </a:extLst>
          </p:cNvPr>
          <p:cNvSpPr/>
          <p:nvPr/>
        </p:nvSpPr>
        <p:spPr>
          <a:xfrm>
            <a:off x="-762000" y="2232628"/>
            <a:ext cx="2105643" cy="1872108"/>
          </a:xfrm>
          <a:custGeom>
            <a:avLst/>
            <a:gdLst/>
            <a:ahLst/>
            <a:cxnLst/>
            <a:rect l="l" t="t" r="r" b="b"/>
            <a:pathLst>
              <a:path w="2105643" h="1872108">
                <a:moveTo>
                  <a:pt x="0" y="0"/>
                </a:moveTo>
                <a:lnTo>
                  <a:pt x="2105643" y="0"/>
                </a:lnTo>
                <a:lnTo>
                  <a:pt x="2105643" y="1872108"/>
                </a:lnTo>
                <a:lnTo>
                  <a:pt x="0" y="187210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>
              <a:latin typeface="Abadi" panose="020B0604020104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892B0D94-0E88-08B7-B5C0-0A5530682F24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-1163" t="78323" r="1163" b="791"/>
          <a:stretch>
            <a:fillRect/>
          </a:stretch>
        </p:blipFill>
        <p:spPr>
          <a:xfrm>
            <a:off x="707980" y="8648700"/>
            <a:ext cx="16872039" cy="1449508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A0449E5B-5998-B303-A7A5-72153D5DAAF7}"/>
              </a:ext>
            </a:extLst>
          </p:cNvPr>
          <p:cNvSpPr txBox="1"/>
          <p:nvPr/>
        </p:nvSpPr>
        <p:spPr>
          <a:xfrm>
            <a:off x="806361" y="9222789"/>
            <a:ext cx="168720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FF0000"/>
                </a:solidFill>
                <a:latin typeface="Abadi" panose="020B0604020104020204" pitchFamily="34" charset="0"/>
                <a:cs typeface="Times New Roman" panose="02020603050405020304" pitchFamily="18" charset="0"/>
              </a:rPr>
              <a:t>To support their ability to get nitrogen and other nutrients from the soil.</a:t>
            </a:r>
            <a:endParaRPr lang="en-US" sz="4400" b="1" dirty="0">
              <a:solidFill>
                <a:srgbClr val="FF0000"/>
              </a:solidFill>
              <a:latin typeface="Abadi" panose="020B060402010402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E6C1054-4DED-01E3-25D7-885C3B4A6FFA}"/>
              </a:ext>
            </a:extLst>
          </p:cNvPr>
          <p:cNvGrpSpPr/>
          <p:nvPr/>
        </p:nvGrpSpPr>
        <p:grpSpPr>
          <a:xfrm>
            <a:off x="2925271" y="7357408"/>
            <a:ext cx="12437454" cy="997157"/>
            <a:chOff x="2925271" y="7357408"/>
            <a:chExt cx="12437454" cy="997157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5295DDE4-E58E-25BF-A475-E16C0AD46C6C}"/>
                </a:ext>
              </a:extLst>
            </p:cNvPr>
            <p:cNvSpPr/>
            <p:nvPr/>
          </p:nvSpPr>
          <p:spPr>
            <a:xfrm>
              <a:off x="10808225" y="7357408"/>
              <a:ext cx="4554500" cy="559908"/>
            </a:xfrm>
            <a:prstGeom prst="rect">
              <a:avLst/>
            </a:prstGeom>
            <a:noFill/>
            <a:ln w="762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81219167-B9BB-B516-DBF7-489F6A896C32}"/>
                </a:ext>
              </a:extLst>
            </p:cNvPr>
            <p:cNvSpPr/>
            <p:nvPr/>
          </p:nvSpPr>
          <p:spPr>
            <a:xfrm>
              <a:off x="2925271" y="7794657"/>
              <a:ext cx="6084831" cy="559908"/>
            </a:xfrm>
            <a:prstGeom prst="rect">
              <a:avLst/>
            </a:prstGeom>
            <a:noFill/>
            <a:ln w="762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</p:grp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BB764745-B828-787E-6C21-FC6FEE3C9DE9}"/>
              </a:ext>
            </a:extLst>
          </p:cNvPr>
          <p:cNvSpPr/>
          <p:nvPr/>
        </p:nvSpPr>
        <p:spPr>
          <a:xfrm>
            <a:off x="4991100" y="190500"/>
            <a:ext cx="10172700" cy="1097280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>
                <a:solidFill>
                  <a:srgbClr val="002060"/>
                </a:solidFill>
                <a:latin typeface="Abadi" panose="020B0604020104020204" pitchFamily="34" charset="0"/>
                <a:cs typeface="Times New Roman" panose="02020603050405020304" pitchFamily="18" charset="0"/>
              </a:rPr>
              <a:t>Read the passage and answer the questions.</a:t>
            </a:r>
          </a:p>
        </p:txBody>
      </p:sp>
      <p:pic>
        <p:nvPicPr>
          <p:cNvPr id="26" name="Google Shape;12;p17" descr="A blue and yellow logo&#10;&#10;Description automatically generated">
            <a:extLst>
              <a:ext uri="{FF2B5EF4-FFF2-40B4-BE49-F238E27FC236}">
                <a16:creationId xmlns:a16="http://schemas.microsoft.com/office/drawing/2014/main" id="{A162BC42-D822-700B-26B9-B45F02BECF7E}"/>
              </a:ext>
            </a:extLst>
          </p:cNvPr>
          <p:cNvPicPr preferRelativeResize="0"/>
          <p:nvPr/>
        </p:nvPicPr>
        <p:blipFill rotWithShape="1">
          <a:blip r:embed="rId13"/>
          <a:srcRect t="5199" b="17605"/>
          <a:stretch/>
        </p:blipFill>
        <p:spPr>
          <a:xfrm>
            <a:off x="16002566" y="190500"/>
            <a:ext cx="2135883" cy="1112135"/>
          </a:xfrm>
          <a:prstGeom prst="rect">
            <a:avLst/>
          </a:prstGeom>
          <a:noFill/>
          <a:ln>
            <a:noFill/>
          </a:ln>
          <a:scene3d>
            <a:camera prst="orthographicFront"/>
            <a:lightRig rig="flat" dir="t"/>
          </a:scene3d>
          <a:sp3d extrusionH="76200" prstMaterial="dkEdge">
            <a:extrusionClr>
              <a:srgbClr val="FFFF00"/>
            </a:extrusionClr>
          </a:sp3d>
        </p:spPr>
      </p:pic>
    </p:spTree>
    <p:extLst>
      <p:ext uri="{BB962C8B-B14F-4D97-AF65-F5344CB8AC3E}">
        <p14:creationId xmlns:p14="http://schemas.microsoft.com/office/powerpoint/2010/main" val="1727392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5DEE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7C7340-FB22-DE09-9DE5-6AA73C99B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EE7CB739-ADB0-8297-9EDC-607922D33707}"/>
              </a:ext>
            </a:extLst>
          </p:cNvPr>
          <p:cNvGrpSpPr/>
          <p:nvPr/>
        </p:nvGrpSpPr>
        <p:grpSpPr>
          <a:xfrm>
            <a:off x="26573" y="190500"/>
            <a:ext cx="5184450" cy="1097280"/>
            <a:chOff x="228598" y="133922"/>
            <a:chExt cx="4264345" cy="1097280"/>
          </a:xfrm>
        </p:grpSpPr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8BED5B89-E975-A400-FF74-BD350279B01A}"/>
                </a:ext>
              </a:extLst>
            </p:cNvPr>
            <p:cNvSpPr/>
            <p:nvPr/>
          </p:nvSpPr>
          <p:spPr>
            <a:xfrm>
              <a:off x="228598" y="133922"/>
              <a:ext cx="4264345" cy="1097280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C00000"/>
                </a:solidFill>
                <a:latin typeface="Abadi" panose="020B0604020104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B34070A6-3E5E-117A-FF4B-B691D01933A3}"/>
                </a:ext>
              </a:extLst>
            </p:cNvPr>
            <p:cNvSpPr txBox="1"/>
            <p:nvPr/>
          </p:nvSpPr>
          <p:spPr>
            <a:xfrm>
              <a:off x="448356" y="148883"/>
              <a:ext cx="382483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dirty="0">
                  <a:solidFill>
                    <a:srgbClr val="C00000"/>
                  </a:solidFill>
                  <a:latin typeface="Abadi" panose="020B0604020104020204" pitchFamily="34" charset="0"/>
                  <a:ea typeface="ADLaM Display" panose="02010000000000000000" pitchFamily="2" charset="0"/>
                  <a:cs typeface="Times New Roman" panose="02020603050405020304" pitchFamily="18" charset="0"/>
                </a:rPr>
                <a:t>Reading</a:t>
              </a:r>
              <a:endParaRPr lang="en-US" sz="6000" b="1" dirty="0">
                <a:solidFill>
                  <a:srgbClr val="C00000"/>
                </a:solidFill>
                <a:latin typeface="Abadi" panose="020B060402010402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" name="Freeform 2">
            <a:extLst>
              <a:ext uri="{FF2B5EF4-FFF2-40B4-BE49-F238E27FC236}">
                <a16:creationId xmlns:a16="http://schemas.microsoft.com/office/drawing/2014/main" id="{B57C3243-FA23-3B49-5B0B-5137A02DC672}"/>
              </a:ext>
            </a:extLst>
          </p:cNvPr>
          <p:cNvSpPr/>
          <p:nvPr/>
        </p:nvSpPr>
        <p:spPr>
          <a:xfrm rot="299116">
            <a:off x="12806422" y="-853543"/>
            <a:ext cx="6855852" cy="3764486"/>
          </a:xfrm>
          <a:custGeom>
            <a:avLst/>
            <a:gdLst/>
            <a:ahLst/>
            <a:cxnLst/>
            <a:rect l="l" t="t" r="r" b="b"/>
            <a:pathLst>
              <a:path w="6855852" h="3764486">
                <a:moveTo>
                  <a:pt x="0" y="0"/>
                </a:moveTo>
                <a:lnTo>
                  <a:pt x="6855852" y="0"/>
                </a:lnTo>
                <a:lnTo>
                  <a:pt x="6855852" y="3764486"/>
                </a:lnTo>
                <a:lnTo>
                  <a:pt x="0" y="37644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>
              <a:latin typeface="Abadi" panose="020B0604020104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0818EEAE-A6B4-5332-A4E9-6AB329195F64}"/>
              </a:ext>
            </a:extLst>
          </p:cNvPr>
          <p:cNvSpPr/>
          <p:nvPr/>
        </p:nvSpPr>
        <p:spPr>
          <a:xfrm rot="-10023158">
            <a:off x="-882717" y="7776843"/>
            <a:ext cx="6855852" cy="3764486"/>
          </a:xfrm>
          <a:custGeom>
            <a:avLst/>
            <a:gdLst/>
            <a:ahLst/>
            <a:cxnLst/>
            <a:rect l="l" t="t" r="r" b="b"/>
            <a:pathLst>
              <a:path w="6855852" h="3764486">
                <a:moveTo>
                  <a:pt x="0" y="0"/>
                </a:moveTo>
                <a:lnTo>
                  <a:pt x="6855852" y="0"/>
                </a:lnTo>
                <a:lnTo>
                  <a:pt x="6855852" y="3764486"/>
                </a:lnTo>
                <a:lnTo>
                  <a:pt x="0" y="37644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>
              <a:latin typeface="Abadi" panose="020B0604020104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0AC4A923-3EC7-6F9E-E278-527F9B10512C}"/>
              </a:ext>
            </a:extLst>
          </p:cNvPr>
          <p:cNvSpPr/>
          <p:nvPr/>
        </p:nvSpPr>
        <p:spPr>
          <a:xfrm>
            <a:off x="5577445" y="-445691"/>
            <a:ext cx="2105643" cy="1872108"/>
          </a:xfrm>
          <a:custGeom>
            <a:avLst/>
            <a:gdLst/>
            <a:ahLst/>
            <a:cxnLst/>
            <a:rect l="l" t="t" r="r" b="b"/>
            <a:pathLst>
              <a:path w="2105643" h="1872108">
                <a:moveTo>
                  <a:pt x="0" y="0"/>
                </a:moveTo>
                <a:lnTo>
                  <a:pt x="2105643" y="0"/>
                </a:lnTo>
                <a:lnTo>
                  <a:pt x="2105643" y="1872108"/>
                </a:lnTo>
                <a:lnTo>
                  <a:pt x="0" y="18721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>
              <a:latin typeface="Abadi" panose="020B0604020104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67005EE-9955-70B0-767E-B82065BB88E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7981" y="2423038"/>
            <a:ext cx="16872039" cy="6939977"/>
          </a:xfrm>
          <a:prstGeom prst="rect">
            <a:avLst/>
          </a:prstGeom>
        </p:spPr>
      </p:pic>
      <p:pic>
        <p:nvPicPr>
          <p:cNvPr id="18" name="Picture 17" descr="A blue and yellow logo&#10;&#10;Description automatically generated">
            <a:extLst>
              <a:ext uri="{FF2B5EF4-FFF2-40B4-BE49-F238E27FC236}">
                <a16:creationId xmlns:a16="http://schemas.microsoft.com/office/drawing/2014/main" id="{CE2127F2-0C0A-A418-278D-497B63AE7643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8239" b="12264"/>
          <a:stretch/>
        </p:blipFill>
        <p:spPr>
          <a:xfrm>
            <a:off x="15620999" y="8876737"/>
            <a:ext cx="2644717" cy="144836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91D2DC1-703B-FF2C-1F86-95613A7F8193}"/>
              </a:ext>
            </a:extLst>
          </p:cNvPr>
          <p:cNvSpPr txBox="1"/>
          <p:nvPr/>
        </p:nvSpPr>
        <p:spPr>
          <a:xfrm>
            <a:off x="14640" y="3027646"/>
            <a:ext cx="119388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rgbClr val="FF0000"/>
                </a:solidFill>
                <a:latin typeface="Abadi" panose="020B0604020104020204" pitchFamily="34" charset="0"/>
                <a:cs typeface="Times New Roman" panose="02020603050405020304" pitchFamily="18" charset="0"/>
              </a:rPr>
              <a:t>Nucleic acids and proteins.</a:t>
            </a:r>
            <a:endParaRPr lang="en-US" sz="4000" dirty="0">
              <a:solidFill>
                <a:srgbClr val="FF0000"/>
              </a:solidFill>
              <a:latin typeface="Abadi" panose="020B0604020104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5452792-EFB2-365B-2167-0F5B31422804}"/>
              </a:ext>
            </a:extLst>
          </p:cNvPr>
          <p:cNvSpPr txBox="1"/>
          <p:nvPr/>
        </p:nvSpPr>
        <p:spPr>
          <a:xfrm>
            <a:off x="0" y="4247750"/>
            <a:ext cx="17373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rgbClr val="FF0000"/>
                </a:solidFill>
                <a:latin typeface="Abadi" panose="020B0604020104020204" pitchFamily="34" charset="0"/>
                <a:cs typeface="Times New Roman" panose="02020603050405020304" pitchFamily="18" charset="0"/>
              </a:rPr>
              <a:t>The percentage of molecule N2 in the atmosphere is 80%.</a:t>
            </a:r>
            <a:endParaRPr lang="en-US" sz="4000" dirty="0">
              <a:solidFill>
                <a:srgbClr val="FF0000"/>
              </a:solidFill>
              <a:latin typeface="Abadi" panose="020B0604020104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F66142B-449A-CB38-AE23-F867F255622F}"/>
              </a:ext>
            </a:extLst>
          </p:cNvPr>
          <p:cNvSpPr txBox="1"/>
          <p:nvPr/>
        </p:nvSpPr>
        <p:spPr>
          <a:xfrm>
            <a:off x="1866900" y="5512208"/>
            <a:ext cx="119388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rgbClr val="FF0000"/>
                </a:solidFill>
                <a:latin typeface="Abadi" panose="020B0604020104020204" pitchFamily="34" charset="0"/>
                <a:cs typeface="Times New Roman" panose="02020603050405020304" pitchFamily="18" charset="0"/>
              </a:rPr>
              <a:t>There are two natural sources of usable nitrogen for plants.</a:t>
            </a:r>
            <a:endParaRPr lang="en-US" sz="4000" dirty="0">
              <a:solidFill>
                <a:srgbClr val="FF0000"/>
              </a:solidFill>
              <a:latin typeface="Abadi" panose="020B0604020104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F7EDCF6-A247-48A4-98FE-D70DF82A83F4}"/>
              </a:ext>
            </a:extLst>
          </p:cNvPr>
          <p:cNvSpPr txBox="1"/>
          <p:nvPr/>
        </p:nvSpPr>
        <p:spPr>
          <a:xfrm>
            <a:off x="41470" y="7263625"/>
            <a:ext cx="119388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rgbClr val="FF0000"/>
                </a:solidFill>
                <a:latin typeface="Abadi" panose="020B0604020104020204" pitchFamily="34" charset="0"/>
                <a:cs typeface="Times New Roman" panose="02020603050405020304" pitchFamily="18" charset="0"/>
              </a:rPr>
              <a:t>Decomposer such as fungi.</a:t>
            </a:r>
            <a:endParaRPr lang="en-US" sz="4000" dirty="0">
              <a:solidFill>
                <a:srgbClr val="FF0000"/>
              </a:solidFill>
              <a:latin typeface="Abadi" panose="020B0604020104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2F988CA-4B20-3309-A2EA-6B27BFDB4D23}"/>
              </a:ext>
            </a:extLst>
          </p:cNvPr>
          <p:cNvSpPr txBox="1"/>
          <p:nvPr/>
        </p:nvSpPr>
        <p:spPr>
          <a:xfrm>
            <a:off x="1306541" y="8485881"/>
            <a:ext cx="147605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rgbClr val="FF0000"/>
                </a:solidFill>
                <a:latin typeface="Abadi" panose="020B0604020104020204" pitchFamily="34" charset="0"/>
                <a:cs typeface="Times New Roman" panose="02020603050405020304" pitchFamily="18" charset="0"/>
              </a:rPr>
              <a:t>To support their ability to get nitrogen and other nutrients from the soil.</a:t>
            </a:r>
            <a:endParaRPr lang="en-US" sz="4000" dirty="0">
              <a:solidFill>
                <a:srgbClr val="FF0000"/>
              </a:solidFill>
              <a:latin typeface="Abadi" panose="020B0604020104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990C1E1-D3F6-20BB-2B77-653EF2BA8DB6}"/>
              </a:ext>
            </a:extLst>
          </p:cNvPr>
          <p:cNvSpPr/>
          <p:nvPr/>
        </p:nvSpPr>
        <p:spPr>
          <a:xfrm>
            <a:off x="4991100" y="190500"/>
            <a:ext cx="10172700" cy="1097280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>
                <a:solidFill>
                  <a:srgbClr val="002060"/>
                </a:solidFill>
                <a:latin typeface="Abadi" panose="020B0604020104020204" pitchFamily="34" charset="0"/>
                <a:cs typeface="Times New Roman" panose="02020603050405020304" pitchFamily="18" charset="0"/>
              </a:rPr>
              <a:t>Read the passage and answer the questions.</a:t>
            </a:r>
          </a:p>
        </p:txBody>
      </p:sp>
    </p:spTree>
    <p:extLst>
      <p:ext uri="{BB962C8B-B14F-4D97-AF65-F5344CB8AC3E}">
        <p14:creationId xmlns:p14="http://schemas.microsoft.com/office/powerpoint/2010/main" val="3206934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  <p:bldP spid="19" grpId="0"/>
      <p:bldP spid="2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5DEE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5B69F2-2941-DC63-9530-84477E58E9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4D614D7-A524-72C6-2112-641D43A3DA33}"/>
              </a:ext>
            </a:extLst>
          </p:cNvPr>
          <p:cNvSpPr/>
          <p:nvPr/>
        </p:nvSpPr>
        <p:spPr>
          <a:xfrm rot="299116">
            <a:off x="12806422" y="-853543"/>
            <a:ext cx="6855852" cy="3764486"/>
          </a:xfrm>
          <a:custGeom>
            <a:avLst/>
            <a:gdLst/>
            <a:ahLst/>
            <a:cxnLst/>
            <a:rect l="l" t="t" r="r" b="b"/>
            <a:pathLst>
              <a:path w="6855852" h="3764486">
                <a:moveTo>
                  <a:pt x="0" y="0"/>
                </a:moveTo>
                <a:lnTo>
                  <a:pt x="6855852" y="0"/>
                </a:lnTo>
                <a:lnTo>
                  <a:pt x="6855852" y="3764486"/>
                </a:lnTo>
                <a:lnTo>
                  <a:pt x="0" y="37644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>
              <a:latin typeface="Abadi" panose="020B0604020104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9825CAB5-676F-0CBD-6FB3-2079D37E36EF}"/>
              </a:ext>
            </a:extLst>
          </p:cNvPr>
          <p:cNvSpPr/>
          <p:nvPr/>
        </p:nvSpPr>
        <p:spPr>
          <a:xfrm rot="-10023158">
            <a:off x="-882717" y="7776843"/>
            <a:ext cx="6855852" cy="3764486"/>
          </a:xfrm>
          <a:custGeom>
            <a:avLst/>
            <a:gdLst/>
            <a:ahLst/>
            <a:cxnLst/>
            <a:rect l="l" t="t" r="r" b="b"/>
            <a:pathLst>
              <a:path w="6855852" h="3764486">
                <a:moveTo>
                  <a:pt x="0" y="0"/>
                </a:moveTo>
                <a:lnTo>
                  <a:pt x="6855852" y="0"/>
                </a:lnTo>
                <a:lnTo>
                  <a:pt x="6855852" y="3764486"/>
                </a:lnTo>
                <a:lnTo>
                  <a:pt x="0" y="37644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>
              <a:latin typeface="Abadi" panose="020B0604020104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D070D1FA-1DFA-ADDB-3755-5AFE2B50DE01}"/>
              </a:ext>
            </a:extLst>
          </p:cNvPr>
          <p:cNvSpPr/>
          <p:nvPr/>
        </p:nvSpPr>
        <p:spPr>
          <a:xfrm>
            <a:off x="17431151" y="8418812"/>
            <a:ext cx="2105643" cy="1872108"/>
          </a:xfrm>
          <a:custGeom>
            <a:avLst/>
            <a:gdLst/>
            <a:ahLst/>
            <a:cxnLst/>
            <a:rect l="l" t="t" r="r" b="b"/>
            <a:pathLst>
              <a:path w="2105643" h="1872108">
                <a:moveTo>
                  <a:pt x="0" y="0"/>
                </a:moveTo>
                <a:lnTo>
                  <a:pt x="2105643" y="0"/>
                </a:lnTo>
                <a:lnTo>
                  <a:pt x="2105643" y="1872108"/>
                </a:lnTo>
                <a:lnTo>
                  <a:pt x="0" y="18721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>
              <a:latin typeface="Abadi" panose="020B0604020104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D0EDD75A-D6CC-AE56-E3CB-EA35F1FAB1C1}"/>
              </a:ext>
            </a:extLst>
          </p:cNvPr>
          <p:cNvSpPr/>
          <p:nvPr/>
        </p:nvSpPr>
        <p:spPr>
          <a:xfrm>
            <a:off x="5577445" y="-445691"/>
            <a:ext cx="2105643" cy="1872108"/>
          </a:xfrm>
          <a:custGeom>
            <a:avLst/>
            <a:gdLst/>
            <a:ahLst/>
            <a:cxnLst/>
            <a:rect l="l" t="t" r="r" b="b"/>
            <a:pathLst>
              <a:path w="2105643" h="1872108">
                <a:moveTo>
                  <a:pt x="0" y="0"/>
                </a:moveTo>
                <a:lnTo>
                  <a:pt x="2105643" y="0"/>
                </a:lnTo>
                <a:lnTo>
                  <a:pt x="2105643" y="1872108"/>
                </a:lnTo>
                <a:lnTo>
                  <a:pt x="0" y="187210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>
              <a:latin typeface="Abadi" panose="020B060402010402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916F1F6-9043-FA60-4604-448E4C74586D}"/>
              </a:ext>
            </a:extLst>
          </p:cNvPr>
          <p:cNvGrpSpPr/>
          <p:nvPr/>
        </p:nvGrpSpPr>
        <p:grpSpPr>
          <a:xfrm>
            <a:off x="149550" y="190500"/>
            <a:ext cx="5184450" cy="1097280"/>
            <a:chOff x="228599" y="190500"/>
            <a:chExt cx="4264345" cy="1097280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49D9FC72-FE98-9541-5F09-D8BF22945890}"/>
                </a:ext>
              </a:extLst>
            </p:cNvPr>
            <p:cNvSpPr/>
            <p:nvPr/>
          </p:nvSpPr>
          <p:spPr>
            <a:xfrm>
              <a:off x="228599" y="190500"/>
              <a:ext cx="4264345" cy="1097280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badi" panose="020B0604020104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A5A07BE-CC9D-1208-EC7F-68CE60AC043F}"/>
                </a:ext>
              </a:extLst>
            </p:cNvPr>
            <p:cNvSpPr txBox="1"/>
            <p:nvPr/>
          </p:nvSpPr>
          <p:spPr>
            <a:xfrm>
              <a:off x="448356" y="190500"/>
              <a:ext cx="382483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dirty="0">
                  <a:solidFill>
                    <a:srgbClr val="C00000"/>
                  </a:solidFill>
                  <a:latin typeface="Abadi" panose="020B0604020104020204" pitchFamily="34" charset="0"/>
                  <a:ea typeface="ADLaM Display" panose="02010000000000000000" pitchFamily="2" charset="0"/>
                  <a:cs typeface="Times New Roman" panose="02020603050405020304" pitchFamily="18" charset="0"/>
                </a:rPr>
                <a:t>Speaking</a:t>
              </a:r>
              <a:endParaRPr lang="en-US" sz="6000" b="1" dirty="0">
                <a:solidFill>
                  <a:srgbClr val="C00000"/>
                </a:solidFill>
                <a:latin typeface="Abadi" panose="020B060402010402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8216FE3-7896-B8EE-BBE3-54DF0D356958}"/>
              </a:ext>
            </a:extLst>
          </p:cNvPr>
          <p:cNvSpPr/>
          <p:nvPr/>
        </p:nvSpPr>
        <p:spPr>
          <a:xfrm>
            <a:off x="2334197" y="1440263"/>
            <a:ext cx="13619606" cy="1370109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rgbClr val="002060"/>
                </a:solidFill>
                <a:latin typeface="Abadi" panose="020B0604020104020204" pitchFamily="34" charset="0"/>
                <a:cs typeface="Times New Roman" panose="02020603050405020304" pitchFamily="18" charset="0"/>
              </a:rPr>
              <a:t>Look at the picture and answer discussion questions in pairs the composition of soil.</a:t>
            </a:r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BE86FA3F-2E66-DC2F-65DA-A455E7E900CC}"/>
              </a:ext>
            </a:extLst>
          </p:cNvPr>
          <p:cNvSpPr/>
          <p:nvPr/>
        </p:nvSpPr>
        <p:spPr>
          <a:xfrm>
            <a:off x="-762000" y="2232628"/>
            <a:ext cx="2105643" cy="1872108"/>
          </a:xfrm>
          <a:custGeom>
            <a:avLst/>
            <a:gdLst/>
            <a:ahLst/>
            <a:cxnLst/>
            <a:rect l="l" t="t" r="r" b="b"/>
            <a:pathLst>
              <a:path w="2105643" h="1872108">
                <a:moveTo>
                  <a:pt x="0" y="0"/>
                </a:moveTo>
                <a:lnTo>
                  <a:pt x="2105643" y="0"/>
                </a:lnTo>
                <a:lnTo>
                  <a:pt x="2105643" y="1872108"/>
                </a:lnTo>
                <a:lnTo>
                  <a:pt x="0" y="187210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>
              <a:latin typeface="Abadi" panose="020B060402010402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3CADA46C-FEC3-BF93-05FE-5F0E0CFE02EB}"/>
              </a:ext>
            </a:extLst>
          </p:cNvPr>
          <p:cNvGrpSpPr/>
          <p:nvPr/>
        </p:nvGrpSpPr>
        <p:grpSpPr>
          <a:xfrm>
            <a:off x="951076" y="2962855"/>
            <a:ext cx="16385849" cy="7843408"/>
            <a:chOff x="1035138" y="2962855"/>
            <a:chExt cx="14667356" cy="7843408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F29E5FE5-E787-8BE6-D7E0-426AC735460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035138" y="2962855"/>
              <a:ext cx="14667356" cy="4168136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C1AD24A-C993-A26E-1BBF-4E010DA73285}"/>
                </a:ext>
              </a:extLst>
            </p:cNvPr>
            <p:cNvSpPr txBox="1"/>
            <p:nvPr/>
          </p:nvSpPr>
          <p:spPr>
            <a:xfrm>
              <a:off x="1035138" y="7119676"/>
              <a:ext cx="14667356" cy="368658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marL="742950" indent="-742950">
                <a:lnSpc>
                  <a:spcPct val="150000"/>
                </a:lnSpc>
                <a:buFont typeface="+mj-lt"/>
                <a:buAutoNum type="arabicPeriod"/>
              </a:pPr>
              <a:r>
                <a:rPr lang="en-US" sz="4000" dirty="0">
                  <a:latin typeface="Abadi" panose="020B0604020104020204" pitchFamily="34" charset="0"/>
                  <a:cs typeface="Times New Roman" panose="02020603050405020304" pitchFamily="18" charset="0"/>
                </a:rPr>
                <a:t>What are the four main components of soil?</a:t>
              </a:r>
            </a:p>
            <a:p>
              <a:pPr marL="742950" indent="-742950">
                <a:lnSpc>
                  <a:spcPct val="150000"/>
                </a:lnSpc>
                <a:buFont typeface="+mj-lt"/>
                <a:buAutoNum type="arabicPeriod"/>
              </a:pPr>
              <a:r>
                <a:rPr lang="en-US" sz="4000" dirty="0">
                  <a:latin typeface="Abadi" panose="020B0604020104020204" pitchFamily="34" charset="0"/>
                  <a:cs typeface="Times New Roman" panose="02020603050405020304" pitchFamily="18" charset="0"/>
                </a:rPr>
                <a:t>Which component makes up the largest percentage of the soil?</a:t>
              </a:r>
            </a:p>
            <a:p>
              <a:pPr marL="742950" indent="-742950">
                <a:lnSpc>
                  <a:spcPct val="150000"/>
                </a:lnSpc>
                <a:buFont typeface="+mj-lt"/>
                <a:buAutoNum type="arabicPeriod"/>
              </a:pPr>
              <a:r>
                <a:rPr lang="en-US" sz="4000" dirty="0">
                  <a:latin typeface="Abadi" panose="020B0604020104020204" pitchFamily="34" charset="0"/>
                  <a:cs typeface="Times New Roman" panose="02020603050405020304" pitchFamily="18" charset="0"/>
                </a:rPr>
                <a:t>What percentage of the soil is made up of water and air combined?</a:t>
              </a:r>
            </a:p>
          </p:txBody>
        </p:sp>
      </p:grpSp>
      <p:pic>
        <p:nvPicPr>
          <p:cNvPr id="15" name="Google Shape;12;p17" descr="A blue and yellow logo&#10;&#10;Description automatically generated">
            <a:extLst>
              <a:ext uri="{FF2B5EF4-FFF2-40B4-BE49-F238E27FC236}">
                <a16:creationId xmlns:a16="http://schemas.microsoft.com/office/drawing/2014/main" id="{CEFCD1CE-D355-93B3-BD11-B57314D8259E}"/>
              </a:ext>
            </a:extLst>
          </p:cNvPr>
          <p:cNvPicPr preferRelativeResize="0"/>
          <p:nvPr/>
        </p:nvPicPr>
        <p:blipFill rotWithShape="1">
          <a:blip r:embed="rId11"/>
          <a:srcRect t="5199" b="17605"/>
          <a:stretch/>
        </p:blipFill>
        <p:spPr>
          <a:xfrm>
            <a:off x="16002566" y="190500"/>
            <a:ext cx="2135883" cy="1112135"/>
          </a:xfrm>
          <a:prstGeom prst="rect">
            <a:avLst/>
          </a:prstGeom>
          <a:noFill/>
          <a:ln>
            <a:noFill/>
          </a:ln>
          <a:scene3d>
            <a:camera prst="orthographicFront"/>
            <a:lightRig rig="flat" dir="t"/>
          </a:scene3d>
          <a:sp3d extrusionH="76200" prstMaterial="dkEdge">
            <a:extrusionClr>
              <a:srgbClr val="FFFF00"/>
            </a:extrusionClr>
          </a:sp3d>
        </p:spPr>
      </p:pic>
    </p:spTree>
    <p:extLst>
      <p:ext uri="{BB962C8B-B14F-4D97-AF65-F5344CB8AC3E}">
        <p14:creationId xmlns:p14="http://schemas.microsoft.com/office/powerpoint/2010/main" val="6563272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5DEE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FE8CD6-315F-C506-A586-9222D098E8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D4C2CA0-2D47-CA2B-3F39-253B6868704B}"/>
              </a:ext>
            </a:extLst>
          </p:cNvPr>
          <p:cNvSpPr/>
          <p:nvPr/>
        </p:nvSpPr>
        <p:spPr>
          <a:xfrm rot="299116">
            <a:off x="12806422" y="-853543"/>
            <a:ext cx="6855852" cy="3764486"/>
          </a:xfrm>
          <a:custGeom>
            <a:avLst/>
            <a:gdLst/>
            <a:ahLst/>
            <a:cxnLst/>
            <a:rect l="l" t="t" r="r" b="b"/>
            <a:pathLst>
              <a:path w="6855852" h="3764486">
                <a:moveTo>
                  <a:pt x="0" y="0"/>
                </a:moveTo>
                <a:lnTo>
                  <a:pt x="6855852" y="0"/>
                </a:lnTo>
                <a:lnTo>
                  <a:pt x="6855852" y="3764486"/>
                </a:lnTo>
                <a:lnTo>
                  <a:pt x="0" y="37644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>
              <a:latin typeface="Abadi" panose="020B0604020104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03929C73-4106-EF51-5867-68488B96DE78}"/>
              </a:ext>
            </a:extLst>
          </p:cNvPr>
          <p:cNvSpPr/>
          <p:nvPr/>
        </p:nvSpPr>
        <p:spPr>
          <a:xfrm rot="-10023158">
            <a:off x="-882717" y="7776843"/>
            <a:ext cx="6855852" cy="3764486"/>
          </a:xfrm>
          <a:custGeom>
            <a:avLst/>
            <a:gdLst/>
            <a:ahLst/>
            <a:cxnLst/>
            <a:rect l="l" t="t" r="r" b="b"/>
            <a:pathLst>
              <a:path w="6855852" h="3764486">
                <a:moveTo>
                  <a:pt x="0" y="0"/>
                </a:moveTo>
                <a:lnTo>
                  <a:pt x="6855852" y="0"/>
                </a:lnTo>
                <a:lnTo>
                  <a:pt x="6855852" y="3764486"/>
                </a:lnTo>
                <a:lnTo>
                  <a:pt x="0" y="37644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>
              <a:latin typeface="Abadi" panose="020B0604020104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E7917B87-3FED-A434-E2CC-57B61A20D7CD}"/>
              </a:ext>
            </a:extLst>
          </p:cNvPr>
          <p:cNvSpPr/>
          <p:nvPr/>
        </p:nvSpPr>
        <p:spPr>
          <a:xfrm>
            <a:off x="5577445" y="-445691"/>
            <a:ext cx="2105643" cy="1872108"/>
          </a:xfrm>
          <a:custGeom>
            <a:avLst/>
            <a:gdLst/>
            <a:ahLst/>
            <a:cxnLst/>
            <a:rect l="l" t="t" r="r" b="b"/>
            <a:pathLst>
              <a:path w="2105643" h="1872108">
                <a:moveTo>
                  <a:pt x="0" y="0"/>
                </a:moveTo>
                <a:lnTo>
                  <a:pt x="2105643" y="0"/>
                </a:lnTo>
                <a:lnTo>
                  <a:pt x="2105643" y="1872108"/>
                </a:lnTo>
                <a:lnTo>
                  <a:pt x="0" y="18721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>
              <a:latin typeface="Abadi" panose="020B060402010402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D80C4F9-23B5-C941-0BF6-0E55EF936453}"/>
              </a:ext>
            </a:extLst>
          </p:cNvPr>
          <p:cNvGrpSpPr/>
          <p:nvPr/>
        </p:nvGrpSpPr>
        <p:grpSpPr>
          <a:xfrm>
            <a:off x="149550" y="190500"/>
            <a:ext cx="6479850" cy="990600"/>
            <a:chOff x="228599" y="190500"/>
            <a:chExt cx="3667907" cy="990600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6DE3A73E-3394-59D4-8422-803C84AEBC7D}"/>
                </a:ext>
              </a:extLst>
            </p:cNvPr>
            <p:cNvSpPr/>
            <p:nvPr/>
          </p:nvSpPr>
          <p:spPr>
            <a:xfrm>
              <a:off x="228599" y="190500"/>
              <a:ext cx="3667907" cy="990600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latin typeface="Abadi" panose="020B0604020104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82222C1-A49A-8473-4F59-290AA038198C}"/>
                </a:ext>
              </a:extLst>
            </p:cNvPr>
            <p:cNvSpPr txBox="1"/>
            <p:nvPr/>
          </p:nvSpPr>
          <p:spPr>
            <a:xfrm>
              <a:off x="486241" y="266687"/>
              <a:ext cx="314622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800" b="1">
                  <a:solidFill>
                    <a:srgbClr val="C00000"/>
                  </a:solidFill>
                  <a:latin typeface="Abadi" panose="020B0604020104020204" pitchFamily="34" charset="0"/>
                  <a:ea typeface="ADLaM Display" panose="02010000000000000000" pitchFamily="2" charset="0"/>
                  <a:cs typeface="Times New Roman" panose="02020603050405020304" pitchFamily="18" charset="0"/>
                </a:rPr>
                <a:t>Speaking - Sample</a:t>
              </a:r>
              <a:endParaRPr lang="en-US" sz="4800" b="1" dirty="0">
                <a:solidFill>
                  <a:srgbClr val="C00000"/>
                </a:solidFill>
                <a:latin typeface="Abadi" panose="020B060402010402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4EB811C-6DB2-3246-159D-4573A2F2A514}"/>
              </a:ext>
            </a:extLst>
          </p:cNvPr>
          <p:cNvSpPr/>
          <p:nvPr/>
        </p:nvSpPr>
        <p:spPr>
          <a:xfrm>
            <a:off x="6572935" y="190500"/>
            <a:ext cx="10058400" cy="1013267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>
                <a:solidFill>
                  <a:srgbClr val="002060"/>
                </a:solidFill>
                <a:latin typeface="Abadi" panose="020B0604020104020204" pitchFamily="34" charset="0"/>
                <a:cs typeface="Times New Roman" panose="02020603050405020304" pitchFamily="18" charset="0"/>
              </a:rPr>
              <a:t>Look at the model discussion and practice in pairs.</a:t>
            </a:r>
            <a:endParaRPr lang="en-US" sz="3200" dirty="0">
              <a:solidFill>
                <a:srgbClr val="002060"/>
              </a:solidFill>
              <a:latin typeface="Abadi" panose="020B0604020104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6D7E2B1A-6C70-BCF6-C544-84344C4ED8D0}"/>
              </a:ext>
            </a:extLst>
          </p:cNvPr>
          <p:cNvSpPr/>
          <p:nvPr/>
        </p:nvSpPr>
        <p:spPr>
          <a:xfrm>
            <a:off x="-762000" y="2232628"/>
            <a:ext cx="2105643" cy="1872108"/>
          </a:xfrm>
          <a:custGeom>
            <a:avLst/>
            <a:gdLst/>
            <a:ahLst/>
            <a:cxnLst/>
            <a:rect l="l" t="t" r="r" b="b"/>
            <a:pathLst>
              <a:path w="2105643" h="1872108">
                <a:moveTo>
                  <a:pt x="0" y="0"/>
                </a:moveTo>
                <a:lnTo>
                  <a:pt x="2105643" y="0"/>
                </a:lnTo>
                <a:lnTo>
                  <a:pt x="2105643" y="1872108"/>
                </a:lnTo>
                <a:lnTo>
                  <a:pt x="0" y="187210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>
              <a:latin typeface="Abadi" panose="020B0604020104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3A898198-7E26-2D4F-62D3-4F2E8B6B29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250" y="4945962"/>
            <a:ext cx="18125750" cy="50743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14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Student A: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Hi! Let’s look at the pie chart about soil composition. Do you know </a:t>
            </a:r>
            <a:r>
              <a:rPr kumimoji="0" lang="en-US" altLang="en-US" sz="2400" b="1" i="1" u="none" strike="noStrike" cap="none" normalizeH="0" baseline="0">
                <a:ln>
                  <a:noFill/>
                </a:ln>
                <a:solidFill>
                  <a:schemeClr val="accent2"/>
                </a:solidFill>
                <a:effectLst/>
              </a:rPr>
              <a:t>what the four main components of soil are?</a:t>
            </a:r>
          </a:p>
          <a:p>
            <a:pPr marL="0" marR="0" lvl="0" indent="0" algn="l" defTabSz="914400" rtl="0" eaLnBrk="0" fontAlgn="base" latinLnBrk="0" hangingPunct="0">
              <a:lnSpc>
                <a:spcPct val="114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Student B: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Yes! Soil is made of </a:t>
            </a: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inorganic mineral matter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organic matter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water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 and </a:t>
            </a: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air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14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Student A: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That’s right! </a:t>
            </a:r>
            <a:r>
              <a:rPr kumimoji="0" lang="en-US" altLang="en-US" sz="2400" b="1" i="1" u="none" strike="noStrike" cap="none" normalizeH="0" baseline="0">
                <a:ln>
                  <a:noFill/>
                </a:ln>
                <a:solidFill>
                  <a:schemeClr val="accent2"/>
                </a:solidFill>
                <a:effectLst/>
              </a:rPr>
              <a:t>Which component makes up the largest percentage of the soil?</a:t>
            </a:r>
          </a:p>
          <a:p>
            <a:pPr marL="0" marR="0" lvl="0" indent="0" algn="l" defTabSz="914400" rtl="0" eaLnBrk="0" fontAlgn="base" latinLnBrk="0" hangingPunct="0">
              <a:lnSpc>
                <a:spcPct val="114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Student B: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Inorganic mineral matter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makes up the largest part—it’s </a:t>
            </a: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45%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of the soil.</a:t>
            </a:r>
          </a:p>
          <a:p>
            <a:pPr marL="0" marR="0" lvl="0" indent="0" algn="l" defTabSz="914400" rtl="0" eaLnBrk="0" fontAlgn="base" latinLnBrk="0" hangingPunct="0">
              <a:lnSpc>
                <a:spcPct val="114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Student A: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Good job. And </a:t>
            </a:r>
            <a:r>
              <a:rPr kumimoji="0" lang="en-US" altLang="en-US" sz="2400" b="1" i="1" u="none" strike="noStrike" cap="none" normalizeH="0" baseline="0">
                <a:ln>
                  <a:noFill/>
                </a:ln>
                <a:solidFill>
                  <a:schemeClr val="accent2"/>
                </a:solidFill>
                <a:effectLst/>
              </a:rPr>
              <a:t>what percentage of the soil is made up of water and air combined?</a:t>
            </a:r>
          </a:p>
          <a:p>
            <a:pPr marL="0" marR="0" lvl="0" indent="0" algn="l" defTabSz="914400" rtl="0" eaLnBrk="0" fontAlgn="base" latinLnBrk="0" hangingPunct="0">
              <a:lnSpc>
                <a:spcPct val="114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Student B: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Water is </a:t>
            </a: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25%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and air is </a:t>
            </a: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25%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 so together they make up </a:t>
            </a: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50%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of the soil.</a:t>
            </a:r>
          </a:p>
          <a:p>
            <a:pPr marL="0" marR="0" lvl="0" indent="0" algn="l" defTabSz="914400" rtl="0" eaLnBrk="0" fontAlgn="base" latinLnBrk="0" hangingPunct="0">
              <a:lnSpc>
                <a:spcPct val="114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Student A: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Exactly! Only </a:t>
            </a: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5%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is left for organic matter, like microorganisms. Speaking of nutrients, where do plants get necessary nutrients like nitrogen to grow?</a:t>
            </a:r>
          </a:p>
          <a:p>
            <a:pPr marL="0" marR="0" lvl="0" indent="0" algn="l" defTabSz="914400" rtl="0" eaLnBrk="0" fontAlgn="base" latinLnBrk="0" hangingPunct="0">
              <a:lnSpc>
                <a:spcPct val="114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Student B: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Plants take nutrients directly from the soil! But since atmospheric nitrogen gas (N</a:t>
            </a:r>
            <a:r>
              <a:rPr kumimoji="0" lang="en-US" altLang="en-US" sz="24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</a:rPr>
              <a:t>2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 can’t be used directly by plants, they rely on </a:t>
            </a: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nitrogen fixation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by bacteria or decomposers like fungi to convert it into usable forms.</a:t>
            </a:r>
          </a:p>
          <a:p>
            <a:pPr marL="0" marR="0" lvl="0" indent="0" algn="l" defTabSz="914400" rtl="0" eaLnBrk="0" fontAlgn="base" latinLnBrk="0" hangingPunct="0">
              <a:lnSpc>
                <a:spcPct val="114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Student A: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That’s so interesting! Farmers can also add </a:t>
            </a: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fertilizer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to help supply extra nutrients to the soil if needed.</a:t>
            </a:r>
          </a:p>
          <a:p>
            <a:pPr marL="0" marR="0" lvl="0" indent="0" algn="l" defTabSz="914400" rtl="0" eaLnBrk="0" fontAlgn="base" latinLnBrk="0" hangingPunct="0">
              <a:lnSpc>
                <a:spcPct val="114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Student B: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Exactly. Healthy soil with the right mix of air, water, organic, and inorganic matter helps plant roots grow strong!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B576A14-A330-E2E0-AADF-EA088803B42B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2109" b="5342"/>
          <a:stretch/>
        </p:blipFill>
        <p:spPr>
          <a:xfrm>
            <a:off x="162250" y="1257300"/>
            <a:ext cx="12548609" cy="3616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2629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FD0D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17F8CC-5311-32E2-E87D-23804E5774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7">
            <a:extLst>
              <a:ext uri="{FF2B5EF4-FFF2-40B4-BE49-F238E27FC236}">
                <a16:creationId xmlns:a16="http://schemas.microsoft.com/office/drawing/2014/main" id="{7679A379-2108-4187-6BE3-33DAA4B13F65}"/>
              </a:ext>
            </a:extLst>
          </p:cNvPr>
          <p:cNvSpPr/>
          <p:nvPr/>
        </p:nvSpPr>
        <p:spPr>
          <a:xfrm rot="5190471">
            <a:off x="4082685" y="-3679764"/>
            <a:ext cx="10122630" cy="18028083"/>
          </a:xfrm>
          <a:custGeom>
            <a:avLst/>
            <a:gdLst/>
            <a:ahLst/>
            <a:cxnLst/>
            <a:rect l="l" t="t" r="r" b="b"/>
            <a:pathLst>
              <a:path w="8719197" h="13284094">
                <a:moveTo>
                  <a:pt x="0" y="0"/>
                </a:moveTo>
                <a:lnTo>
                  <a:pt x="8719196" y="0"/>
                </a:lnTo>
                <a:lnTo>
                  <a:pt x="8719196" y="13284094"/>
                </a:lnTo>
                <a:lnTo>
                  <a:pt x="0" y="132840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VN">
              <a:latin typeface="Abadi" panose="020B0604020104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40CD9828-DF41-10FE-27DD-95AD98449EB7}"/>
              </a:ext>
            </a:extLst>
          </p:cNvPr>
          <p:cNvSpPr/>
          <p:nvPr/>
        </p:nvSpPr>
        <p:spPr>
          <a:xfrm>
            <a:off x="7088" y="0"/>
            <a:ext cx="2500843" cy="2223477"/>
          </a:xfrm>
          <a:custGeom>
            <a:avLst/>
            <a:gdLst/>
            <a:ahLst/>
            <a:cxnLst/>
            <a:rect l="l" t="t" r="r" b="b"/>
            <a:pathLst>
              <a:path w="2500843" h="2223477">
                <a:moveTo>
                  <a:pt x="0" y="0"/>
                </a:moveTo>
                <a:lnTo>
                  <a:pt x="2500843" y="0"/>
                </a:lnTo>
                <a:lnTo>
                  <a:pt x="2500843" y="2223477"/>
                </a:lnTo>
                <a:lnTo>
                  <a:pt x="0" y="222347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>
              <a:latin typeface="Abadi" panose="020B060402010402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A8D734C-6358-0C02-B51B-4500346A6061}"/>
              </a:ext>
            </a:extLst>
          </p:cNvPr>
          <p:cNvGrpSpPr/>
          <p:nvPr/>
        </p:nvGrpSpPr>
        <p:grpSpPr>
          <a:xfrm>
            <a:off x="149550" y="190500"/>
            <a:ext cx="6251250" cy="1101950"/>
            <a:chOff x="228599" y="190500"/>
            <a:chExt cx="4264345" cy="1101950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6FC990A5-F511-C726-4160-C99FE2C577FC}"/>
                </a:ext>
              </a:extLst>
            </p:cNvPr>
            <p:cNvSpPr/>
            <p:nvPr/>
          </p:nvSpPr>
          <p:spPr>
            <a:xfrm>
              <a:off x="228599" y="190500"/>
              <a:ext cx="4264345" cy="1097280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badi" panose="020B0604020104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7D688B5F-D95E-F235-AF4B-074B6A54638E}"/>
                </a:ext>
              </a:extLst>
            </p:cNvPr>
            <p:cNvSpPr txBox="1"/>
            <p:nvPr/>
          </p:nvSpPr>
          <p:spPr>
            <a:xfrm>
              <a:off x="338477" y="276787"/>
              <a:ext cx="4044588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dirty="0">
                  <a:solidFill>
                    <a:srgbClr val="C00000"/>
                  </a:solidFill>
                  <a:latin typeface="Abadi" panose="020B0604020104020204" pitchFamily="34" charset="0"/>
                  <a:ea typeface="ADLaM Display" panose="02010000000000000000" pitchFamily="2" charset="0"/>
                  <a:cs typeface="Times New Roman" panose="02020603050405020304" pitchFamily="18" charset="0"/>
                </a:rPr>
                <a:t>Consolidation</a:t>
              </a:r>
              <a:endParaRPr lang="en-US" sz="6000" b="1" dirty="0">
                <a:solidFill>
                  <a:srgbClr val="C00000"/>
                </a:solidFill>
                <a:latin typeface="Abadi" panose="020B060402010402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0" name="Freeform 10">
            <a:extLst>
              <a:ext uri="{FF2B5EF4-FFF2-40B4-BE49-F238E27FC236}">
                <a16:creationId xmlns:a16="http://schemas.microsoft.com/office/drawing/2014/main" id="{FAD1C4A6-7FF2-4873-B244-928F723292D9}"/>
              </a:ext>
            </a:extLst>
          </p:cNvPr>
          <p:cNvSpPr/>
          <p:nvPr/>
        </p:nvSpPr>
        <p:spPr>
          <a:xfrm>
            <a:off x="16916400" y="8185011"/>
            <a:ext cx="2414713" cy="2146899"/>
          </a:xfrm>
          <a:custGeom>
            <a:avLst/>
            <a:gdLst/>
            <a:ahLst/>
            <a:cxnLst/>
            <a:rect l="l" t="t" r="r" b="b"/>
            <a:pathLst>
              <a:path w="2414713" h="2146899">
                <a:moveTo>
                  <a:pt x="0" y="0"/>
                </a:moveTo>
                <a:lnTo>
                  <a:pt x="2414713" y="0"/>
                </a:lnTo>
                <a:lnTo>
                  <a:pt x="2414713" y="2146899"/>
                </a:lnTo>
                <a:lnTo>
                  <a:pt x="0" y="214689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>
              <a:latin typeface="Abadi" panose="020B0604020104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A5A9FC5-0575-EE14-D3EF-76A0BCF997CB}"/>
              </a:ext>
            </a:extLst>
          </p:cNvPr>
          <p:cNvSpPr txBox="1"/>
          <p:nvPr/>
        </p:nvSpPr>
        <p:spPr>
          <a:xfrm>
            <a:off x="685800" y="1614230"/>
            <a:ext cx="16916400" cy="82536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57250" indent="-857250">
              <a:lnSpc>
                <a:spcPct val="150000"/>
              </a:lnSpc>
              <a:buFontTx/>
              <a:buChar char="-"/>
            </a:pPr>
            <a:r>
              <a:rPr lang="en-US" sz="6000" dirty="0">
                <a:solidFill>
                  <a:srgbClr val="7030A0"/>
                </a:solidFill>
                <a:latin typeface="Abadi" panose="020B0604020104020204" pitchFamily="34" charset="0"/>
                <a:cs typeface="Times New Roman" panose="02020603050405020304" pitchFamily="18" charset="0"/>
              </a:rPr>
              <a:t>Words: </a:t>
            </a:r>
            <a:r>
              <a:rPr lang="en-US" sz="6000" dirty="0">
                <a:latin typeface="Abadi" panose="020B0604020104020204" pitchFamily="34" charset="0"/>
                <a:cs typeface="Times New Roman" panose="02020603050405020304" pitchFamily="18" charset="0"/>
              </a:rPr>
              <a:t>organic matter, inorganic matter, nitrogen fixation, </a:t>
            </a:r>
            <a:r>
              <a:rPr lang="en-US" sz="6000">
                <a:latin typeface="Abadi" panose="020B0604020104020204" pitchFamily="34" charset="0"/>
                <a:cs typeface="Times New Roman" panose="02020603050405020304" pitchFamily="18" charset="0"/>
              </a:rPr>
              <a:t>fertilizer.</a:t>
            </a:r>
          </a:p>
          <a:p>
            <a:pPr marL="857250" indent="-857250">
              <a:lnSpc>
                <a:spcPct val="150000"/>
              </a:lnSpc>
              <a:buFontTx/>
              <a:buChar char="-"/>
            </a:pPr>
            <a:r>
              <a:rPr lang="en-US" sz="6000">
                <a:solidFill>
                  <a:srgbClr val="7030A0"/>
                </a:solidFill>
                <a:latin typeface="Abadi" panose="020B0604020104020204" pitchFamily="34" charset="0"/>
                <a:cs typeface="Times New Roman" panose="02020603050405020304" pitchFamily="18" charset="0"/>
              </a:rPr>
              <a:t>Sentence: </a:t>
            </a:r>
          </a:p>
          <a:p>
            <a:pPr>
              <a:lnSpc>
                <a:spcPct val="150000"/>
              </a:lnSpc>
            </a:pPr>
            <a:r>
              <a:rPr lang="en-US" sz="6000">
                <a:latin typeface="Abadi" panose="020B0604020104020204" pitchFamily="34" charset="0"/>
                <a:cs typeface="Times New Roman" panose="02020603050405020304" pitchFamily="18" charset="0"/>
              </a:rPr>
              <a:t>Soil is made of inorganic mineral matter, organic matter, water, and air.</a:t>
            </a:r>
            <a:endParaRPr lang="en-US" sz="6000" dirty="0">
              <a:latin typeface="Abadi" panose="020B0604020104020204" pitchFamily="34" charset="0"/>
              <a:cs typeface="Times New Roman" panose="02020603050405020304" pitchFamily="18" charset="0"/>
            </a:endParaRPr>
          </a:p>
          <a:p>
            <a:pPr marL="857250" indent="-857250">
              <a:lnSpc>
                <a:spcPct val="150000"/>
              </a:lnSpc>
              <a:buFontTx/>
              <a:buChar char="-"/>
            </a:pPr>
            <a:r>
              <a:rPr lang="en-US" sz="6000">
                <a:solidFill>
                  <a:srgbClr val="7030A0"/>
                </a:solidFill>
                <a:latin typeface="Abadi" panose="020B0604020104020204" pitchFamily="34" charset="0"/>
                <a:cs typeface="Times New Roman" panose="02020603050405020304" pitchFamily="18" charset="0"/>
              </a:rPr>
              <a:t>Prepare next lesson.</a:t>
            </a:r>
            <a:endParaRPr lang="en-US" sz="2400" dirty="0">
              <a:solidFill>
                <a:srgbClr val="7030A0"/>
              </a:solidFill>
              <a:latin typeface="Abadi" panose="020B0604020104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13803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0A947E-ED35-0E69-5CC2-4696A4AC0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53309A70-73E1-5973-7CC0-D20B29128186}"/>
              </a:ext>
            </a:extLst>
          </p:cNvPr>
          <p:cNvGrpSpPr/>
          <p:nvPr/>
        </p:nvGrpSpPr>
        <p:grpSpPr>
          <a:xfrm>
            <a:off x="-1899332" y="-329626"/>
            <a:ext cx="22086663" cy="12065926"/>
            <a:chOff x="0" y="0"/>
            <a:chExt cx="27198568" cy="13649501"/>
          </a:xfrm>
          <a:solidFill>
            <a:srgbClr val="DCE6BF"/>
          </a:solidFill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AE4A8801-EE2E-90E0-B98A-C8ED46E5E6A3}"/>
                </a:ext>
              </a:extLst>
            </p:cNvPr>
            <p:cNvSpPr/>
            <p:nvPr/>
          </p:nvSpPr>
          <p:spPr>
            <a:xfrm>
              <a:off x="0" y="0"/>
              <a:ext cx="13624684" cy="13649501"/>
            </a:xfrm>
            <a:custGeom>
              <a:avLst/>
              <a:gdLst/>
              <a:ahLst/>
              <a:cxnLst/>
              <a:rect l="l" t="t" r="r" b="b"/>
              <a:pathLst>
                <a:path w="13624684" h="13649501">
                  <a:moveTo>
                    <a:pt x="0" y="0"/>
                  </a:moveTo>
                  <a:lnTo>
                    <a:pt x="13624684" y="0"/>
                  </a:lnTo>
                  <a:lnTo>
                    <a:pt x="13624684" y="13649501"/>
                  </a:lnTo>
                  <a:lnTo>
                    <a:pt x="0" y="13649501"/>
                  </a:lnTo>
                  <a:lnTo>
                    <a:pt x="0" y="0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VN">
                <a:latin typeface="Abadi" panose="020B0604020104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ABDA9923-F838-F3BD-3B7B-310F95FDA6A9}"/>
                </a:ext>
              </a:extLst>
            </p:cNvPr>
            <p:cNvSpPr/>
            <p:nvPr/>
          </p:nvSpPr>
          <p:spPr>
            <a:xfrm>
              <a:off x="13573884" y="0"/>
              <a:ext cx="13624684" cy="13649501"/>
            </a:xfrm>
            <a:custGeom>
              <a:avLst/>
              <a:gdLst/>
              <a:ahLst/>
              <a:cxnLst/>
              <a:rect l="l" t="t" r="r" b="b"/>
              <a:pathLst>
                <a:path w="13624684" h="13649501">
                  <a:moveTo>
                    <a:pt x="0" y="0"/>
                  </a:moveTo>
                  <a:lnTo>
                    <a:pt x="13624684" y="0"/>
                  </a:lnTo>
                  <a:lnTo>
                    <a:pt x="13624684" y="13649501"/>
                  </a:lnTo>
                  <a:lnTo>
                    <a:pt x="0" y="13649501"/>
                  </a:lnTo>
                  <a:lnTo>
                    <a:pt x="0" y="0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VN">
                <a:latin typeface="Abadi" panose="020B060402010402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0DF676F5-42F6-136C-59CC-A03C582F5542}"/>
              </a:ext>
            </a:extLst>
          </p:cNvPr>
          <p:cNvSpPr/>
          <p:nvPr/>
        </p:nvSpPr>
        <p:spPr>
          <a:xfrm>
            <a:off x="14832747" y="2294679"/>
            <a:ext cx="2515235" cy="2515235"/>
          </a:xfrm>
          <a:custGeom>
            <a:avLst/>
            <a:gdLst/>
            <a:ahLst/>
            <a:cxnLst/>
            <a:rect l="l" t="t" r="r" b="b"/>
            <a:pathLst>
              <a:path w="3427545" h="3427545">
                <a:moveTo>
                  <a:pt x="0" y="0"/>
                </a:moveTo>
                <a:lnTo>
                  <a:pt x="3427545" y="0"/>
                </a:lnTo>
                <a:lnTo>
                  <a:pt x="3427545" y="3427545"/>
                </a:lnTo>
                <a:lnTo>
                  <a:pt x="0" y="34275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VN">
              <a:latin typeface="Abadi" panose="020B0604020104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0F695A8A-0D9D-4980-831D-069C5EBEF131}"/>
              </a:ext>
            </a:extLst>
          </p:cNvPr>
          <p:cNvSpPr/>
          <p:nvPr/>
        </p:nvSpPr>
        <p:spPr>
          <a:xfrm>
            <a:off x="-2920937" y="-1047526"/>
            <a:ext cx="5264027" cy="5235315"/>
          </a:xfrm>
          <a:custGeom>
            <a:avLst/>
            <a:gdLst/>
            <a:ahLst/>
            <a:cxnLst/>
            <a:rect l="l" t="t" r="r" b="b"/>
            <a:pathLst>
              <a:path w="5264027" h="5235315">
                <a:moveTo>
                  <a:pt x="0" y="0"/>
                </a:moveTo>
                <a:lnTo>
                  <a:pt x="5264028" y="0"/>
                </a:lnTo>
                <a:lnTo>
                  <a:pt x="5264028" y="5235315"/>
                </a:lnTo>
                <a:lnTo>
                  <a:pt x="0" y="52353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VN">
              <a:latin typeface="Abadi" panose="020B0604020104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AE5AF735-7467-46A0-285E-6D03E3596F74}"/>
              </a:ext>
            </a:extLst>
          </p:cNvPr>
          <p:cNvSpPr/>
          <p:nvPr/>
        </p:nvSpPr>
        <p:spPr>
          <a:xfrm rot="875686">
            <a:off x="13725498" y="5649870"/>
            <a:ext cx="4437653" cy="4814022"/>
          </a:xfrm>
          <a:custGeom>
            <a:avLst/>
            <a:gdLst/>
            <a:ahLst/>
            <a:cxnLst/>
            <a:rect l="l" t="t" r="r" b="b"/>
            <a:pathLst>
              <a:path w="4437653" h="4814022">
                <a:moveTo>
                  <a:pt x="0" y="0"/>
                </a:moveTo>
                <a:lnTo>
                  <a:pt x="4437654" y="0"/>
                </a:lnTo>
                <a:lnTo>
                  <a:pt x="4437654" y="4814023"/>
                </a:lnTo>
                <a:lnTo>
                  <a:pt x="0" y="481402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VN">
              <a:latin typeface="Abadi" panose="020B0604020104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8AF96565-AD61-AE42-8C6D-02141045D618}"/>
              </a:ext>
            </a:extLst>
          </p:cNvPr>
          <p:cNvSpPr/>
          <p:nvPr/>
        </p:nvSpPr>
        <p:spPr>
          <a:xfrm rot="5190471">
            <a:off x="2540248" y="-3776827"/>
            <a:ext cx="12534858" cy="19052658"/>
          </a:xfrm>
          <a:custGeom>
            <a:avLst/>
            <a:gdLst/>
            <a:ahLst/>
            <a:cxnLst/>
            <a:rect l="l" t="t" r="r" b="b"/>
            <a:pathLst>
              <a:path w="8719197" h="13284094">
                <a:moveTo>
                  <a:pt x="0" y="0"/>
                </a:moveTo>
                <a:lnTo>
                  <a:pt x="8719196" y="0"/>
                </a:lnTo>
                <a:lnTo>
                  <a:pt x="8719196" y="13284094"/>
                </a:lnTo>
                <a:lnTo>
                  <a:pt x="0" y="1328409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VN">
              <a:latin typeface="Abadi" panose="020B0604020104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0F05CA6D-3087-10D7-8B24-5D1797CF20FE}"/>
              </a:ext>
            </a:extLst>
          </p:cNvPr>
          <p:cNvSpPr/>
          <p:nvPr/>
        </p:nvSpPr>
        <p:spPr>
          <a:xfrm>
            <a:off x="14116785" y="4045058"/>
            <a:ext cx="6348795" cy="7546858"/>
          </a:xfrm>
          <a:custGeom>
            <a:avLst/>
            <a:gdLst/>
            <a:ahLst/>
            <a:cxnLst/>
            <a:rect l="l" t="t" r="r" b="b"/>
            <a:pathLst>
              <a:path w="5158441" h="6131876">
                <a:moveTo>
                  <a:pt x="0" y="0"/>
                </a:moveTo>
                <a:lnTo>
                  <a:pt x="5158441" y="0"/>
                </a:lnTo>
                <a:lnTo>
                  <a:pt x="5158441" y="6131876"/>
                </a:lnTo>
                <a:lnTo>
                  <a:pt x="0" y="613187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VN">
              <a:latin typeface="Abadi" panose="020B0604020104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5" name="Google Shape;12;p17" descr="A blue and yellow logo&#10;&#10;Description automatically generated">
            <a:extLst>
              <a:ext uri="{FF2B5EF4-FFF2-40B4-BE49-F238E27FC236}">
                <a16:creationId xmlns:a16="http://schemas.microsoft.com/office/drawing/2014/main" id="{47B8F44A-FF14-0EDE-2C4C-2770E9B743BF}"/>
              </a:ext>
            </a:extLst>
          </p:cNvPr>
          <p:cNvPicPr preferRelativeResize="0"/>
          <p:nvPr/>
        </p:nvPicPr>
        <p:blipFill rotWithShape="1">
          <a:blip r:embed="rId11"/>
          <a:srcRect t="5199" b="17605"/>
          <a:stretch/>
        </p:blipFill>
        <p:spPr>
          <a:xfrm>
            <a:off x="15153740" y="426275"/>
            <a:ext cx="2458523" cy="1307433"/>
          </a:xfrm>
          <a:prstGeom prst="rect">
            <a:avLst/>
          </a:prstGeom>
          <a:noFill/>
          <a:ln>
            <a:noFill/>
          </a:ln>
          <a:scene3d>
            <a:camera prst="orthographicFront"/>
            <a:lightRig rig="flat" dir="t"/>
          </a:scene3d>
          <a:sp3d extrusionH="76200" prstMaterial="dkEdge">
            <a:extrusionClr>
              <a:srgbClr val="FFFF00"/>
            </a:extrusionClr>
          </a:sp3d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0FA454E3-6B8A-1F60-1FFA-A99C11C320BC}"/>
              </a:ext>
            </a:extLst>
          </p:cNvPr>
          <p:cNvSpPr txBox="1"/>
          <p:nvPr/>
        </p:nvSpPr>
        <p:spPr>
          <a:xfrm>
            <a:off x="508765" y="1136269"/>
            <a:ext cx="15004891" cy="47836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en-US" sz="13800" b="1">
                <a:solidFill>
                  <a:srgbClr val="722E21"/>
                </a:solidFill>
                <a:latin typeface="Abadi" panose="020B0604020104020204" pitchFamily="34" charset="0"/>
                <a:cs typeface="Times New Roman" panose="02020603050405020304" pitchFamily="18" charset="0"/>
              </a:rPr>
              <a:t>Decode nature.</a:t>
            </a:r>
          </a:p>
          <a:p>
            <a:pPr>
              <a:lnSpc>
                <a:spcPct val="114000"/>
              </a:lnSpc>
            </a:pPr>
            <a:r>
              <a:rPr lang="en-US" sz="13800" b="1">
                <a:solidFill>
                  <a:srgbClr val="722E21"/>
                </a:solidFill>
                <a:latin typeface="Abadi" panose="020B0604020104020204" pitchFamily="34" charset="0"/>
                <a:cs typeface="Times New Roman" panose="02020603050405020304" pitchFamily="18" charset="0"/>
              </a:rPr>
              <a:t>Express the future.</a:t>
            </a:r>
            <a:endParaRPr lang="en-US" sz="13800" b="1" dirty="0">
              <a:solidFill>
                <a:srgbClr val="722E21"/>
              </a:solidFill>
              <a:latin typeface="Abadi" panose="020B0604020104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 descr="Cartoon Character Saying Bye Bye | Bart simpson, 가상인물, 만화 예술">
            <a:extLst>
              <a:ext uri="{FF2B5EF4-FFF2-40B4-BE49-F238E27FC236}">
                <a16:creationId xmlns:a16="http://schemas.microsoft.com/office/drawing/2014/main" id="{D8257BF2-D8D3-5BD0-4339-BC49C7A973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47259" y="5925902"/>
            <a:ext cx="6338351" cy="51392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47176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1641</TotalTime>
  <Words>781</Words>
  <Application>Microsoft Office PowerPoint</Application>
  <PresentationFormat>Custom</PresentationFormat>
  <Paragraphs>105</Paragraphs>
  <Slides>22</Slides>
  <Notes>2</Notes>
  <HiddenSlides>0</HiddenSlides>
  <MMClips>2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Arial Rounded MT Bold</vt:lpstr>
      <vt:lpstr>Wingdings</vt:lpstr>
      <vt:lpstr>Abadi</vt:lpstr>
      <vt:lpstr>Arial</vt:lpstr>
      <vt:lpstr>Quattrocento Sans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Exploring Cells in Detail Education Presentation in 0 Hand Drawn Lightly Textured Style</dc:title>
  <cp:lastModifiedBy>tutrinh.1602@gmail.com</cp:lastModifiedBy>
  <cp:revision>20</cp:revision>
  <dcterms:created xsi:type="dcterms:W3CDTF">2006-08-16T00:00:00Z</dcterms:created>
  <dcterms:modified xsi:type="dcterms:W3CDTF">2026-07-28T04:17:29Z</dcterms:modified>
  <dc:identifier>DAGNOV3ZGwg</dc:identifier>
</cp:coreProperties>
</file>