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1" r:id="rId4"/>
    <p:sldId id="822" r:id="rId5"/>
    <p:sldId id="823" r:id="rId6"/>
    <p:sldId id="824" r:id="rId7"/>
    <p:sldId id="825" r:id="rId8"/>
    <p:sldId id="826" r:id="rId9"/>
    <p:sldId id="827" r:id="rId10"/>
    <p:sldId id="821" r:id="rId11"/>
    <p:sldId id="259" r:id="rId12"/>
    <p:sldId id="791" r:id="rId13"/>
    <p:sldId id="828" r:id="rId14"/>
    <p:sldId id="263" r:id="rId15"/>
    <p:sldId id="792" r:id="rId16"/>
    <p:sldId id="829" r:id="rId17"/>
    <p:sldId id="296" r:id="rId18"/>
    <p:sldId id="830" r:id="rId19"/>
    <p:sldId id="297" r:id="rId20"/>
    <p:sldId id="290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DD9"/>
    <a:srgbClr val="FF0066"/>
    <a:srgbClr val="FF6600"/>
    <a:srgbClr val="FF66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3" autoAdjust="0"/>
  </p:normalViewPr>
  <p:slideViewPr>
    <p:cSldViewPr snapToGrid="0">
      <p:cViewPr varScale="1">
        <p:scale>
          <a:sx n="124" d="100"/>
          <a:sy n="124" d="100"/>
        </p:scale>
        <p:origin x="-116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01" name="Google Shape;120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0" name="Google Shape;1330;gd431007ba2_0_21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endParaRPr sz="1200" i="1" dirty="0">
                  <a:solidFill>
                    <a:srgbClr val="595959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1: Understand the Problem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"Look at the problem. What shape is the base of the flower pot?"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"What information is given?"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"What do we need to find?"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Responses: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Shape: A </a:t>
                </a: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square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Given: The side length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1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1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𝟑</m:t>
                        </m:r>
                      </m:num>
                      <m:den>
                        <m:r>
                          <a:rPr lang="en-US" sz="1100" b="1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𝟏𝟎</m:t>
                        </m:r>
                      </m:den>
                    </m:f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 </m:t>
                    </m:r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m</m:t>
                    </m:r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Task: Find the </a:t>
                </a: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area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of the base.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2: Recall &amp; Connect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"Who remembers the formula for the area of a square?"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Response:</a:t>
                </a:r>
                <a:r>
                  <a:rPr 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100" b="0" i="0" u="none" strike="noStrike" cap="none" smtClean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Area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side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×</m:t>
                    </m:r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side</m:t>
                    </m:r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(or 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𝐴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𝑠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).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Teacher Scaffold: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"Exactly! To find the area of a square, we multiply the side length by itself, which means we square the side length: 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𝐴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𝑠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3: Execute &amp; Bridge to New Lesson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"Now substitute the side length </a:t>
                </a:r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𝑠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</m:t>
                        </m:r>
                      </m:den>
                    </m:f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 </m:t>
                    </m:r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m</m:t>
                    </m:r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into the formula. How do we write that expression?"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𝐴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100" b="0" i="1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</m:ctrlPr>
                              </m:fPr>
                              <m:num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hoặc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</m:t>
                        </m:r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×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).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Teacher Guide: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"Let's calculate: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</m:t>
                        </m:r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×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</m:t>
                        </m:r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3×3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10×10</m:t>
                        </m:r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3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10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9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100</m:t>
                        </m:r>
                      </m:den>
                    </m:f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m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"Notice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100" b="0" i="1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</m:ctrlPr>
                              </m:fPr>
                              <m:num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becomes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3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10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 This is the power of a rational number!"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4: Model Board Presentation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 Solution: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The area of the base of the flower pot is: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𝐴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𝑠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100" b="0" i="1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</m:ctrlPr>
                              </m:fPr>
                              <m:num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3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sSupPr>
                          <m:e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10</m:t>
                            </m:r>
                          </m:e>
                          <m:sup>
                            <m:r>
                              <a:rPr lang="en-US" sz="1100" b="0" i="0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=</m:t>
                    </m:r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9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100</m:t>
                        </m:r>
                      </m:den>
                    </m:f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m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)</m:t>
                    </m:r>
                  </m:oMath>
                </a14:m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Answer: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9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100</m:t>
                        </m:r>
                      </m:den>
                    </m:f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m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(or </a:t>
                </a:r>
                <a14:m>
                  <m:oMath xmlns:m="http://schemas.openxmlformats.org/officeDocument/2006/math">
                    <m:r>
                      <a:rPr lang="en-US" sz="1100" b="0" i="0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rPr>
                      <m:t>0.09</m:t>
                    </m:r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Arial" panose="020B0604020202020204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m</m:t>
                        </m:r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5: Speaking Practice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0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(chorus)</a:t>
                </a:r>
              </a:p>
              <a:p>
                <a:pPr lvl="1"/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"To find the area of the square base,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100" b="0" i="1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</m:ctrlPr>
                              </m:fPr>
                              <m:num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100" b="0" i="1" u="none" strike="noStrike" cap="none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Arial" panose="020B0604020202020204"/>
                                <a:cs typeface="Arial" panose="020B0604020202020204"/>
                                <a:sym typeface="Arial" panose="020B0604020202020204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100" b="0" i="1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</m:ctrlPr>
                              </m:fPr>
                              <m:num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sz="1100" b="0" i="0" u="none" strike="noStrike" cap="none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Arial" panose="020B0604020202020204"/>
                                    <a:cs typeface="Arial" panose="020B0604020202020204"/>
                                    <a:sym typeface="Arial" panose="020B0604020202020204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equals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100" b="0" i="1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</m:ctrlPr>
                      </m:fPr>
                      <m:num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9</m:t>
                        </m:r>
                      </m:num>
                      <m:den>
                        <m:r>
                          <a:rPr lang="en-US" sz="1100" b="0" i="0" u="none" strike="noStrike" cap="none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Arial" panose="020B0604020202020204"/>
                            <a:cs typeface="Arial" panose="020B0604020202020204"/>
                            <a:sym typeface="Arial" panose="020B0604020202020204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square meters."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i="1" dirty="0">
                  <a:solidFill>
                    <a:srgbClr val="595959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</p:txBody>
          </p:sp>
        </mc:Choice>
        <mc:Fallback xmlns="">
          <p:sp>
            <p:nvSpPr>
              <p:cNvPr id="1330" name="Google Shape;1330;gd431007ba2_0_215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 panose="020B0604020202020204"/>
                  <a:buNone/>
                </a:pPr>
                <a:endParaRPr sz="1200" i="1" dirty="0">
                  <a:solidFill>
                    <a:srgbClr val="595959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1: Understand the Problem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"Look at the problem. What shape is the base of the flower pot?"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"What information is given?"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"What do we need to find?"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Responses: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Shape: A </a:t>
                </a: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square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Given: The side length is </a:t>
                </a:r>
                <a:r>
                  <a:rPr lang="en-US" sz="1100" b="1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𝟑/𝟏𝟎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 m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Task: Find the </a:t>
                </a: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area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of the base.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2: Recall &amp; Connect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"Who remembers the formula for the area of a square?"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Response:</a:t>
                </a:r>
                <a:r>
                  <a:rPr lang="en-US" sz="1100" b="0" i="0" u="none" strike="noStrike" cap="none" baseline="0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"Area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"=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"side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"×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"side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(or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𝐴=𝑠^2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).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Teacher Scaffold: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"Exactly! To find the area of a square, we multiply the side length by itself, which means we square the side length: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𝐴=𝑠^2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3: Execute &amp; Bridge to New Lesson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"Now substitute the side length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𝑠=3/10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 m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into the formula. How do we write that expression?"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Expected Student Response: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𝐴=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3/10)^2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 dirty="0" err="1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hoặc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3/10×3/10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).</a:t>
                </a:r>
              </a:p>
              <a:p>
                <a:pPr marL="158750" lvl="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Teacher Guide: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"Let's calculate: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3/10×3/10=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3×3)/(10×10)=3^2/10^2 =9/100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〖"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m" 〗^2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</a:p>
              <a:p>
                <a:pPr lvl="1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"Notice how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3/10)^2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becomes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3^2/10^2 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 This is the power of a rational number!"</a:t>
                </a: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4: Model Board Presentation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           Solution: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The area of the base of the flower pot is: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𝐴=𝑠^2=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3/10)^2=3^2/10^2 =9/100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〖"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(m" 〗^2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Cambria Math" panose="02040503050406030204" pitchFamily="18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")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Answer:</a:t>
                </a:r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9/100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〖"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m" 〗^2</a:t>
                </a:r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(or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0.09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〖"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m" 〗^2</a:t>
                </a:r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)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158750" indent="0">
                  <a:buNone/>
                </a:pPr>
                <a:r>
                  <a:rPr lang="en-US" sz="1100" b="1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Step 5: Speaking Practice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0"/>
                <a:r>
                  <a:rPr lang="en-US" sz="1100" b="0" i="0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(chorus)</a:t>
                </a:r>
              </a:p>
              <a:p>
                <a:pPr lvl="1"/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"To find the area of the square base, we calculate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3/10)^2</a:t>
                </a:r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."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lvl="1"/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"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rPr>
                  <a:t>(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3/10)^2</a:t>
                </a:r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equals  </a:t>
                </a:r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9/100</a:t>
                </a:r>
                <a:r>
                  <a:rPr lang="en-US" sz="1100" b="0" i="1" u="none" strike="noStrike" cap="none" dirty="0">
                    <a:solidFill>
                      <a:srgbClr val="000000"/>
                    </a:solidFill>
                    <a:effectLst/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 square meters."</a:t>
                </a:r>
                <a:endParaRPr lang="en-US" sz="1100" b="0" i="0" u="none" strike="noStrike" cap="none" dirty="0">
                  <a:solidFill>
                    <a:srgbClr val="000000"/>
                  </a:solidFill>
                  <a:effectLst/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i="1" dirty="0">
                  <a:solidFill>
                    <a:srgbClr val="595959"/>
                  </a:solidFill>
                  <a:latin typeface="Anaheim"/>
                  <a:ea typeface="Anaheim"/>
                  <a:cs typeface="Anaheim"/>
                  <a:sym typeface="Anaheim"/>
                </a:endParaRPr>
              </a:p>
            </p:txBody>
          </p:sp>
        </mc:Fallback>
      </mc:AlternateContent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8F24CE66-FA45-CB3C-F2C9-F6F564F0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3B9AC4A2-6D85-8EEC-B140-C9A61B6B1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784D4CB5-0E9D-9448-0D0A-BB68EBAC16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653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24D435D5-655D-D147-E774-B0F79D2E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FC822A7D-9B0B-E866-327B-CD982A509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8BFE02B2-6F46-FE8C-4CD2-4FCCC6DE6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6538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64843A2A-D6EA-A630-64BE-E7A4B8C2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9B3C5414-0558-2000-2F74-50EC15757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187CFBA1-65CF-DD27-1EF9-2B7B55BA6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39199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173CCDA6-1553-53C6-7C6D-C9CCFEFF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CBF1E3F3-3D64-4B2E-CB02-9E56D8D583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6A6D6017-F07B-0292-ADA9-B3B632371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70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49E430B9-0069-AE1C-FFE8-10C5900A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9B6F92EC-3160-2431-409A-DBE280907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7A4733E7-BE4C-A6F7-8248-51C1DC0E6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50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5D429E5D-31F5-BFAA-6F7F-3AFAD4B5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48AA0398-EA9B-90D9-25DB-E079A5A6D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442495E0-19F4-0476-9958-42832C964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1362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9">
          <a:extLst>
            <a:ext uri="{FF2B5EF4-FFF2-40B4-BE49-F238E27FC236}">
              <a16:creationId xmlns:a16="http://schemas.microsoft.com/office/drawing/2014/main" id="{C55F8424-5899-934A-F7AF-435F04C6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14072739ea5_12_0:notes">
            <a:extLst>
              <a:ext uri="{FF2B5EF4-FFF2-40B4-BE49-F238E27FC236}">
                <a16:creationId xmlns:a16="http://schemas.microsoft.com/office/drawing/2014/main" id="{4F67AF33-BF72-4500-F298-CB1B2242D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1" name="Google Shape;1571;g14072739ea5_12_0:notes">
            <a:extLst>
              <a:ext uri="{FF2B5EF4-FFF2-40B4-BE49-F238E27FC236}">
                <a16:creationId xmlns:a16="http://schemas.microsoft.com/office/drawing/2014/main" id="{DA626840-B7C2-D1CD-73FA-E2DB91C81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266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6" name="Google Shape;1356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>
          <a:extLst>
            <a:ext uri="{FF2B5EF4-FFF2-40B4-BE49-F238E27FC236}">
              <a16:creationId xmlns:a16="http://schemas.microsoft.com/office/drawing/2014/main" id="{1C5C3758-9204-AEB1-351A-379885DD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>
            <a:extLst>
              <a:ext uri="{FF2B5EF4-FFF2-40B4-BE49-F238E27FC236}">
                <a16:creationId xmlns:a16="http://schemas.microsoft.com/office/drawing/2014/main" id="{27BF600D-E3FE-BCAD-F5B1-D061BC794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6" name="Google Shape;1356;g54dda1946d_6_257:notes">
            <a:extLst>
              <a:ext uri="{FF2B5EF4-FFF2-40B4-BE49-F238E27FC236}">
                <a16:creationId xmlns:a16="http://schemas.microsoft.com/office/drawing/2014/main" id="{DB8D6C86-F9FE-11DA-4BEF-DACBB38DBE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904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4">
          <a:extLst>
            <a:ext uri="{FF2B5EF4-FFF2-40B4-BE49-F238E27FC236}">
              <a16:creationId xmlns:a16="http://schemas.microsoft.com/office/drawing/2014/main" id="{847DAC2A-C7E4-A20C-B5E1-1BA446DA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54dda1946d_6_257:notes">
            <a:extLst>
              <a:ext uri="{FF2B5EF4-FFF2-40B4-BE49-F238E27FC236}">
                <a16:creationId xmlns:a16="http://schemas.microsoft.com/office/drawing/2014/main" id="{4A0CEA48-B6FD-C4EB-FA6B-D2085FAD16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356" name="Google Shape;1356;g54dda1946d_6_257:notes">
            <a:extLst>
              <a:ext uri="{FF2B5EF4-FFF2-40B4-BE49-F238E27FC236}">
                <a16:creationId xmlns:a16="http://schemas.microsoft.com/office/drawing/2014/main" id="{3C4282A3-E6EE-F2CB-9C27-E90B89D74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4120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3" name="Google Shape;160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>
          <a:extLst>
            <a:ext uri="{FF2B5EF4-FFF2-40B4-BE49-F238E27FC236}">
              <a16:creationId xmlns:a16="http://schemas.microsoft.com/office/drawing/2014/main" id="{FD2E8854-502A-42CF-9BD2-87CA2D66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>
            <a:extLst>
              <a:ext uri="{FF2B5EF4-FFF2-40B4-BE49-F238E27FC236}">
                <a16:creationId xmlns:a16="http://schemas.microsoft.com/office/drawing/2014/main" id="{3213E184-E159-155F-EA09-F820667AE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3" name="Google Shape;1603;g54dda1946d_6_332:notes">
            <a:extLst>
              <a:ext uri="{FF2B5EF4-FFF2-40B4-BE49-F238E27FC236}">
                <a16:creationId xmlns:a16="http://schemas.microsoft.com/office/drawing/2014/main" id="{EF0E44B5-C649-B2A7-6EA8-EED4A6322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5190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1">
          <a:extLst>
            <a:ext uri="{FF2B5EF4-FFF2-40B4-BE49-F238E27FC236}">
              <a16:creationId xmlns:a16="http://schemas.microsoft.com/office/drawing/2014/main" id="{B8793BF1-D1C1-11CA-069D-DDE0CD84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g54dda1946d_6_332:notes">
            <a:extLst>
              <a:ext uri="{FF2B5EF4-FFF2-40B4-BE49-F238E27FC236}">
                <a16:creationId xmlns:a16="http://schemas.microsoft.com/office/drawing/2014/main" id="{D8F42641-ECA9-9F08-3758-6939CD1EC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03" name="Google Shape;1603;g54dda1946d_6_332:notes">
            <a:extLst>
              <a:ext uri="{FF2B5EF4-FFF2-40B4-BE49-F238E27FC236}">
                <a16:creationId xmlns:a16="http://schemas.microsoft.com/office/drawing/2014/main" id="{C46D368F-21F1-AF4D-70B4-323DD980A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073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>
          <a:extLst>
            <a:ext uri="{FF2B5EF4-FFF2-40B4-BE49-F238E27FC236}">
              <a16:creationId xmlns:a16="http://schemas.microsoft.com/office/drawing/2014/main" id="{74022B38-1A1E-3DEE-F98F-A7AC0505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>
            <a:extLst>
              <a:ext uri="{FF2B5EF4-FFF2-40B4-BE49-F238E27FC236}">
                <a16:creationId xmlns:a16="http://schemas.microsoft.com/office/drawing/2014/main" id="{FCC12FAD-EA14-42BB-9C08-7F8118F6B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>
            <a:extLst>
              <a:ext uri="{FF2B5EF4-FFF2-40B4-BE49-F238E27FC236}">
                <a16:creationId xmlns:a16="http://schemas.microsoft.com/office/drawing/2014/main" id="{90ABD0BD-C412-D080-6068-BEF00D01D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77566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642" name="Google Shape;16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66" name="Google Shape;2666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17DD39-DCA5-1CB2-4354-970911429F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99615-FD05-0B41-9FD0-FB9278407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userDrawn="1">
  <p:cSld name="SECTION_TITLE_AND_DESCRIPTION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3A1B0-5508-90E1-554C-D773381AD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00138-C60B-9E78-97EB-63677C646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F05AF3-2D60-A533-E3A0-09DFC8643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870960" y="20402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0BAE9-4EAE-1C81-0F2A-EA74B4A835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2A63FA-6A41-4082-4B67-AD6DB9AF83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userDrawn="1">
  <p:cSld name="BLANK_1_1_1_1_1_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8E739E-8C32-767F-5D1C-5E3D7326C5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274DBE-A5E3-AFB5-CED3-92B356E37D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_AND_TWO_COLUMNS_1"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5B64EF-65A6-EB3E-D618-C86544B31E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83ED1C-2341-E119-0961-84131F9D45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userDrawn="1">
  <p:cSld name="TITLE_AND_TWO_COLUMNS_1_1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64E93C-D802-F49A-73C6-9BFDCB1293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DAE76F-7378-7C9E-E9FE-2DC9BB8AB0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userDrawn="1">
  <p:cSld name="CUSTOM_6"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0E0C8-97ED-0549-42EC-FEB7C18A7A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9A8B5-03DB-51DC-B999-A0C0BB5AA2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userDrawn="1">
  <p:cSld name="CUSTOM_3_1"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EEED67-522D-5806-2B84-C4F51E104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BF518D-ECB2-0F19-E6E6-4F644A5590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92BA32-19A3-2C0F-53B5-DA6F0895B8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8CCA18-6A47-6868-4E36-55C90FCECD4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24173-34D6-9361-A876-534EE497C6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DA740C-0F5B-3FDE-430C-418BF540D5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Epilogue"/>
              <a:buNone/>
              <a:defRPr sz="31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Epilogue"/>
              <a:buNone/>
              <a:defRPr sz="35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C0483-770D-3DA7-EB06-2D98AD30FCE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7" t="28243" r="15133" b="40216"/>
          <a:stretch>
            <a:fillRect/>
          </a:stretch>
        </p:blipFill>
        <p:spPr>
          <a:xfrm>
            <a:off x="3718560" y="1887877"/>
            <a:ext cx="5856320" cy="3568949"/>
          </a:xfrm>
          <a:prstGeom prst="rect">
            <a:avLst/>
          </a:prstGeom>
          <a:scene3d>
            <a:camera prst="orthographicFront"/>
            <a:lightRig rig="glow" dir="t"/>
          </a:scene3d>
          <a:sp3d prstMaterial="clear"/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13.png"/><Relationship Id="rId3" Type="http://schemas.microsoft.com/office/2007/relationships/media" Target="../media/media2.mp3"/><Relationship Id="rId7" Type="http://schemas.openxmlformats.org/officeDocument/2006/relationships/slideLayout" Target="../slideLayouts/slideLayout5.xml"/><Relationship Id="rId12" Type="http://schemas.openxmlformats.org/officeDocument/2006/relationships/image" Target="../media/image12.tmp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11.tmp"/><Relationship Id="rId5" Type="http://schemas.microsoft.com/office/2007/relationships/media" Target="../media/media3.mp3"/><Relationship Id="rId10" Type="http://schemas.openxmlformats.org/officeDocument/2006/relationships/image" Target="../media/image10.tmp"/><Relationship Id="rId4" Type="http://schemas.openxmlformats.org/officeDocument/2006/relationships/audio" Target="../media/media2.mp3"/><Relationship Id="rId9" Type="http://schemas.openxmlformats.org/officeDocument/2006/relationships/image" Target="../media/image9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468;p35"/>
          <p:cNvSpPr txBox="1">
            <a:spLocks noGrp="1"/>
          </p:cNvSpPr>
          <p:nvPr>
            <p:ph type="ctrTitle" idx="4294967295"/>
          </p:nvPr>
        </p:nvSpPr>
        <p:spPr>
          <a:xfrm>
            <a:off x="711433" y="-244380"/>
            <a:ext cx="7721133" cy="3652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Chapter 1: </a:t>
            </a:r>
            <a:br>
              <a:rPr lang="en-US" sz="3200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Rational Numbers</a:t>
            </a: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u="sng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Lesson 6: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sz="3200" dirty="0">
                <a:solidFill>
                  <a:schemeClr val="accent2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8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Basic Rules of Algebra</a:t>
            </a:r>
            <a:endParaRPr sz="32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Google Shape;873;p39"/>
          <p:cNvSpPr txBox="1"/>
          <p:nvPr/>
        </p:nvSpPr>
        <p:spPr>
          <a:xfrm rot="21599545">
            <a:off x="5460781" y="412693"/>
            <a:ext cx="2971757" cy="426300"/>
          </a:xfrm>
          <a:prstGeom prst="rect">
            <a:avLst/>
          </a:prstGeom>
          <a:noFill/>
          <a:ln w="9525" cap="flat" cmpd="sng">
            <a:noFill/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ague Spartan"/>
              <a:buNone/>
              <a:defRPr sz="16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ague Spartan"/>
              <a:buNone/>
              <a:defRPr sz="1800" b="0" i="0" u="none" strike="noStrike" cap="non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9pPr>
          </a:lstStyle>
          <a:p>
            <a:pPr marL="0" indent="0" algn="r"/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Let’s explore English in </a:t>
            </a:r>
            <a:r>
              <a:rPr lang="en-US" sz="14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Maths</a:t>
            </a:r>
            <a:r>
              <a:rPr lang="en-US" sz="14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714883" y="780425"/>
            <a:ext cx="1181382" cy="711068"/>
            <a:chOff x="6695871" y="965003"/>
            <a:chExt cx="1181382" cy="711068"/>
          </a:xfrm>
        </p:grpSpPr>
        <p:sp>
          <p:nvSpPr>
            <p:cNvPr id="4" name="Oval 3"/>
            <p:cNvSpPr/>
            <p:nvPr/>
          </p:nvSpPr>
          <p:spPr>
            <a:xfrm>
              <a:off x="6727434" y="965003"/>
              <a:ext cx="1081255" cy="711068"/>
            </a:xfrm>
            <a:prstGeom prst="ellipse">
              <a:avLst/>
            </a:prstGeom>
            <a:solidFill>
              <a:srgbClr val="FADD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5" name="Google Shape;1470;p35"/>
            <p:cNvSpPr txBox="1"/>
            <p:nvPr/>
          </p:nvSpPr>
          <p:spPr>
            <a:xfrm>
              <a:off x="6695871" y="1122073"/>
              <a:ext cx="1181382" cy="3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 panose="020B0604020202020204"/>
                <a:buNone/>
              </a:pPr>
              <a:r>
                <a:rPr lang="en-GB" b="1">
                  <a:solidFill>
                    <a:schemeClr val="dk1"/>
                  </a:solidFill>
                  <a:latin typeface="+mj-lt"/>
                  <a:ea typeface="SimSun" panose="02010600030101010101" pitchFamily="2" charset="-122"/>
                  <a:cs typeface="Segoe UI" panose="020B0502040204020203" pitchFamily="34" charset="0"/>
                  <a:sym typeface="Sora"/>
                </a:rPr>
                <a:t>Grade 7</a:t>
              </a:r>
              <a:endParaRPr b="1">
                <a:solidFill>
                  <a:schemeClr val="dk1"/>
                </a:solidFill>
                <a:latin typeface="+mj-lt"/>
                <a:ea typeface="SimSun" panose="02010600030101010101" pitchFamily="2" charset="-122"/>
                <a:cs typeface="Segoe UI" panose="020B0502040204020203" pitchFamily="34" charset="0"/>
                <a:sym typeface="Cabi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3C73C8-2EC7-C1F1-66AD-44977AD7B243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E781AD0-121A-ECEA-4E6F-993A81461AAA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4C2846-165B-75A8-581E-D4C259833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BA00A9A-0326-DBB6-BC49-A8696E3E6A70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FFC7E36-E45E-6EB3-5723-F70F27111FE9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960D85-1A51-B9A3-530C-A4D25FF225D2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 dirty="0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Lead-in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222EA2D-FF66-F820-B2FB-81C910AA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32" y="647972"/>
            <a:ext cx="6047058" cy="20221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0200007-C8FF-A972-4724-D3C93FA194B6}"/>
              </a:ext>
            </a:extLst>
          </p:cNvPr>
          <p:cNvSpPr txBox="1"/>
          <p:nvPr/>
        </p:nvSpPr>
        <p:spPr>
          <a:xfrm>
            <a:off x="4617706" y="2534233"/>
            <a:ext cx="5708059" cy="2449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The solution is corrected: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“There are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           1 – (0.2 + 0.3)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       =  1 – 0.2 – 0.3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       =  0.5 liters of </a:t>
            </a:r>
            <a:r>
              <a:rPr lang="vi-VN" sz="2300" b="1" dirty="0">
                <a:solidFill>
                  <a:srgbClr val="FF0000"/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water”</a:t>
            </a:r>
            <a:endParaRPr lang="en-US" sz="2300" dirty="0">
              <a:solidFill>
                <a:srgbClr val="FF0000"/>
              </a:solidFill>
              <a:latin typeface="Segoe  U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E16446-7B4B-7D01-5737-6644B98DD5EE}"/>
              </a:ext>
            </a:extLst>
          </p:cNvPr>
          <p:cNvGrpSpPr/>
          <p:nvPr/>
        </p:nvGrpSpPr>
        <p:grpSpPr>
          <a:xfrm>
            <a:off x="501445" y="2735826"/>
            <a:ext cx="3775587" cy="1759702"/>
            <a:chOff x="501445" y="2735826"/>
            <a:chExt cx="3775587" cy="175970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322ECF1-39F4-BF11-6258-A8961622DAD7}"/>
                </a:ext>
              </a:extLst>
            </p:cNvPr>
            <p:cNvSpPr/>
            <p:nvPr/>
          </p:nvSpPr>
          <p:spPr>
            <a:xfrm>
              <a:off x="501445" y="2735826"/>
              <a:ext cx="3775587" cy="1759702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E645F2-74FC-B9CB-F556-7AD6179E8BA0}"/>
                </a:ext>
              </a:extLst>
            </p:cNvPr>
            <p:cNvSpPr txBox="1"/>
            <p:nvPr/>
          </p:nvSpPr>
          <p:spPr>
            <a:xfrm>
              <a:off x="753381" y="3210830"/>
              <a:ext cx="3349149" cy="853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400" b="1" dirty="0">
                  <a:solidFill>
                    <a:srgbClr val="FF0000"/>
                  </a:solidFill>
                  <a:latin typeface="Segoe  UI"/>
                  <a:ea typeface="Calibri" panose="020F0502020204030204" pitchFamily="34" charset="0"/>
                  <a:cs typeface="Segoe UI" panose="020B0502040204020203" pitchFamily="34" charset="0"/>
                </a:rPr>
                <a:t>There is a mistake in Lan’s solution</a:t>
              </a: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EBDF31F-7804-A679-3D79-53A906E6BBFC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8942F17-6341-DDBE-7AD2-C263E590678E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FCB392-E267-FFCC-3B7B-205E99C6A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/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/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/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60ACCC-F08B-CB8E-8C5B-149D8527E2C9}"/>
              </a:ext>
            </a:extLst>
          </p:cNvPr>
          <p:cNvSpPr/>
          <p:nvPr/>
        </p:nvSpPr>
        <p:spPr>
          <a:xfrm>
            <a:off x="1506226" y="2822289"/>
            <a:ext cx="6131548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A mathematical statement that shows two expressions are equal.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2x + 3 = 9 is an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48562E-CD2D-78A1-6739-902AD5349D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0" t="7877" r="75620" b="75506"/>
          <a:stretch>
            <a:fillRect/>
          </a:stretch>
        </p:blipFill>
        <p:spPr>
          <a:xfrm>
            <a:off x="447942" y="931507"/>
            <a:ext cx="3462561" cy="13300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19A0674-17DD-58E3-F6D0-36715A0E5A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9" t="23421" r="75537" b="53008"/>
          <a:stretch>
            <a:fillRect/>
          </a:stretch>
        </p:blipFill>
        <p:spPr>
          <a:xfrm>
            <a:off x="4254802" y="587717"/>
            <a:ext cx="3994287" cy="207329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73D7C57-6997-0CF8-ED19-1E4CB45E3ADA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6AF3812-2175-D40E-2C4B-C30BC77EB826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E150CB-F088-05CE-F6E6-70108FC3448B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E9D58E80-FE0C-8E99-13F9-AD23548C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1055D7E-7CCD-12C3-A8EB-3269D00B501C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7CBA868-4455-CAC3-917A-4818CAD246A0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749FD0A-0063-E948-7701-7497E04DE5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F91E33A5-817E-9723-CFB0-47BD0ECA1B5F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AC689321-4821-1354-1002-57711A3A27FA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C07A298C-9AAC-6785-65B3-D9DD4786F0EC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110F2E-1152-EEB7-8227-F1F4DA75B8FF}"/>
              </a:ext>
            </a:extLst>
          </p:cNvPr>
          <p:cNvSpPr/>
          <p:nvPr/>
        </p:nvSpPr>
        <p:spPr>
          <a:xfrm>
            <a:off x="1506226" y="2822289"/>
            <a:ext cx="6131548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A mathematical phrase made up of numbers, variables, and operations, without an equals sign.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3x − 5 is an algebraic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expression.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2E4CF4-FDED-96E8-476B-6B107C57D5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860" t="6605" r="51239" b="72646"/>
          <a:stretch>
            <a:fillRect/>
          </a:stretch>
        </p:blipFill>
        <p:spPr>
          <a:xfrm>
            <a:off x="571993" y="848517"/>
            <a:ext cx="3538795" cy="16763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4E9AAF-FB88-141F-E857-BA0C8C768C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51" t="25524" r="51439" b="52379"/>
          <a:stretch>
            <a:fillRect/>
          </a:stretch>
        </p:blipFill>
        <p:spPr>
          <a:xfrm>
            <a:off x="4366340" y="756348"/>
            <a:ext cx="3539251" cy="176856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F35FC9E-C7C3-BE35-BA16-3A341FBD0082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F9A4C82-1E67-6811-C317-6405945D7BB4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3C4AFF-BBCF-E029-7919-5380F50C0666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03866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B27D44CB-91A1-5B44-4D47-1C9C72309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1F60FE4-7B33-27DB-ABF0-44A0022C828C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52D3A2A-0388-33F0-8932-57B339DEA5E5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1E703A4-9F8F-FD56-DEA4-FB5C3B9CF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8EB8EA23-75B5-11B9-4786-EAB2F2D12CC2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942E8711-B046-7A86-EE29-2E7D1C755B08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DBE39DAA-0F97-84B4-211A-5F1D4D236765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DAD00F-9568-138A-B544-0615D035F303}"/>
              </a:ext>
            </a:extLst>
          </p:cNvPr>
          <p:cNvSpPr/>
          <p:nvPr/>
        </p:nvSpPr>
        <p:spPr>
          <a:xfrm>
            <a:off x="1032723" y="2822289"/>
            <a:ext cx="7078554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The expression to the left of the equals sign in an equation.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2x + 3 = 9, 2x + 3 is the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left-hand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side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E5D6F5-B404-A7AA-1212-C9B7E3F7E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322" t="3172" r="26425" b="72597"/>
          <a:stretch>
            <a:fillRect/>
          </a:stretch>
        </p:blipFill>
        <p:spPr>
          <a:xfrm>
            <a:off x="627415" y="753898"/>
            <a:ext cx="3338833" cy="18178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7C6288-A5C2-DB69-DB54-F313A6D0EF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210" t="27137" r="26424" b="52379"/>
          <a:stretch>
            <a:fillRect/>
          </a:stretch>
        </p:blipFill>
        <p:spPr>
          <a:xfrm>
            <a:off x="4286173" y="753898"/>
            <a:ext cx="3969667" cy="181785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C22D66A-E38B-058D-364C-6C5DCA5E2B4C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4E60D95-14A6-262E-F2F4-AE10D49631BB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79478B-0B4A-D5C5-F485-60B6253849B6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34581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91E5E763-CDA7-BD41-EDBE-06A40B399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A399F06-3678-97CB-E8AD-79C4ECE35CCA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7924CA1-5AC8-DD76-C7C6-49C48E609BD6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811B16B-C5A3-3FAF-1CC7-AA9E58A7F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07C71F18-46B3-FDFD-117C-11FF8251BBD4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FEFA3CFF-DCE2-7929-C01D-BD1B2C92C2A7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C1D6D3B5-1F71-E72E-9413-A071407EA46E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F0D402-5A24-32AC-31D8-0BCD3C112489}"/>
              </a:ext>
            </a:extLst>
          </p:cNvPr>
          <p:cNvSpPr/>
          <p:nvPr/>
        </p:nvSpPr>
        <p:spPr>
          <a:xfrm>
            <a:off x="934481" y="2822289"/>
            <a:ext cx="7275038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The expression to the right of the equals sign in an equation.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2x + 3 = 9, 9 is the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right-hand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side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3E101F-F926-1A0A-9051-D0B868810F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29" t="3266" r="2753" b="72303"/>
          <a:stretch>
            <a:fillRect/>
          </a:stretch>
        </p:blipFill>
        <p:spPr>
          <a:xfrm>
            <a:off x="596732" y="728221"/>
            <a:ext cx="3223101" cy="18644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07DE70-9D80-BCFF-D7D6-4A483C9980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915" t="26976" r="1758" b="54124"/>
          <a:stretch>
            <a:fillRect/>
          </a:stretch>
        </p:blipFill>
        <p:spPr>
          <a:xfrm>
            <a:off x="4463931" y="762637"/>
            <a:ext cx="4108776" cy="17391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15555EF-CA55-247A-5668-5FEC8B0F90D4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32084E5-DFA3-3418-3037-F54D7BBA96CB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D74B79-6CFA-7DE5-D783-27666024241C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20126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0579DD69-9D66-169A-9FAE-82515459A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BDA8371-749A-379B-1190-741AA122EBB3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41B827B-1617-E6AC-5509-7B80B29682A5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6C4C09-5046-65C7-718E-F438A680A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FDB0F5CA-844E-67DC-A071-38FC01726514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DA90EDFB-951A-DD21-8B84-166B863490A8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201907AE-AC9D-013A-7836-66D169E05A05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6362EC-76A8-8855-1391-4B1BD32D95D7}"/>
              </a:ext>
            </a:extLst>
          </p:cNvPr>
          <p:cNvSpPr/>
          <p:nvPr/>
        </p:nvSpPr>
        <p:spPr>
          <a:xfrm>
            <a:off x="1506226" y="2822289"/>
            <a:ext cx="6131548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The plus sign (+), which indicates addition or a positive value.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x + 5 = 12, the + is a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positive sign.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3471FE-2CA1-2FEE-1056-3CAFDD226A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4" t="52621" r="79274" b="24153"/>
          <a:stretch>
            <a:fillRect/>
          </a:stretch>
        </p:blipFill>
        <p:spPr>
          <a:xfrm>
            <a:off x="692191" y="756348"/>
            <a:ext cx="2477729" cy="18877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03CF31-0EC4-650E-FD7E-E8DDCF295F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8" t="75685" r="75646" b="3958"/>
          <a:stretch>
            <a:fillRect/>
          </a:stretch>
        </p:blipFill>
        <p:spPr>
          <a:xfrm>
            <a:off x="4163813" y="756348"/>
            <a:ext cx="4190859" cy="188779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E420798-8B33-437B-077E-D057036B34D0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573D46F-C343-02B2-B5C2-EC5BFA8ADA25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EB04F1B-D848-4D5C-E76A-73FAB3613846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77475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1B069BDE-343D-9A45-B74D-D805F7E3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43BAEA4-50EA-A663-2699-D815342187CB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1440128-3140-8E85-FB44-2C7F23909D44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8270034-1D4B-52F2-E320-A2B1E278A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40F98DE6-D6A9-E077-52BE-2356C0C53EFE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09A26442-8202-A094-D166-1E5B6A57A2F8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1905F634-7A5A-003B-AF09-5C5A04DD4E27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12240A-8DA4-538E-A6D6-CC8573A43621}"/>
              </a:ext>
            </a:extLst>
          </p:cNvPr>
          <p:cNvSpPr/>
          <p:nvPr/>
        </p:nvSpPr>
        <p:spPr>
          <a:xfrm>
            <a:off x="1506226" y="2822289"/>
            <a:ext cx="6131548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The minus sign (−), which indicates subtraction or a negative value.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3x − 7 = 8, the − is a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negative sign.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0CCE15-EB76-D98B-1BFD-2DA0610877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29" t="55480" r="53387" b="25605"/>
          <a:stretch>
            <a:fillRect/>
          </a:stretch>
        </p:blipFill>
        <p:spPr>
          <a:xfrm>
            <a:off x="612058" y="814296"/>
            <a:ext cx="3341822" cy="17574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B9E8F7-2F91-79A7-229C-53A504CB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371" t="73482" r="50887" b="3669"/>
          <a:stretch>
            <a:fillRect/>
          </a:stretch>
        </p:blipFill>
        <p:spPr>
          <a:xfrm>
            <a:off x="4326050" y="664834"/>
            <a:ext cx="3912282" cy="19653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8FEE27F-52D3-F1E5-D32E-26BF866DC963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B4E403C-269E-1396-275F-7AB263F32279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A32245-72CB-8380-1020-DAE0F245EAB0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56385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6B527EF1-EDDA-EA64-149F-FFE22476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6D09641-F826-67E1-269A-D7D57707D8D6}"/>
              </a:ext>
            </a:extLst>
          </p:cNvPr>
          <p:cNvGrpSpPr/>
          <p:nvPr/>
        </p:nvGrpSpPr>
        <p:grpSpPr>
          <a:xfrm>
            <a:off x="160771" y="236220"/>
            <a:ext cx="9414109" cy="5220606"/>
            <a:chOff x="160771" y="236220"/>
            <a:chExt cx="9414109" cy="522060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354B828-C604-6D34-D7CD-40204FF2ACDC}"/>
                </a:ext>
              </a:extLst>
            </p:cNvPr>
            <p:cNvSpPr/>
            <p:nvPr/>
          </p:nvSpPr>
          <p:spPr>
            <a:xfrm>
              <a:off x="160771" y="236220"/>
              <a:ext cx="8731769" cy="4701540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FA3D41-2E37-FEF0-BE24-8F1AB735B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87" t="28243" r="15133" b="40216"/>
            <a:stretch>
              <a:fillRect/>
            </a:stretch>
          </p:blipFill>
          <p:spPr>
            <a:xfrm>
              <a:off x="3718560" y="1887877"/>
              <a:ext cx="5856320" cy="3568949"/>
            </a:xfrm>
            <a:prstGeom prst="rect">
              <a:avLst/>
            </a:prstGeom>
            <a:scene3d>
              <a:camera prst="orthographicFront"/>
              <a:lightRig rig="glow" dir="t"/>
            </a:scene3d>
            <a:sp3d prstMaterial="clear"/>
          </p:spPr>
        </p:pic>
      </p:grpSp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FC95A4E8-60E1-FF6A-3AF7-EAAD2B3C8FAA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58F8E33E-3378-1178-D91E-C82CA25F52B5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825918B8-BC73-946B-2DB9-E7E2A9BEF402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33AF9B-40E0-F1EE-AD0E-2F4D111E8F3B}"/>
              </a:ext>
            </a:extLst>
          </p:cNvPr>
          <p:cNvSpPr/>
          <p:nvPr/>
        </p:nvSpPr>
        <p:spPr>
          <a:xfrm>
            <a:off x="1251303" y="2822289"/>
            <a:ext cx="6641394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</a:rPr>
              <a:t>A pair of symbols used to group numbers, variables, or expressions.</a:t>
            </a:r>
          </a:p>
          <a:p>
            <a:pPr algn="ctr"/>
            <a:endParaRPr lang="en-US" sz="2000" dirty="0">
              <a:solidFill>
                <a:schemeClr val="bg1">
                  <a:lumMod val="10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Example: 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2(x + 3), (x + 3) is a 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bracketed</a:t>
            </a: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expression</a:t>
            </a:r>
            <a:r>
              <a:rPr lang="en-US" sz="2000" b="1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893798-BCFF-FF97-B0E9-F27730A9BB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951" t="52298" r="29839" b="23508"/>
          <a:stretch>
            <a:fillRect/>
          </a:stretch>
        </p:blipFill>
        <p:spPr>
          <a:xfrm>
            <a:off x="566121" y="664834"/>
            <a:ext cx="2759872" cy="20596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4E03F0-882A-FD21-E331-B958C368FC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968" t="76008" r="26371" b="3669"/>
          <a:stretch>
            <a:fillRect/>
          </a:stretch>
        </p:blipFill>
        <p:spPr>
          <a:xfrm>
            <a:off x="3867486" y="664440"/>
            <a:ext cx="4079461" cy="18292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FDDF828-B36D-934C-3B87-C97ABB044781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CD94225-3276-492C-ABBB-137483A83053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898A378-25BD-CADE-AD07-B6409B61315A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18166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2">
          <a:extLst>
            <a:ext uri="{FF2B5EF4-FFF2-40B4-BE49-F238E27FC236}">
              <a16:creationId xmlns:a16="http://schemas.microsoft.com/office/drawing/2014/main" id="{7178FE87-16A8-D3CC-C9EE-D15B59107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BCDCD1-71F2-F175-72C2-A6C3801DBFEF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86652-5FDB-B236-E5B9-5349875D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0" y="704839"/>
            <a:ext cx="7865540" cy="3932770"/>
          </a:xfrm>
          <a:prstGeom prst="rect">
            <a:avLst/>
          </a:prstGeom>
        </p:spPr>
      </p:pic>
      <p:grpSp>
        <p:nvGrpSpPr>
          <p:cNvPr id="1576" name="Google Shape;1576;p40">
            <a:extLst>
              <a:ext uri="{FF2B5EF4-FFF2-40B4-BE49-F238E27FC236}">
                <a16:creationId xmlns:a16="http://schemas.microsoft.com/office/drawing/2014/main" id="{F7C5B2AD-A840-8DC9-254A-FC15109E2002}"/>
              </a:ext>
            </a:extLst>
          </p:cNvPr>
          <p:cNvGrpSpPr/>
          <p:nvPr/>
        </p:nvGrpSpPr>
        <p:grpSpPr>
          <a:xfrm>
            <a:off x="7803320" y="245701"/>
            <a:ext cx="888547" cy="679278"/>
            <a:chOff x="7746676" y="868788"/>
            <a:chExt cx="888547" cy="679278"/>
          </a:xfrm>
        </p:grpSpPr>
        <p:sp>
          <p:nvSpPr>
            <p:cNvPr id="1577" name="Google Shape;1577;p40">
              <a:extLst>
                <a:ext uri="{FF2B5EF4-FFF2-40B4-BE49-F238E27FC236}">
                  <a16:creationId xmlns:a16="http://schemas.microsoft.com/office/drawing/2014/main" id="{E62753FC-911D-106F-217E-3777F9A84CD3}"/>
                </a:ext>
              </a:extLst>
            </p:cNvPr>
            <p:cNvSpPr/>
            <p:nvPr/>
          </p:nvSpPr>
          <p:spPr>
            <a:xfrm rot="1701538">
              <a:off x="7754235" y="982518"/>
              <a:ext cx="520112" cy="163237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3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1"/>
                  </a:cubicBezTo>
                  <a:cubicBezTo>
                    <a:pt x="44798" y="120740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80"/>
                  </a:cubicBezTo>
                  <a:cubicBezTo>
                    <a:pt x="114933" y="22880"/>
                    <a:pt x="129789" y="22880"/>
                    <a:pt x="144732" y="22880"/>
                  </a:cubicBezTo>
                  <a:cubicBezTo>
                    <a:pt x="159329" y="22880"/>
                    <a:pt x="174012" y="22880"/>
                    <a:pt x="188609" y="22880"/>
                  </a:cubicBezTo>
                  <a:cubicBezTo>
                    <a:pt x="204674" y="22880"/>
                    <a:pt x="220740" y="22880"/>
                    <a:pt x="236805" y="22880"/>
                  </a:cubicBezTo>
                  <a:cubicBezTo>
                    <a:pt x="249847" y="22880"/>
                    <a:pt x="262976" y="22880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80"/>
                  </a:cubicBezTo>
                  <a:cubicBezTo>
                    <a:pt x="380529" y="22880"/>
                    <a:pt x="395213" y="22880"/>
                    <a:pt x="409810" y="22880"/>
                  </a:cubicBezTo>
                  <a:cubicBezTo>
                    <a:pt x="419915" y="22880"/>
                    <a:pt x="430021" y="22966"/>
                    <a:pt x="440127" y="22880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8" name="Google Shape;1578;p40">
              <a:extLst>
                <a:ext uri="{FF2B5EF4-FFF2-40B4-BE49-F238E27FC236}">
                  <a16:creationId xmlns:a16="http://schemas.microsoft.com/office/drawing/2014/main" id="{CBB03447-FE6C-667D-590F-A0DD7A3BCE0A}"/>
                </a:ext>
              </a:extLst>
            </p:cNvPr>
            <p:cNvSpPr/>
            <p:nvPr/>
          </p:nvSpPr>
          <p:spPr>
            <a:xfrm rot="-1247444">
              <a:off x="8103015" y="1297808"/>
              <a:ext cx="520170" cy="163255"/>
            </a:xfrm>
            <a:custGeom>
              <a:avLst/>
              <a:gdLst/>
              <a:ahLst/>
              <a:cxnLst/>
              <a:rect l="l" t="t" r="r" b="b"/>
              <a:pathLst>
                <a:path w="520105" h="163235" extrusionOk="0">
                  <a:moveTo>
                    <a:pt x="368351" y="77"/>
                  </a:moveTo>
                  <a:cubicBezTo>
                    <a:pt x="361787" y="77"/>
                    <a:pt x="355222" y="77"/>
                    <a:pt x="348658" y="77"/>
                  </a:cubicBezTo>
                  <a:cubicBezTo>
                    <a:pt x="339934" y="77"/>
                    <a:pt x="331211" y="77"/>
                    <a:pt x="322401" y="77"/>
                  </a:cubicBezTo>
                  <a:cubicBezTo>
                    <a:pt x="315836" y="77"/>
                    <a:pt x="309272" y="77"/>
                    <a:pt x="302708" y="77"/>
                  </a:cubicBezTo>
                  <a:cubicBezTo>
                    <a:pt x="295539" y="77"/>
                    <a:pt x="288370" y="77"/>
                    <a:pt x="281201" y="77"/>
                  </a:cubicBezTo>
                  <a:cubicBezTo>
                    <a:pt x="272995" y="77"/>
                    <a:pt x="264790" y="77"/>
                    <a:pt x="256584" y="77"/>
                  </a:cubicBezTo>
                  <a:cubicBezTo>
                    <a:pt x="247947" y="77"/>
                    <a:pt x="239224" y="77"/>
                    <a:pt x="230586" y="77"/>
                  </a:cubicBezTo>
                  <a:cubicBezTo>
                    <a:pt x="222381" y="77"/>
                    <a:pt x="214175" y="77"/>
                    <a:pt x="205970" y="77"/>
                  </a:cubicBezTo>
                  <a:cubicBezTo>
                    <a:pt x="195778" y="77"/>
                    <a:pt x="185672" y="77"/>
                    <a:pt x="175480" y="77"/>
                  </a:cubicBezTo>
                  <a:cubicBezTo>
                    <a:pt x="167189" y="77"/>
                    <a:pt x="158983" y="77"/>
                    <a:pt x="150691" y="77"/>
                  </a:cubicBezTo>
                  <a:cubicBezTo>
                    <a:pt x="140499" y="77"/>
                    <a:pt x="130394" y="77"/>
                    <a:pt x="120202" y="77"/>
                  </a:cubicBezTo>
                  <a:cubicBezTo>
                    <a:pt x="111219" y="77"/>
                    <a:pt x="102236" y="-182"/>
                    <a:pt x="93167" y="250"/>
                  </a:cubicBezTo>
                  <a:cubicBezTo>
                    <a:pt x="85653" y="595"/>
                    <a:pt x="78311" y="1632"/>
                    <a:pt x="71142" y="3446"/>
                  </a:cubicBezTo>
                  <a:cubicBezTo>
                    <a:pt x="49808" y="8801"/>
                    <a:pt x="32361" y="18734"/>
                    <a:pt x="19232" y="33503"/>
                  </a:cubicBezTo>
                  <a:cubicBezTo>
                    <a:pt x="7658" y="46459"/>
                    <a:pt x="1266" y="61143"/>
                    <a:pt x="144" y="77208"/>
                  </a:cubicBezTo>
                  <a:cubicBezTo>
                    <a:pt x="-720" y="90941"/>
                    <a:pt x="2303" y="103984"/>
                    <a:pt x="9472" y="116421"/>
                  </a:cubicBezTo>
                  <a:cubicBezTo>
                    <a:pt x="15777" y="127391"/>
                    <a:pt x="24587" y="136719"/>
                    <a:pt x="35902" y="144406"/>
                  </a:cubicBezTo>
                  <a:cubicBezTo>
                    <a:pt x="49549" y="153648"/>
                    <a:pt x="65096" y="159608"/>
                    <a:pt x="82630" y="162026"/>
                  </a:cubicBezTo>
                  <a:cubicBezTo>
                    <a:pt x="86689" y="162544"/>
                    <a:pt x="90835" y="163063"/>
                    <a:pt x="94981" y="163149"/>
                  </a:cubicBezTo>
                  <a:cubicBezTo>
                    <a:pt x="135749" y="163149"/>
                    <a:pt x="176430" y="163149"/>
                    <a:pt x="217198" y="163235"/>
                  </a:cubicBezTo>
                  <a:cubicBezTo>
                    <a:pt x="254080" y="163235"/>
                    <a:pt x="290961" y="163235"/>
                    <a:pt x="327842" y="163235"/>
                  </a:cubicBezTo>
                  <a:cubicBezTo>
                    <a:pt x="351681" y="163235"/>
                    <a:pt x="375520" y="163235"/>
                    <a:pt x="399359" y="163235"/>
                  </a:cubicBezTo>
                  <a:cubicBezTo>
                    <a:pt x="406700" y="163235"/>
                    <a:pt x="412574" y="158226"/>
                    <a:pt x="412746" y="152180"/>
                  </a:cubicBezTo>
                  <a:cubicBezTo>
                    <a:pt x="412919" y="146134"/>
                    <a:pt x="407305" y="140951"/>
                    <a:pt x="399963" y="140692"/>
                  </a:cubicBezTo>
                  <a:cubicBezTo>
                    <a:pt x="393485" y="140519"/>
                    <a:pt x="386921" y="140606"/>
                    <a:pt x="380443" y="140606"/>
                  </a:cubicBezTo>
                  <a:cubicBezTo>
                    <a:pt x="371979" y="140606"/>
                    <a:pt x="363514" y="140606"/>
                    <a:pt x="355049" y="140606"/>
                  </a:cubicBezTo>
                  <a:cubicBezTo>
                    <a:pt x="346671" y="140606"/>
                    <a:pt x="338207" y="140606"/>
                    <a:pt x="329829" y="140606"/>
                  </a:cubicBezTo>
                  <a:cubicBezTo>
                    <a:pt x="321364" y="140606"/>
                    <a:pt x="312900" y="140606"/>
                    <a:pt x="304435" y="140606"/>
                  </a:cubicBezTo>
                  <a:cubicBezTo>
                    <a:pt x="295884" y="140606"/>
                    <a:pt x="287333" y="140606"/>
                    <a:pt x="278782" y="140606"/>
                  </a:cubicBezTo>
                  <a:cubicBezTo>
                    <a:pt x="270231" y="140606"/>
                    <a:pt x="262112" y="140606"/>
                    <a:pt x="253734" y="140606"/>
                  </a:cubicBezTo>
                  <a:cubicBezTo>
                    <a:pt x="245270" y="140606"/>
                    <a:pt x="236805" y="140606"/>
                    <a:pt x="228341" y="140606"/>
                  </a:cubicBezTo>
                  <a:cubicBezTo>
                    <a:pt x="219962" y="140606"/>
                    <a:pt x="211498" y="140606"/>
                    <a:pt x="203120" y="140606"/>
                  </a:cubicBezTo>
                  <a:cubicBezTo>
                    <a:pt x="194655" y="140606"/>
                    <a:pt x="186191" y="140606"/>
                    <a:pt x="177726" y="140606"/>
                  </a:cubicBezTo>
                  <a:cubicBezTo>
                    <a:pt x="169262" y="140606"/>
                    <a:pt x="160797" y="140606"/>
                    <a:pt x="152332" y="140606"/>
                  </a:cubicBezTo>
                  <a:cubicBezTo>
                    <a:pt x="143954" y="140606"/>
                    <a:pt x="135490" y="140606"/>
                    <a:pt x="127112" y="140606"/>
                  </a:cubicBezTo>
                  <a:cubicBezTo>
                    <a:pt x="118647" y="140606"/>
                    <a:pt x="110183" y="140606"/>
                    <a:pt x="101718" y="140606"/>
                  </a:cubicBezTo>
                  <a:cubicBezTo>
                    <a:pt x="92390" y="140606"/>
                    <a:pt x="83321" y="139569"/>
                    <a:pt x="74597" y="136892"/>
                  </a:cubicBezTo>
                  <a:cubicBezTo>
                    <a:pt x="67083" y="134560"/>
                    <a:pt x="60259" y="131364"/>
                    <a:pt x="54127" y="127132"/>
                  </a:cubicBezTo>
                  <a:cubicBezTo>
                    <a:pt x="44798" y="120826"/>
                    <a:pt x="37802" y="113053"/>
                    <a:pt x="33224" y="103811"/>
                  </a:cubicBezTo>
                  <a:cubicBezTo>
                    <a:pt x="27437" y="92064"/>
                    <a:pt x="26487" y="79972"/>
                    <a:pt x="30029" y="67707"/>
                  </a:cubicBezTo>
                  <a:cubicBezTo>
                    <a:pt x="33138" y="57083"/>
                    <a:pt x="39443" y="47841"/>
                    <a:pt x="49031" y="40154"/>
                  </a:cubicBezTo>
                  <a:cubicBezTo>
                    <a:pt x="63109" y="28753"/>
                    <a:pt x="80125" y="22966"/>
                    <a:pt x="99991" y="22879"/>
                  </a:cubicBezTo>
                  <a:cubicBezTo>
                    <a:pt x="114933" y="22879"/>
                    <a:pt x="129789" y="22879"/>
                    <a:pt x="144732" y="22879"/>
                  </a:cubicBezTo>
                  <a:cubicBezTo>
                    <a:pt x="159329" y="22879"/>
                    <a:pt x="174012" y="22879"/>
                    <a:pt x="188609" y="22879"/>
                  </a:cubicBezTo>
                  <a:cubicBezTo>
                    <a:pt x="204674" y="22879"/>
                    <a:pt x="220740" y="22879"/>
                    <a:pt x="236805" y="22879"/>
                  </a:cubicBezTo>
                  <a:cubicBezTo>
                    <a:pt x="249847" y="22879"/>
                    <a:pt x="262976" y="22879"/>
                    <a:pt x="276018" y="22793"/>
                  </a:cubicBezTo>
                  <a:cubicBezTo>
                    <a:pt x="289924" y="22793"/>
                    <a:pt x="303830" y="22793"/>
                    <a:pt x="317736" y="22793"/>
                  </a:cubicBezTo>
                  <a:cubicBezTo>
                    <a:pt x="333802" y="22793"/>
                    <a:pt x="349867" y="22793"/>
                    <a:pt x="365932" y="22879"/>
                  </a:cubicBezTo>
                  <a:cubicBezTo>
                    <a:pt x="380529" y="22879"/>
                    <a:pt x="395213" y="22879"/>
                    <a:pt x="409810" y="22879"/>
                  </a:cubicBezTo>
                  <a:cubicBezTo>
                    <a:pt x="419915" y="22879"/>
                    <a:pt x="430021" y="22966"/>
                    <a:pt x="440127" y="22879"/>
                  </a:cubicBezTo>
                  <a:cubicBezTo>
                    <a:pt x="459733" y="22793"/>
                    <a:pt x="475021" y="29357"/>
                    <a:pt x="485213" y="43091"/>
                  </a:cubicBezTo>
                  <a:cubicBezTo>
                    <a:pt x="497910" y="60365"/>
                    <a:pt x="493246" y="82131"/>
                    <a:pt x="475108" y="95174"/>
                  </a:cubicBezTo>
                  <a:cubicBezTo>
                    <a:pt x="465607" y="101997"/>
                    <a:pt x="454551" y="105366"/>
                    <a:pt x="441940" y="105366"/>
                  </a:cubicBezTo>
                  <a:cubicBezTo>
                    <a:pt x="415165" y="105366"/>
                    <a:pt x="388476" y="105366"/>
                    <a:pt x="361700" y="105366"/>
                  </a:cubicBezTo>
                  <a:cubicBezTo>
                    <a:pt x="302880" y="105366"/>
                    <a:pt x="244147" y="105366"/>
                    <a:pt x="185327" y="105366"/>
                  </a:cubicBezTo>
                  <a:cubicBezTo>
                    <a:pt x="167966" y="105366"/>
                    <a:pt x="154837" y="93360"/>
                    <a:pt x="156478" y="79281"/>
                  </a:cubicBezTo>
                  <a:cubicBezTo>
                    <a:pt x="157860" y="67189"/>
                    <a:pt x="169866" y="58120"/>
                    <a:pt x="185241" y="57861"/>
                  </a:cubicBezTo>
                  <a:cubicBezTo>
                    <a:pt x="198369" y="57688"/>
                    <a:pt x="211584" y="57861"/>
                    <a:pt x="224713" y="57861"/>
                  </a:cubicBezTo>
                  <a:cubicBezTo>
                    <a:pt x="240778" y="57861"/>
                    <a:pt x="256844" y="57861"/>
                    <a:pt x="272995" y="57861"/>
                  </a:cubicBezTo>
                  <a:cubicBezTo>
                    <a:pt x="289147" y="57861"/>
                    <a:pt x="305299" y="57861"/>
                    <a:pt x="321450" y="57861"/>
                  </a:cubicBezTo>
                  <a:cubicBezTo>
                    <a:pt x="337602" y="57861"/>
                    <a:pt x="353754" y="57861"/>
                    <a:pt x="369906" y="57861"/>
                  </a:cubicBezTo>
                  <a:cubicBezTo>
                    <a:pt x="379407" y="57861"/>
                    <a:pt x="388908" y="57947"/>
                    <a:pt x="398409" y="57947"/>
                  </a:cubicBezTo>
                  <a:cubicBezTo>
                    <a:pt x="403332" y="57947"/>
                    <a:pt x="407564" y="56479"/>
                    <a:pt x="410501" y="53024"/>
                  </a:cubicBezTo>
                  <a:cubicBezTo>
                    <a:pt x="413351" y="49655"/>
                    <a:pt x="413956" y="45855"/>
                    <a:pt x="411883" y="42054"/>
                  </a:cubicBezTo>
                  <a:cubicBezTo>
                    <a:pt x="409551" y="37736"/>
                    <a:pt x="405491" y="35231"/>
                    <a:pt x="399704" y="35231"/>
                  </a:cubicBezTo>
                  <a:cubicBezTo>
                    <a:pt x="386057" y="35144"/>
                    <a:pt x="372410" y="35231"/>
                    <a:pt x="358763" y="35231"/>
                  </a:cubicBezTo>
                  <a:cubicBezTo>
                    <a:pt x="340971" y="35231"/>
                    <a:pt x="323178" y="35231"/>
                    <a:pt x="305385" y="35231"/>
                  </a:cubicBezTo>
                  <a:cubicBezTo>
                    <a:pt x="286210" y="35231"/>
                    <a:pt x="267122" y="35231"/>
                    <a:pt x="247947" y="35231"/>
                  </a:cubicBezTo>
                  <a:cubicBezTo>
                    <a:pt x="230068" y="35231"/>
                    <a:pt x="212102" y="35231"/>
                    <a:pt x="194223" y="35231"/>
                  </a:cubicBezTo>
                  <a:cubicBezTo>
                    <a:pt x="187313" y="35231"/>
                    <a:pt x="180317" y="34885"/>
                    <a:pt x="173580" y="36267"/>
                  </a:cubicBezTo>
                  <a:cubicBezTo>
                    <a:pt x="151901" y="40586"/>
                    <a:pt x="137476" y="51469"/>
                    <a:pt x="130826" y="69003"/>
                  </a:cubicBezTo>
                  <a:cubicBezTo>
                    <a:pt x="127371" y="78072"/>
                    <a:pt x="127803" y="87141"/>
                    <a:pt x="131430" y="96124"/>
                  </a:cubicBezTo>
                  <a:cubicBezTo>
                    <a:pt x="135058" y="105366"/>
                    <a:pt x="141622" y="112880"/>
                    <a:pt x="151037" y="118753"/>
                  </a:cubicBezTo>
                  <a:cubicBezTo>
                    <a:pt x="158897" y="123590"/>
                    <a:pt x="167707" y="126613"/>
                    <a:pt x="177467" y="127736"/>
                  </a:cubicBezTo>
                  <a:cubicBezTo>
                    <a:pt x="182995" y="128341"/>
                    <a:pt x="188609" y="128168"/>
                    <a:pt x="194137" y="128168"/>
                  </a:cubicBezTo>
                  <a:cubicBezTo>
                    <a:pt x="207266" y="128168"/>
                    <a:pt x="220481" y="128168"/>
                    <a:pt x="233609" y="128168"/>
                  </a:cubicBezTo>
                  <a:cubicBezTo>
                    <a:pt x="246479" y="128168"/>
                    <a:pt x="259435" y="128168"/>
                    <a:pt x="272304" y="128168"/>
                  </a:cubicBezTo>
                  <a:cubicBezTo>
                    <a:pt x="285433" y="128168"/>
                    <a:pt x="298648" y="128168"/>
                    <a:pt x="311777" y="128168"/>
                  </a:cubicBezTo>
                  <a:cubicBezTo>
                    <a:pt x="324646" y="128168"/>
                    <a:pt x="337602" y="128168"/>
                    <a:pt x="350472" y="128168"/>
                  </a:cubicBezTo>
                  <a:cubicBezTo>
                    <a:pt x="363600" y="128168"/>
                    <a:pt x="376815" y="128168"/>
                    <a:pt x="389944" y="128168"/>
                  </a:cubicBezTo>
                  <a:cubicBezTo>
                    <a:pt x="403073" y="128168"/>
                    <a:pt x="416115" y="128168"/>
                    <a:pt x="429244" y="128168"/>
                  </a:cubicBezTo>
                  <a:cubicBezTo>
                    <a:pt x="436672" y="128168"/>
                    <a:pt x="444100" y="128427"/>
                    <a:pt x="451441" y="127650"/>
                  </a:cubicBezTo>
                  <a:cubicBezTo>
                    <a:pt x="471739" y="125490"/>
                    <a:pt x="488495" y="118062"/>
                    <a:pt x="501710" y="105193"/>
                  </a:cubicBezTo>
                  <a:cubicBezTo>
                    <a:pt x="512766" y="94396"/>
                    <a:pt x="518812" y="81872"/>
                    <a:pt x="519935" y="67880"/>
                  </a:cubicBezTo>
                  <a:cubicBezTo>
                    <a:pt x="520712" y="58465"/>
                    <a:pt x="518812" y="49223"/>
                    <a:pt x="514494" y="40413"/>
                  </a:cubicBezTo>
                  <a:cubicBezTo>
                    <a:pt x="508102" y="27457"/>
                    <a:pt x="497651" y="17179"/>
                    <a:pt x="483140" y="9751"/>
                  </a:cubicBezTo>
                  <a:cubicBezTo>
                    <a:pt x="470098" y="3014"/>
                    <a:pt x="455674" y="77"/>
                    <a:pt x="440299" y="77"/>
                  </a:cubicBezTo>
                  <a:cubicBezTo>
                    <a:pt x="433217" y="77"/>
                    <a:pt x="426221" y="77"/>
                    <a:pt x="419138" y="77"/>
                  </a:cubicBezTo>
                  <a:cubicBezTo>
                    <a:pt x="411105" y="77"/>
                    <a:pt x="402986" y="77"/>
                    <a:pt x="394954" y="77"/>
                  </a:cubicBezTo>
                  <a:cubicBezTo>
                    <a:pt x="386144" y="77"/>
                    <a:pt x="377334" y="77"/>
                    <a:pt x="368524" y="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8D9F24-C046-9D76-F7A5-79316F112693}"/>
              </a:ext>
            </a:extLst>
          </p:cNvPr>
          <p:cNvGrpSpPr/>
          <p:nvPr/>
        </p:nvGrpSpPr>
        <p:grpSpPr>
          <a:xfrm>
            <a:off x="-168914" y="78554"/>
            <a:ext cx="2616957" cy="554853"/>
            <a:chOff x="669873" y="391540"/>
            <a:chExt cx="1422549" cy="44964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1632D1C-46BF-7C16-7346-8049B2886DDD}"/>
                </a:ext>
              </a:extLst>
            </p:cNvPr>
            <p:cNvSpPr/>
            <p:nvPr/>
          </p:nvSpPr>
          <p:spPr>
            <a:xfrm>
              <a:off x="849086" y="417008"/>
              <a:ext cx="1064124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220BDC-1A16-FF04-C430-5FB3C2C4D92E}"/>
                </a:ext>
              </a:extLst>
            </p:cNvPr>
            <p:cNvSpPr txBox="1"/>
            <p:nvPr/>
          </p:nvSpPr>
          <p:spPr>
            <a:xfrm>
              <a:off x="669873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Review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5855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1E1880-4BEB-EC87-5032-CD312FCF87F8}"/>
              </a:ext>
            </a:extLst>
          </p:cNvPr>
          <p:cNvSpPr/>
          <p:nvPr/>
        </p:nvSpPr>
        <p:spPr>
          <a:xfrm>
            <a:off x="159894" y="236220"/>
            <a:ext cx="8824212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60624" y="804274"/>
            <a:ext cx="5622752" cy="790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</a:pPr>
            <a:r>
              <a:rPr lang="vi-VN" sz="2200" b="1" dirty="0">
                <a:solidFill>
                  <a:srgbClr val="0070C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F</a:t>
            </a: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ill in the </a:t>
            </a:r>
            <a:r>
              <a:rPr lang="vi-VN" sz="2200" b="1" dirty="0">
                <a:solidFill>
                  <a:srgbClr val="0070C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blanks, </a:t>
            </a:r>
            <a:r>
              <a:rPr lang="en-US" sz="2200" b="1" dirty="0">
                <a:solidFill>
                  <a:srgbClr val="0070C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using</a:t>
            </a:r>
            <a:r>
              <a:rPr lang="vi-VN" sz="2200" b="1" dirty="0">
                <a:solidFill>
                  <a:srgbClr val="0070C0"/>
                </a:solidFill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 the words: left-hand, right-hand, negative, postitive</a:t>
            </a:r>
            <a:endParaRPr lang="en-US" sz="2200" b="1" i="1" dirty="0">
              <a:solidFill>
                <a:srgbClr val="0070C0"/>
              </a:solidFill>
              <a:effectLst/>
              <a:latin typeface="+mj-lt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pSp>
        <p:nvGrpSpPr>
          <p:cNvPr id="1451" name="Google Shape;1451;p38"/>
          <p:cNvGrpSpPr/>
          <p:nvPr/>
        </p:nvGrpSpPr>
        <p:grpSpPr>
          <a:xfrm rot="2021523">
            <a:off x="8239810" y="3087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/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D8118B-852E-9462-D344-106F0CC8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06" y="1574005"/>
            <a:ext cx="8583789" cy="2870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CA6CAC-9B8C-137C-12AF-770E0823231D}"/>
              </a:ext>
            </a:extLst>
          </p:cNvPr>
          <p:cNvSpPr txBox="1"/>
          <p:nvPr/>
        </p:nvSpPr>
        <p:spPr>
          <a:xfrm>
            <a:off x="6652341" y="1974064"/>
            <a:ext cx="142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</a:t>
            </a:r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eft</a:t>
            </a:r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-hand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061DCA-1917-4BB7-7FB6-26515D3017EB}"/>
              </a:ext>
            </a:extLst>
          </p:cNvPr>
          <p:cNvSpPr txBox="1"/>
          <p:nvPr/>
        </p:nvSpPr>
        <p:spPr>
          <a:xfrm>
            <a:off x="6825460" y="2481353"/>
            <a:ext cx="1383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postitive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32A2B5-8376-829B-F373-FE0FEF11C57F}"/>
              </a:ext>
            </a:extLst>
          </p:cNvPr>
          <p:cNvSpPr txBox="1"/>
          <p:nvPr/>
        </p:nvSpPr>
        <p:spPr>
          <a:xfrm>
            <a:off x="6652340" y="2985021"/>
            <a:ext cx="1426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</a:t>
            </a:r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ight</a:t>
            </a:r>
            <a:r>
              <a:rPr lang="en-US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-hand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D5265C-08EB-8A91-7A45-5FDE1EA6A95E}"/>
              </a:ext>
            </a:extLst>
          </p:cNvPr>
          <p:cNvSpPr txBox="1"/>
          <p:nvPr/>
        </p:nvSpPr>
        <p:spPr>
          <a:xfrm>
            <a:off x="6584420" y="3492425"/>
            <a:ext cx="136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negative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5B1EF2-C084-069F-AAAA-665C1A3E4779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1FE6526-4C48-1D3C-DE0D-E293AA2B9431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D9EA96C-9B59-A0C4-DC8C-150433A2CA93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A. Vocabulary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24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>
          <a:extLst>
            <a:ext uri="{FF2B5EF4-FFF2-40B4-BE49-F238E27FC236}">
              <a16:creationId xmlns:a16="http://schemas.microsoft.com/office/drawing/2014/main" id="{2FD74748-4CD0-56C7-5134-43CE8E23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AA0421-365D-04B2-389A-1B41FEBC0793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1" name="Google Shape;1451;p38">
            <a:extLst>
              <a:ext uri="{FF2B5EF4-FFF2-40B4-BE49-F238E27FC236}">
                <a16:creationId xmlns:a16="http://schemas.microsoft.com/office/drawing/2014/main" id="{FCA0FA31-7F4C-24D0-B827-A7F82D775E2D}"/>
              </a:ext>
            </a:extLst>
          </p:cNvPr>
          <p:cNvGrpSpPr/>
          <p:nvPr/>
        </p:nvGrpSpPr>
        <p:grpSpPr>
          <a:xfrm rot="2021523">
            <a:off x="8496372" y="-37974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>
              <a:extLst>
                <a:ext uri="{FF2B5EF4-FFF2-40B4-BE49-F238E27FC236}">
                  <a16:creationId xmlns:a16="http://schemas.microsoft.com/office/drawing/2014/main" id="{BFAC6C22-5ED9-D096-65E6-759E387A549F}"/>
                </a:ext>
              </a:extLst>
            </p:cNvPr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>
              <a:extLst>
                <a:ext uri="{FF2B5EF4-FFF2-40B4-BE49-F238E27FC236}">
                  <a16:creationId xmlns:a16="http://schemas.microsoft.com/office/drawing/2014/main" id="{F69291ED-2780-64A4-CDA1-EA5C585775E6}"/>
                </a:ext>
              </a:extLst>
            </p:cNvPr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>
              <a:extLst>
                <a:ext uri="{FF2B5EF4-FFF2-40B4-BE49-F238E27FC236}">
                  <a16:creationId xmlns:a16="http://schemas.microsoft.com/office/drawing/2014/main" id="{30230873-2808-6761-8377-3E9E163EF0A5}"/>
                </a:ext>
              </a:extLst>
            </p:cNvPr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>
              <a:extLst>
                <a:ext uri="{FF2B5EF4-FFF2-40B4-BE49-F238E27FC236}">
                  <a16:creationId xmlns:a16="http://schemas.microsoft.com/office/drawing/2014/main" id="{E626242D-4FAD-A3A2-EADA-6FA7B5B0AAF4}"/>
                </a:ext>
              </a:extLst>
            </p:cNvPr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>
              <a:extLst>
                <a:ext uri="{FF2B5EF4-FFF2-40B4-BE49-F238E27FC236}">
                  <a16:creationId xmlns:a16="http://schemas.microsoft.com/office/drawing/2014/main" id="{7FD2AE7A-82A4-75AE-7479-D482A999F1E3}"/>
                </a:ext>
              </a:extLst>
            </p:cNvPr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>
              <a:extLst>
                <a:ext uri="{FF2B5EF4-FFF2-40B4-BE49-F238E27FC236}">
                  <a16:creationId xmlns:a16="http://schemas.microsoft.com/office/drawing/2014/main" id="{200B5D89-BD8C-3701-3CFB-4D8A1D8C4500}"/>
                </a:ext>
              </a:extLst>
            </p:cNvPr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>
              <a:extLst>
                <a:ext uri="{FF2B5EF4-FFF2-40B4-BE49-F238E27FC236}">
                  <a16:creationId xmlns:a16="http://schemas.microsoft.com/office/drawing/2014/main" id="{7A562E2C-B3F7-A04A-5427-F8955DF4D997}"/>
                </a:ext>
              </a:extLst>
            </p:cNvPr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245E9AE-F4C2-975E-2AF0-355032F96BA2}"/>
              </a:ext>
            </a:extLst>
          </p:cNvPr>
          <p:cNvSpPr txBox="1"/>
          <p:nvPr/>
        </p:nvSpPr>
        <p:spPr>
          <a:xfrm>
            <a:off x="1910565" y="758399"/>
            <a:ext cx="5322871" cy="42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effectLst/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What is the rule for changing sides?</a:t>
            </a:r>
            <a:endParaRPr lang="en-US" sz="2200" b="1" i="1" dirty="0">
              <a:solidFill>
                <a:schemeClr val="accent2">
                  <a:lumMod val="75000"/>
                </a:schemeClr>
              </a:solidFill>
              <a:effectLst/>
              <a:latin typeface="Segoe  UI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9E5DB-98D3-D1EB-6FD7-4F109F6A2B98}"/>
              </a:ext>
            </a:extLst>
          </p:cNvPr>
          <p:cNvSpPr txBox="1"/>
          <p:nvPr/>
        </p:nvSpPr>
        <p:spPr>
          <a:xfrm>
            <a:off x="232546" y="1255785"/>
            <a:ext cx="7976536" cy="79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effectLst/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In an equation, if we change a term from left-hand side to right-hand side or vice versa, we must change its sign.</a:t>
            </a:r>
            <a:endParaRPr lang="en-US" sz="2200" i="1" dirty="0">
              <a:solidFill>
                <a:schemeClr val="bg1">
                  <a:lumMod val="10000"/>
                </a:schemeClr>
              </a:solidFill>
              <a:effectLst/>
              <a:latin typeface="Segoe  UI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902270-6C52-8B73-12EB-1388071CA5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32"/>
          <a:stretch>
            <a:fillRect/>
          </a:stretch>
        </p:blipFill>
        <p:spPr>
          <a:xfrm>
            <a:off x="744794" y="2201956"/>
            <a:ext cx="7654413" cy="250499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783B29E-7700-F82C-5946-BA45B3C03DAF}"/>
              </a:ext>
            </a:extLst>
          </p:cNvPr>
          <p:cNvGrpSpPr/>
          <p:nvPr/>
        </p:nvGrpSpPr>
        <p:grpSpPr>
          <a:xfrm>
            <a:off x="-56840" y="78554"/>
            <a:ext cx="2616957" cy="554853"/>
            <a:chOff x="730795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B6A3E15-7C08-5117-499B-26FCECA8B6F7}"/>
                </a:ext>
              </a:extLst>
            </p:cNvPr>
            <p:cNvSpPr/>
            <p:nvPr/>
          </p:nvSpPr>
          <p:spPr>
            <a:xfrm>
              <a:off x="849086" y="417008"/>
              <a:ext cx="1185968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7243B0-33E1-C1C9-9677-FDE66D637D24}"/>
                </a:ext>
              </a:extLst>
            </p:cNvPr>
            <p:cNvSpPr txBox="1"/>
            <p:nvPr/>
          </p:nvSpPr>
          <p:spPr>
            <a:xfrm>
              <a:off x="730795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Maths Corner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01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7">
          <a:extLst>
            <a:ext uri="{FF2B5EF4-FFF2-40B4-BE49-F238E27FC236}">
              <a16:creationId xmlns:a16="http://schemas.microsoft.com/office/drawing/2014/main" id="{BC192DCD-F46D-C1AC-3FD6-0060F9BE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A40A49-4686-22EC-BC4A-F30B496BFB06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1" name="Google Shape;1451;p38">
            <a:extLst>
              <a:ext uri="{FF2B5EF4-FFF2-40B4-BE49-F238E27FC236}">
                <a16:creationId xmlns:a16="http://schemas.microsoft.com/office/drawing/2014/main" id="{8E3282C0-BB77-3167-14E1-E3BDF25068C0}"/>
              </a:ext>
            </a:extLst>
          </p:cNvPr>
          <p:cNvGrpSpPr/>
          <p:nvPr/>
        </p:nvGrpSpPr>
        <p:grpSpPr>
          <a:xfrm rot="2021523">
            <a:off x="8496372" y="-37974"/>
            <a:ext cx="180930" cy="1326127"/>
            <a:chOff x="4265846" y="1371340"/>
            <a:chExt cx="126709" cy="928680"/>
          </a:xfrm>
        </p:grpSpPr>
        <p:sp>
          <p:nvSpPr>
            <p:cNvPr id="1452" name="Google Shape;1452;p38">
              <a:extLst>
                <a:ext uri="{FF2B5EF4-FFF2-40B4-BE49-F238E27FC236}">
                  <a16:creationId xmlns:a16="http://schemas.microsoft.com/office/drawing/2014/main" id="{9EEAA9D0-7744-CA54-898E-657748B00A9C}"/>
                </a:ext>
              </a:extLst>
            </p:cNvPr>
            <p:cNvSpPr/>
            <p:nvPr/>
          </p:nvSpPr>
          <p:spPr>
            <a:xfrm>
              <a:off x="4289685" y="1944338"/>
              <a:ext cx="102870" cy="202457"/>
            </a:xfrm>
            <a:custGeom>
              <a:avLst/>
              <a:gdLst/>
              <a:ahLst/>
              <a:cxnLst/>
              <a:rect l="l" t="t" r="r" b="b"/>
              <a:pathLst>
                <a:path w="102870" h="202457" extrusionOk="0">
                  <a:moveTo>
                    <a:pt x="102870" y="86"/>
                  </a:moveTo>
                  <a:lnTo>
                    <a:pt x="102179" y="202458"/>
                  </a:lnTo>
                  <a:lnTo>
                    <a:pt x="0" y="202285"/>
                  </a:lnTo>
                  <a:lnTo>
                    <a:pt x="777" y="0"/>
                  </a:lnTo>
                  <a:lnTo>
                    <a:pt x="102870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38">
              <a:extLst>
                <a:ext uri="{FF2B5EF4-FFF2-40B4-BE49-F238E27FC236}">
                  <a16:creationId xmlns:a16="http://schemas.microsoft.com/office/drawing/2014/main" id="{40BF4749-AE39-FD3F-61A3-C8EF4D366497}"/>
                </a:ext>
              </a:extLst>
            </p:cNvPr>
            <p:cNvSpPr/>
            <p:nvPr/>
          </p:nvSpPr>
          <p:spPr>
            <a:xfrm>
              <a:off x="4299791" y="1484834"/>
              <a:ext cx="85163" cy="459589"/>
            </a:xfrm>
            <a:custGeom>
              <a:avLst/>
              <a:gdLst/>
              <a:ahLst/>
              <a:cxnLst/>
              <a:rect l="l" t="t" r="r" b="b"/>
              <a:pathLst>
                <a:path w="85163" h="459589" extrusionOk="0">
                  <a:moveTo>
                    <a:pt x="85163" y="86"/>
                  </a:moveTo>
                  <a:lnTo>
                    <a:pt x="83436" y="459590"/>
                  </a:lnTo>
                  <a:lnTo>
                    <a:pt x="0" y="459503"/>
                  </a:lnTo>
                  <a:lnTo>
                    <a:pt x="1727" y="0"/>
                  </a:lnTo>
                  <a:lnTo>
                    <a:pt x="85163" y="8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38">
              <a:extLst>
                <a:ext uri="{FF2B5EF4-FFF2-40B4-BE49-F238E27FC236}">
                  <a16:creationId xmlns:a16="http://schemas.microsoft.com/office/drawing/2014/main" id="{C6914D4B-3DB3-5752-BAF6-24A88C570176}"/>
                </a:ext>
              </a:extLst>
            </p:cNvPr>
            <p:cNvSpPr/>
            <p:nvPr/>
          </p:nvSpPr>
          <p:spPr>
            <a:xfrm>
              <a:off x="4301432" y="2146623"/>
              <a:ext cx="78512" cy="124290"/>
            </a:xfrm>
            <a:custGeom>
              <a:avLst/>
              <a:gdLst/>
              <a:ahLst/>
              <a:cxnLst/>
              <a:rect l="l" t="t" r="r" b="b"/>
              <a:pathLst>
                <a:path w="78512" h="124290" extrusionOk="0">
                  <a:moveTo>
                    <a:pt x="0" y="41459"/>
                  </a:moveTo>
                  <a:lnTo>
                    <a:pt x="27466" y="124291"/>
                  </a:lnTo>
                  <a:lnTo>
                    <a:pt x="50269" y="124291"/>
                  </a:lnTo>
                  <a:lnTo>
                    <a:pt x="78340" y="41545"/>
                  </a:lnTo>
                  <a:lnTo>
                    <a:pt x="78513" y="86"/>
                  </a:lnTo>
                  <a:lnTo>
                    <a:pt x="173" y="0"/>
                  </a:lnTo>
                  <a:lnTo>
                    <a:pt x="0" y="4145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38">
              <a:extLst>
                <a:ext uri="{FF2B5EF4-FFF2-40B4-BE49-F238E27FC236}">
                  <a16:creationId xmlns:a16="http://schemas.microsoft.com/office/drawing/2014/main" id="{1DD95BCB-22C0-83CE-9624-60C1B7C93537}"/>
                </a:ext>
              </a:extLst>
            </p:cNvPr>
            <p:cNvSpPr/>
            <p:nvPr/>
          </p:nvSpPr>
          <p:spPr>
            <a:xfrm>
              <a:off x="4336759" y="2270913"/>
              <a:ext cx="6909" cy="29107"/>
            </a:xfrm>
            <a:custGeom>
              <a:avLst/>
              <a:gdLst/>
              <a:ahLst/>
              <a:cxnLst/>
              <a:rect l="l" t="t" r="r" b="b"/>
              <a:pathLst>
                <a:path w="6909" h="29107" extrusionOk="0">
                  <a:moveTo>
                    <a:pt x="6823" y="29108"/>
                  </a:moveTo>
                  <a:lnTo>
                    <a:pt x="6910" y="0"/>
                  </a:lnTo>
                  <a:lnTo>
                    <a:pt x="173" y="0"/>
                  </a:lnTo>
                  <a:lnTo>
                    <a:pt x="0" y="29108"/>
                  </a:lnTo>
                  <a:lnTo>
                    <a:pt x="6823" y="291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38">
              <a:extLst>
                <a:ext uri="{FF2B5EF4-FFF2-40B4-BE49-F238E27FC236}">
                  <a16:creationId xmlns:a16="http://schemas.microsoft.com/office/drawing/2014/main" id="{F6D4DB6F-B3B7-C480-825E-0DD413DAD1E7}"/>
                </a:ext>
              </a:extLst>
            </p:cNvPr>
            <p:cNvSpPr/>
            <p:nvPr/>
          </p:nvSpPr>
          <p:spPr>
            <a:xfrm>
              <a:off x="4313006" y="1443634"/>
              <a:ext cx="60633" cy="41286"/>
            </a:xfrm>
            <a:custGeom>
              <a:avLst/>
              <a:gdLst/>
              <a:ahLst/>
              <a:cxnLst/>
              <a:rect l="l" t="t" r="r" b="b"/>
              <a:pathLst>
                <a:path w="60633" h="41286" extrusionOk="0">
                  <a:moveTo>
                    <a:pt x="60634" y="86"/>
                  </a:moveTo>
                  <a:lnTo>
                    <a:pt x="60461" y="41286"/>
                  </a:lnTo>
                  <a:lnTo>
                    <a:pt x="0" y="41200"/>
                  </a:lnTo>
                  <a:lnTo>
                    <a:pt x="173" y="0"/>
                  </a:lnTo>
                  <a:lnTo>
                    <a:pt x="60634" y="8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38">
              <a:extLst>
                <a:ext uri="{FF2B5EF4-FFF2-40B4-BE49-F238E27FC236}">
                  <a16:creationId xmlns:a16="http://schemas.microsoft.com/office/drawing/2014/main" id="{0C421A92-E3E2-5FEE-C28A-27BA5F94D7A3}"/>
                </a:ext>
              </a:extLst>
            </p:cNvPr>
            <p:cNvSpPr/>
            <p:nvPr/>
          </p:nvSpPr>
          <p:spPr>
            <a:xfrm>
              <a:off x="4307564" y="1371340"/>
              <a:ext cx="71948" cy="72380"/>
            </a:xfrm>
            <a:custGeom>
              <a:avLst/>
              <a:gdLst/>
              <a:ahLst/>
              <a:cxnLst/>
              <a:rect l="l" t="t" r="r" b="b"/>
              <a:pathLst>
                <a:path w="71948" h="72380" extrusionOk="0">
                  <a:moveTo>
                    <a:pt x="71948" y="86"/>
                  </a:moveTo>
                  <a:lnTo>
                    <a:pt x="71689" y="72380"/>
                  </a:lnTo>
                  <a:lnTo>
                    <a:pt x="0" y="72294"/>
                  </a:lnTo>
                  <a:lnTo>
                    <a:pt x="259" y="0"/>
                  </a:lnTo>
                  <a:lnTo>
                    <a:pt x="71948" y="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38">
              <a:extLst>
                <a:ext uri="{FF2B5EF4-FFF2-40B4-BE49-F238E27FC236}">
                  <a16:creationId xmlns:a16="http://schemas.microsoft.com/office/drawing/2014/main" id="{FA11F4E9-BCE7-FCB1-31D3-D0D7F21BA036}"/>
                </a:ext>
              </a:extLst>
            </p:cNvPr>
            <p:cNvSpPr/>
            <p:nvPr/>
          </p:nvSpPr>
          <p:spPr>
            <a:xfrm>
              <a:off x="4265846" y="1496581"/>
              <a:ext cx="35672" cy="247285"/>
            </a:xfrm>
            <a:custGeom>
              <a:avLst/>
              <a:gdLst/>
              <a:ahLst/>
              <a:cxnLst/>
              <a:rect l="l" t="t" r="r" b="b"/>
              <a:pathLst>
                <a:path w="35672" h="247285" extrusionOk="0">
                  <a:moveTo>
                    <a:pt x="0" y="247285"/>
                  </a:moveTo>
                  <a:lnTo>
                    <a:pt x="25307" y="247285"/>
                  </a:lnTo>
                  <a:lnTo>
                    <a:pt x="26085" y="38090"/>
                  </a:lnTo>
                  <a:lnTo>
                    <a:pt x="35499" y="38090"/>
                  </a:lnTo>
                  <a:lnTo>
                    <a:pt x="35672" y="86"/>
                  </a:lnTo>
                  <a:lnTo>
                    <a:pt x="26257" y="86"/>
                  </a:lnTo>
                  <a:lnTo>
                    <a:pt x="11488" y="0"/>
                  </a:lnTo>
                  <a:lnTo>
                    <a:pt x="950" y="0"/>
                  </a:lnTo>
                  <a:lnTo>
                    <a:pt x="0" y="24728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A3B12DF-2743-B0A3-2F2D-AFAA8A6D74D2}"/>
              </a:ext>
            </a:extLst>
          </p:cNvPr>
          <p:cNvSpPr txBox="1"/>
          <p:nvPr/>
        </p:nvSpPr>
        <p:spPr>
          <a:xfrm>
            <a:off x="1580994" y="684659"/>
            <a:ext cx="5982013" cy="427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accent2">
                    <a:lumMod val="75000"/>
                  </a:schemeClr>
                </a:solidFill>
                <a:effectLst/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What is the rule for removing brackets?</a:t>
            </a:r>
            <a:endParaRPr lang="en-US" sz="2200" b="1" i="1" dirty="0">
              <a:solidFill>
                <a:schemeClr val="accent2">
                  <a:lumMod val="75000"/>
                </a:schemeClr>
              </a:solidFill>
              <a:effectLst/>
              <a:latin typeface="Segoe  UI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25F166-6118-3744-CADA-07399B2CA8D4}"/>
              </a:ext>
            </a:extLst>
          </p:cNvPr>
          <p:cNvSpPr txBox="1"/>
          <p:nvPr/>
        </p:nvSpPr>
        <p:spPr>
          <a:xfrm>
            <a:off x="232546" y="1130427"/>
            <a:ext cx="7976536" cy="216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In an expression, if there is a positive sign before a set of brackets, we can remove the brackets and keep all terms within the brackets the same. 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lumMod val="10000"/>
                  </a:schemeClr>
                </a:solidFill>
                <a:latin typeface="Segoe  UI"/>
                <a:ea typeface="Calibri" panose="020F0502020204030204" pitchFamily="34" charset="0"/>
                <a:cs typeface="Segoe UI" panose="020B0502040204020203" pitchFamily="34" charset="0"/>
              </a:rPr>
              <a:t>In an expression, if there is a negative sign before a set of brackets, we can remove the brackets and make sure to change the signs of all terms within the brackets.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3EC28-B3C0-9494-70E1-843CA56DDB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0" t="38713" r="51581" b="10023"/>
          <a:stretch>
            <a:fillRect/>
          </a:stretch>
        </p:blipFill>
        <p:spPr>
          <a:xfrm>
            <a:off x="1097293" y="3372008"/>
            <a:ext cx="3277452" cy="1435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677797-4DB2-0D04-9F87-4A4C5E28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74" t="38354" r="1417" b="9906"/>
          <a:stretch>
            <a:fillRect/>
          </a:stretch>
        </p:blipFill>
        <p:spPr>
          <a:xfrm>
            <a:off x="4327189" y="3372007"/>
            <a:ext cx="3248555" cy="143596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1A9D1D4-12DD-0834-9323-D309B7EEA437}"/>
              </a:ext>
            </a:extLst>
          </p:cNvPr>
          <p:cNvGrpSpPr/>
          <p:nvPr/>
        </p:nvGrpSpPr>
        <p:grpSpPr>
          <a:xfrm>
            <a:off x="-56840" y="78554"/>
            <a:ext cx="2616957" cy="554853"/>
            <a:chOff x="730795" y="391540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B09D62A-4712-BD0C-C448-316762763BEA}"/>
                </a:ext>
              </a:extLst>
            </p:cNvPr>
            <p:cNvSpPr/>
            <p:nvPr/>
          </p:nvSpPr>
          <p:spPr>
            <a:xfrm>
              <a:off x="849086" y="417008"/>
              <a:ext cx="1185968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947F04-4433-382A-EA88-A4EE814BEB5A}"/>
                </a:ext>
              </a:extLst>
            </p:cNvPr>
            <p:cNvSpPr txBox="1"/>
            <p:nvPr/>
          </p:nvSpPr>
          <p:spPr>
            <a:xfrm>
              <a:off x="730795" y="391540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Maths Corner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829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62E784-E174-19E8-3BA9-CD9CD43B82B0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8" name="Google Shape;1638;p42"/>
          <p:cNvSpPr/>
          <p:nvPr/>
        </p:nvSpPr>
        <p:spPr>
          <a:xfrm rot="1701538">
            <a:off x="8071063" y="364734"/>
            <a:ext cx="520112" cy="15909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/>
          <p:cNvSpPr/>
          <p:nvPr/>
        </p:nvSpPr>
        <p:spPr>
          <a:xfrm rot="-1247444">
            <a:off x="7532279" y="387551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929CB-E930-1109-7A8C-38C000FD687E}"/>
              </a:ext>
            </a:extLst>
          </p:cNvPr>
          <p:cNvSpPr txBox="1"/>
          <p:nvPr/>
        </p:nvSpPr>
        <p:spPr>
          <a:xfrm>
            <a:off x="315684" y="821188"/>
            <a:ext cx="8092274" cy="397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a. Listen to the words and focus on the underlined letters</a:t>
            </a:r>
            <a:r>
              <a:rPr lang="en-US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 </a:t>
            </a:r>
            <a:endParaRPr lang="en-US" sz="20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66DEB-7F2D-BEE5-0C34-428AC5F586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6657" y="1255513"/>
            <a:ext cx="3726077" cy="6263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BFEF3FD-8015-0BB1-8AA9-43A7E074DE66}"/>
              </a:ext>
            </a:extLst>
          </p:cNvPr>
          <p:cNvSpPr txBox="1"/>
          <p:nvPr/>
        </p:nvSpPr>
        <p:spPr>
          <a:xfrm>
            <a:off x="315684" y="1943758"/>
            <a:ext cx="8092274" cy="397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b. Circle the correct words</a:t>
            </a:r>
            <a:r>
              <a:rPr lang="en-US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 </a:t>
            </a:r>
            <a:endParaRPr lang="en-US" sz="20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B00B08-4654-EF50-1350-4754FB7C75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1737" y="2472548"/>
            <a:ext cx="2471521" cy="3967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DC369E-0C07-FFC2-F13C-F4F61F21140B}"/>
              </a:ext>
            </a:extLst>
          </p:cNvPr>
          <p:cNvSpPr txBox="1"/>
          <p:nvPr/>
        </p:nvSpPr>
        <p:spPr>
          <a:xfrm>
            <a:off x="276877" y="2994172"/>
            <a:ext cx="8092274" cy="3974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c. Listen and write</a:t>
            </a:r>
            <a:r>
              <a:rPr lang="en-US" sz="2000" b="1" dirty="0"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 </a:t>
            </a:r>
            <a:endParaRPr lang="en-US" sz="20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C603CB-9801-948A-FFB5-55BABB0FF5F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6499" b="-1"/>
          <a:stretch/>
        </p:blipFill>
        <p:spPr>
          <a:xfrm>
            <a:off x="763441" y="3490726"/>
            <a:ext cx="7617117" cy="11277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62D5FB-A876-0D67-E9F0-2BE9F2078D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9648" y="2363263"/>
            <a:ext cx="2471520" cy="555489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558A50C8-9E78-3D23-E335-B5CFC1A5F486}"/>
              </a:ext>
            </a:extLst>
          </p:cNvPr>
          <p:cNvSpPr/>
          <p:nvPr/>
        </p:nvSpPr>
        <p:spPr>
          <a:xfrm>
            <a:off x="3178276" y="2426110"/>
            <a:ext cx="571709" cy="5533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4092E6-EE55-912F-956D-E003F64CA43A}"/>
              </a:ext>
            </a:extLst>
          </p:cNvPr>
          <p:cNvSpPr/>
          <p:nvPr/>
        </p:nvSpPr>
        <p:spPr>
          <a:xfrm>
            <a:off x="4504533" y="2412469"/>
            <a:ext cx="571709" cy="55331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33A7E2-B3AA-ADDD-B40B-1D8D67A08B21}"/>
              </a:ext>
            </a:extLst>
          </p:cNvPr>
          <p:cNvSpPr txBox="1"/>
          <p:nvPr/>
        </p:nvSpPr>
        <p:spPr>
          <a:xfrm>
            <a:off x="1086789" y="3380749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Left-hand side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B56DC5-3945-6312-244A-A4F4A852AAA7}"/>
              </a:ext>
            </a:extLst>
          </p:cNvPr>
          <p:cNvSpPr txBox="1"/>
          <p:nvPr/>
        </p:nvSpPr>
        <p:spPr>
          <a:xfrm>
            <a:off x="4975713" y="3406336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Right-hand side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5D540-CFD9-C4C0-5B39-57641E3FD0E3}"/>
              </a:ext>
            </a:extLst>
          </p:cNvPr>
          <p:cNvSpPr txBox="1"/>
          <p:nvPr/>
        </p:nvSpPr>
        <p:spPr>
          <a:xfrm>
            <a:off x="960352" y="3767326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Negative sign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E4E942-5F43-3162-12FE-3DD5F72735DE}"/>
              </a:ext>
            </a:extLst>
          </p:cNvPr>
          <p:cNvSpPr txBox="1"/>
          <p:nvPr/>
        </p:nvSpPr>
        <p:spPr>
          <a:xfrm>
            <a:off x="3933955" y="3762593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Positive 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2EF461-4FAA-649B-AB8F-D8509182E0B8}"/>
              </a:ext>
            </a:extLst>
          </p:cNvPr>
          <p:cNvSpPr txBox="1"/>
          <p:nvPr/>
        </p:nvSpPr>
        <p:spPr>
          <a:xfrm>
            <a:off x="876778" y="4108491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Change side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C9E1CD-C50A-6F82-6F1C-2449618EE029}"/>
              </a:ext>
            </a:extLst>
          </p:cNvPr>
          <p:cNvSpPr txBox="1"/>
          <p:nvPr/>
        </p:nvSpPr>
        <p:spPr>
          <a:xfrm>
            <a:off x="3948489" y="4108491"/>
            <a:ext cx="2962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Segoe  UI"/>
                <a:cs typeface="Sabon Next LT" panose="02000500000000000000" pitchFamily="2" charset="0"/>
              </a:rPr>
              <a:t>Change sign</a:t>
            </a:r>
          </a:p>
        </p:txBody>
      </p:sp>
      <p:pic>
        <p:nvPicPr>
          <p:cNvPr id="34" name="Track 7_Math_G7">
            <a:hlinkClick r:id="" action="ppaction://media"/>
            <a:extLst>
              <a:ext uri="{FF2B5EF4-FFF2-40B4-BE49-F238E27FC236}">
                <a16:creationId xmlns:a16="http://schemas.microsoft.com/office/drawing/2014/main" id="{45251E71-A645-1FF3-DC04-AAA530FAC4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377513" y="799547"/>
            <a:ext cx="487363" cy="487363"/>
          </a:xfrm>
          <a:prstGeom prst="rect">
            <a:avLst/>
          </a:prstGeom>
        </p:spPr>
      </p:pic>
      <p:pic>
        <p:nvPicPr>
          <p:cNvPr id="35" name="Track 8_Math_G7">
            <a:hlinkClick r:id="" action="ppaction://media"/>
            <a:extLst>
              <a:ext uri="{FF2B5EF4-FFF2-40B4-BE49-F238E27FC236}">
                <a16:creationId xmlns:a16="http://schemas.microsoft.com/office/drawing/2014/main" id="{7F409FD3-EDE3-80B7-979F-59D64D07413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3679576" y="1910222"/>
            <a:ext cx="487363" cy="487363"/>
          </a:xfrm>
          <a:prstGeom prst="rect">
            <a:avLst/>
          </a:prstGeom>
        </p:spPr>
      </p:pic>
      <p:pic>
        <p:nvPicPr>
          <p:cNvPr id="36" name="Track 9_Math_G7">
            <a:hlinkClick r:id="" action="ppaction://media"/>
            <a:extLst>
              <a:ext uri="{FF2B5EF4-FFF2-40B4-BE49-F238E27FC236}">
                <a16:creationId xmlns:a16="http://schemas.microsoft.com/office/drawing/2014/main" id="{D44F10E0-8EE8-803A-4A63-C76EA9EB7D0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736337" y="2946626"/>
            <a:ext cx="487363" cy="48736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BDEF1FD-2A35-E7F7-57BA-85B810206A10}"/>
              </a:ext>
            </a:extLst>
          </p:cNvPr>
          <p:cNvGrpSpPr/>
          <p:nvPr/>
        </p:nvGrpSpPr>
        <p:grpSpPr>
          <a:xfrm>
            <a:off x="62658" y="73046"/>
            <a:ext cx="2771791" cy="554853"/>
            <a:chOff x="795753" y="387077"/>
            <a:chExt cx="1506715" cy="44964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F600CB45-C976-A6A5-9BD2-CD17886F0E6D}"/>
                </a:ext>
              </a:extLst>
            </p:cNvPr>
            <p:cNvSpPr/>
            <p:nvPr/>
          </p:nvSpPr>
          <p:spPr>
            <a:xfrm>
              <a:off x="849086" y="417008"/>
              <a:ext cx="1400049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986220-A550-6782-21B9-4BB0105736FF}"/>
                </a:ext>
              </a:extLst>
            </p:cNvPr>
            <p:cNvSpPr txBox="1"/>
            <p:nvPr/>
          </p:nvSpPr>
          <p:spPr>
            <a:xfrm>
              <a:off x="795753" y="387077"/>
              <a:ext cx="1506715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B. Pronunciation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08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432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560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  <p:audio>
              <p:cMediaNode vol="8000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  <p:bldLst>
      <p:bldP spid="24" grpId="0" animBg="1"/>
      <p:bldP spid="26" grpId="0" animBg="1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>
          <a:extLst>
            <a:ext uri="{FF2B5EF4-FFF2-40B4-BE49-F238E27FC236}">
              <a16:creationId xmlns:a16="http://schemas.microsoft.com/office/drawing/2014/main" id="{2A2E332D-F487-0868-A5FC-EBE54F77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F9822D-A2F1-24D7-350D-64B6CD1EA78C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2D84F-ED3F-844F-FF3D-BF6B91609435}"/>
              </a:ext>
            </a:extLst>
          </p:cNvPr>
          <p:cNvSpPr txBox="1"/>
          <p:nvPr/>
        </p:nvSpPr>
        <p:spPr>
          <a:xfrm>
            <a:off x="1872751" y="790837"/>
            <a:ext cx="5398496" cy="726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words.</a:t>
            </a:r>
          </a:p>
        </p:txBody>
      </p:sp>
      <p:sp>
        <p:nvSpPr>
          <p:cNvPr id="1638" name="Google Shape;1638;p42">
            <a:extLst>
              <a:ext uri="{FF2B5EF4-FFF2-40B4-BE49-F238E27FC236}">
                <a16:creationId xmlns:a16="http://schemas.microsoft.com/office/drawing/2014/main" id="{4A3F38B9-1DC2-1914-698B-C3020F5F7368}"/>
              </a:ext>
            </a:extLst>
          </p:cNvPr>
          <p:cNvSpPr/>
          <p:nvPr/>
        </p:nvSpPr>
        <p:spPr>
          <a:xfrm rot="1701538">
            <a:off x="8441118" y="422664"/>
            <a:ext cx="520112" cy="129386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>
            <a:extLst>
              <a:ext uri="{FF2B5EF4-FFF2-40B4-BE49-F238E27FC236}">
                <a16:creationId xmlns:a16="http://schemas.microsoft.com/office/drawing/2014/main" id="{A2118927-E853-B61A-0C55-5F94EA0A9B76}"/>
              </a:ext>
            </a:extLst>
          </p:cNvPr>
          <p:cNvSpPr/>
          <p:nvPr/>
        </p:nvSpPr>
        <p:spPr>
          <a:xfrm rot="-1247444">
            <a:off x="7974212" y="255475"/>
            <a:ext cx="520170" cy="17107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8DC363-E868-D51E-ABB4-4E2084C6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93" y="1828800"/>
            <a:ext cx="8343815" cy="2061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6557F4-5D31-FFCA-863C-54A598CFC6BA}"/>
              </a:ext>
            </a:extLst>
          </p:cNvPr>
          <p:cNvSpPr txBox="1"/>
          <p:nvPr/>
        </p:nvSpPr>
        <p:spPr>
          <a:xfrm>
            <a:off x="4899956" y="2118783"/>
            <a:ext cx="122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3924A-1DFF-DBA0-4008-BD53573213EC}"/>
              </a:ext>
            </a:extLst>
          </p:cNvPr>
          <p:cNvSpPr txBox="1"/>
          <p:nvPr/>
        </p:nvSpPr>
        <p:spPr>
          <a:xfrm>
            <a:off x="5193299" y="2555609"/>
            <a:ext cx="122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signs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53146A-3A5F-02ED-30EB-3A488ADFC2FA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3A9B5CA-A309-3874-45E5-4BC8F71434ED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7E32190-102B-530C-94E9-E6995BF9F602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C. Writing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925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4">
          <a:extLst>
            <a:ext uri="{FF2B5EF4-FFF2-40B4-BE49-F238E27FC236}">
              <a16:creationId xmlns:a16="http://schemas.microsoft.com/office/drawing/2014/main" id="{37FEEB1D-14BC-45D9-7E20-5AE27EB9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488485-7231-3E4A-8E99-7463DFEDBACA}"/>
              </a:ext>
            </a:extLst>
          </p:cNvPr>
          <p:cNvSpPr/>
          <p:nvPr/>
        </p:nvSpPr>
        <p:spPr>
          <a:xfrm>
            <a:off x="-172925" y="258891"/>
            <a:ext cx="9489850" cy="482456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6B597-18BC-CAF0-1B6D-22BC4D61ADAA}"/>
              </a:ext>
            </a:extLst>
          </p:cNvPr>
          <p:cNvSpPr txBox="1"/>
          <p:nvPr/>
        </p:nvSpPr>
        <p:spPr>
          <a:xfrm>
            <a:off x="1872752" y="653809"/>
            <a:ext cx="5398496" cy="726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words.</a:t>
            </a:r>
          </a:p>
        </p:txBody>
      </p:sp>
      <p:sp>
        <p:nvSpPr>
          <p:cNvPr id="1638" name="Google Shape;1638;p42">
            <a:extLst>
              <a:ext uri="{FF2B5EF4-FFF2-40B4-BE49-F238E27FC236}">
                <a16:creationId xmlns:a16="http://schemas.microsoft.com/office/drawing/2014/main" id="{2EA3CDCD-E76F-DB18-2BF0-5BF82DF51763}"/>
              </a:ext>
            </a:extLst>
          </p:cNvPr>
          <p:cNvSpPr/>
          <p:nvPr/>
        </p:nvSpPr>
        <p:spPr>
          <a:xfrm rot="1701538">
            <a:off x="8441118" y="422664"/>
            <a:ext cx="520112" cy="129386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9" name="Google Shape;1639;p42">
            <a:extLst>
              <a:ext uri="{FF2B5EF4-FFF2-40B4-BE49-F238E27FC236}">
                <a16:creationId xmlns:a16="http://schemas.microsoft.com/office/drawing/2014/main" id="{0E98224A-D071-01B6-5B4F-29BBF9233EBA}"/>
              </a:ext>
            </a:extLst>
          </p:cNvPr>
          <p:cNvSpPr/>
          <p:nvPr/>
        </p:nvSpPr>
        <p:spPr>
          <a:xfrm rot="-1247444">
            <a:off x="7974212" y="255475"/>
            <a:ext cx="520170" cy="171077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AD360-3AAF-948E-F180-74D897DB1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61" y="1420057"/>
            <a:ext cx="8116948" cy="35322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02CCD4-C82F-32F2-BF70-39851C2503D5}"/>
                  </a:ext>
                </a:extLst>
              </p:cNvPr>
              <p:cNvSpPr txBox="1"/>
              <p:nvPr/>
            </p:nvSpPr>
            <p:spPr>
              <a:xfrm>
                <a:off x="2413228" y="1470711"/>
                <a:ext cx="6002101" cy="1599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Since there is a positive sign before the brackets, we remove the </a:t>
                </a:r>
                <a:r>
                  <a:rPr lang="vi-VN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brackets</a:t>
                </a: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and keep the sign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we obtain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𝟏𝟑</m:t>
                        </m:r>
                      </m:den>
                    </m:f>
                  </m:oMath>
                </a14:m>
                <a:endParaRPr lang="en-US" sz="16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Cancel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𝟏𝟑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the final result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endParaRPr lang="en-US" sz="16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02CCD4-C82F-32F2-BF70-39851C250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228" y="1470711"/>
                <a:ext cx="6002101" cy="1599862"/>
              </a:xfrm>
              <a:prstGeom prst="rect">
                <a:avLst/>
              </a:prstGeom>
              <a:blipFill>
                <a:blip r:embed="rId4"/>
                <a:stretch>
                  <a:fillRect l="-610" t="-1521" r="-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1740FF-04C1-1D93-9036-B4C1CA37E52E}"/>
                  </a:ext>
                </a:extLst>
              </p:cNvPr>
              <p:cNvSpPr txBox="1"/>
              <p:nvPr/>
            </p:nvSpPr>
            <p:spPr>
              <a:xfrm>
                <a:off x="2439497" y="3078366"/>
                <a:ext cx="6042043" cy="1944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Since there is a negative sign before the brackets, we remove the brackets and change the sign of 8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, we obtain -8 and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endParaRPr lang="en-US" sz="1600" b="1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Cancel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 and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16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𝟗</m:t>
                        </m:r>
                      </m:den>
                    </m:f>
                  </m:oMath>
                </a14:m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 . we obtain 3 – 8</a:t>
                </a:r>
                <a:endParaRPr lang="en-US" sz="1600" b="1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6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Subtract 3 from -8 , the final result is -5</a:t>
                </a:r>
                <a:endParaRPr lang="en-US" sz="1600" b="1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1740FF-04C1-1D93-9036-B4C1CA37E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497" y="3078366"/>
                <a:ext cx="6042043" cy="1944635"/>
              </a:xfrm>
              <a:prstGeom prst="rect">
                <a:avLst/>
              </a:prstGeom>
              <a:blipFill>
                <a:blip r:embed="rId5"/>
                <a:stretch>
                  <a:fillRect l="-505" t="-1254" r="-908" b="-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A0FA446C-9254-21FC-6BCE-19410F3D05A1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DBA4C3E-BB38-6284-F332-0B8BA859D26E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717C25-A1A3-213F-C481-33982C6583AD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C. Writing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34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905E50-3A40-1703-F626-4737A148BF00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8485" y="782372"/>
            <a:ext cx="4867031" cy="726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 </a:t>
            </a:r>
            <a:endParaRPr lang="en-US" sz="20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96A867-E098-05F5-E6FB-2CF72CEC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81" y="1708789"/>
            <a:ext cx="8135947" cy="21879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A5970-AA8C-F1EA-BEDD-B1567A4B78C6}"/>
              </a:ext>
            </a:extLst>
          </p:cNvPr>
          <p:cNvSpPr txBox="1"/>
          <p:nvPr/>
        </p:nvSpPr>
        <p:spPr>
          <a:xfrm>
            <a:off x="5232854" y="2114417"/>
            <a:ext cx="122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side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23755-E61F-54F8-EA62-D5777FC96159}"/>
              </a:ext>
            </a:extLst>
          </p:cNvPr>
          <p:cNvSpPr txBox="1"/>
          <p:nvPr/>
        </p:nvSpPr>
        <p:spPr>
          <a:xfrm>
            <a:off x="7445440" y="2114417"/>
            <a:ext cx="122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side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BECEB-8659-C707-4B35-D4E5817638B4}"/>
              </a:ext>
            </a:extLst>
          </p:cNvPr>
          <p:cNvSpPr txBox="1"/>
          <p:nvPr/>
        </p:nvSpPr>
        <p:spPr>
          <a:xfrm>
            <a:off x="3458298" y="2483749"/>
            <a:ext cx="1220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</a:t>
            </a:r>
            <a:endParaRPr lang="en-US" sz="18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A639A3-763F-6780-8892-00F5CE2D98EE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4E914F3-0D1B-04A0-8BAC-6D0B50CFB3DA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D65980-51BC-C9AE-06B8-25A1C6B049B5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D. Writing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>
          <a:extLst>
            <a:ext uri="{FF2B5EF4-FFF2-40B4-BE49-F238E27FC236}">
              <a16:creationId xmlns:a16="http://schemas.microsoft.com/office/drawing/2014/main" id="{46A770B4-4861-DCB2-2639-196697B8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DDD566-30CB-3054-31E8-3EDF0B465F38}"/>
              </a:ext>
            </a:extLst>
          </p:cNvPr>
          <p:cNvSpPr/>
          <p:nvPr/>
        </p:nvSpPr>
        <p:spPr>
          <a:xfrm>
            <a:off x="160771" y="236220"/>
            <a:ext cx="8731769" cy="470154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8" name="Google Shape;1678;p43">
            <a:extLst>
              <a:ext uri="{FF2B5EF4-FFF2-40B4-BE49-F238E27FC236}">
                <a16:creationId xmlns:a16="http://schemas.microsoft.com/office/drawing/2014/main" id="{E8D3F9A5-72F2-22F4-9FAE-6E4F14077983}"/>
              </a:ext>
            </a:extLst>
          </p:cNvPr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>
            <a:extLst>
              <a:ext uri="{FF2B5EF4-FFF2-40B4-BE49-F238E27FC236}">
                <a16:creationId xmlns:a16="http://schemas.microsoft.com/office/drawing/2014/main" id="{48A60C59-F9F2-97B1-0124-B86A38712DBB}"/>
              </a:ext>
            </a:extLst>
          </p:cNvPr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EBACC8-348A-4D14-33BF-F2F8574FF7EE}"/>
              </a:ext>
            </a:extLst>
          </p:cNvPr>
          <p:cNvSpPr txBox="1"/>
          <p:nvPr/>
        </p:nvSpPr>
        <p:spPr>
          <a:xfrm>
            <a:off x="2722058" y="376080"/>
            <a:ext cx="4867031" cy="726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solidFill>
                  <a:srgbClr val="0070C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Fill in the blanks to express the process of the following operations in words </a:t>
            </a:r>
            <a:endParaRPr lang="en-US" sz="2000" dirty="0">
              <a:solidFill>
                <a:srgbClr val="0070C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BCCDF-B104-FB4B-FCB0-CC777DFC3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96" y="1239194"/>
            <a:ext cx="8145685" cy="33176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C56CF6-F0C0-D24E-8ED8-8FDACFD9B59B}"/>
                  </a:ext>
                </a:extLst>
              </p:cNvPr>
              <p:cNvSpPr txBox="1"/>
              <p:nvPr/>
            </p:nvSpPr>
            <p:spPr>
              <a:xfrm>
                <a:off x="2403763" y="1378229"/>
                <a:ext cx="6084289" cy="1903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Change +2 from the left-hand side to the right-hand side and change its sign to -2</a:t>
                </a:r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Divide both sides by -3</a:t>
                </a:r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The result is x = </a:t>
                </a:r>
                <a14:m>
                  <m:oMath xmlns:m="http://schemas.openxmlformats.org/officeDocument/2006/math">
                    <m:r>
                      <a:rPr lang="en-US" sz="1700" b="1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omic Sans MS" panose="030F0702030302020204" pitchFamily="66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7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7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7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omic Sans MS" panose="030F0702030302020204" pitchFamily="66" charset="0"/>
                            <a:cs typeface="Times New Roman" panose="020206030504050203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700" b="1" dirty="0">
                    <a:solidFill>
                      <a:srgbClr val="FF0000"/>
                    </a:solidFill>
                    <a:effectLst/>
                    <a:latin typeface="Segoe UI" panose="020B0502040204020203" pitchFamily="34" charset="0"/>
                    <a:ea typeface="Comic Sans MS" panose="030F0702030302020204" pitchFamily="66" charset="0"/>
                    <a:cs typeface="Segoe UI" panose="020B0502040204020203" pitchFamily="34" charset="0"/>
                  </a:rPr>
                  <a:t> </a:t>
                </a:r>
                <a:endParaRPr lang="en-US" sz="1700" dirty="0">
                  <a:solidFill>
                    <a:srgbClr val="FF0000"/>
                  </a:solidFill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C56CF6-F0C0-D24E-8ED8-8FDACFD9B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763" y="1378229"/>
                <a:ext cx="6084289" cy="1903663"/>
              </a:xfrm>
              <a:prstGeom prst="rect">
                <a:avLst/>
              </a:prstGeom>
              <a:blipFill>
                <a:blip r:embed="rId4"/>
                <a:stretch>
                  <a:fillRect l="-601" t="-962" r="-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CF07B3E-9E6C-9874-7885-711B372227CE}"/>
              </a:ext>
            </a:extLst>
          </p:cNvPr>
          <p:cNvSpPr txBox="1"/>
          <p:nvPr/>
        </p:nvSpPr>
        <p:spPr>
          <a:xfrm>
            <a:off x="2403763" y="2948410"/>
            <a:ext cx="6025889" cy="15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Change +3 from the left-hand side to the right hand side and change its sign to -3</a:t>
            </a:r>
            <a:r>
              <a:rPr lang="vi-VN" sz="1700" dirty="0">
                <a:solidFill>
                  <a:srgbClr val="FF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. </a:t>
            </a:r>
            <a:r>
              <a:rPr lang="en-US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Change +4x from the right-hand side to the left-hand side and change its sign to -4x</a:t>
            </a:r>
            <a:endParaRPr lang="en-US" sz="1700" dirty="0">
              <a:solidFill>
                <a:srgbClr val="FF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Subtract -4x from 5x, we obtain </a:t>
            </a:r>
            <a:r>
              <a:rPr lang="vi-VN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x. </a:t>
            </a:r>
            <a:r>
              <a:rPr lang="en-US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Subtract -3 from -7, we obtain -10</a:t>
            </a:r>
            <a:r>
              <a:rPr lang="en-US" sz="1700" dirty="0">
                <a:solidFill>
                  <a:srgbClr val="FF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. </a:t>
            </a:r>
            <a:r>
              <a:rPr lang="en-US" sz="1700" b="1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Comic Sans MS" panose="030F0702030302020204" pitchFamily="66" charset="0"/>
                <a:cs typeface="Segoe UI" panose="020B0502040204020203" pitchFamily="34" charset="0"/>
              </a:rPr>
              <a:t>The result is x = -10</a:t>
            </a:r>
            <a:endParaRPr lang="en-US" sz="1700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DBA8E3-B760-9AD1-26B6-DD87938CC1BB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3893F5A-4DAA-FA0D-1B13-58E231B038CD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A75981-653D-CF7F-9385-9CEECBC93B2C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D. Writing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500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1A602B-BFA7-8307-E6BE-75BCEA8472A5}"/>
              </a:ext>
            </a:extLst>
          </p:cNvPr>
          <p:cNvSpPr/>
          <p:nvPr/>
        </p:nvSpPr>
        <p:spPr>
          <a:xfrm>
            <a:off x="25810" y="381460"/>
            <a:ext cx="9092381" cy="453691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8" name="Google Shape;1678;p43"/>
          <p:cNvSpPr/>
          <p:nvPr/>
        </p:nvSpPr>
        <p:spPr>
          <a:xfrm rot="1701538">
            <a:off x="8082507" y="531726"/>
            <a:ext cx="520112" cy="177070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3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1"/>
                </a:cubicBezTo>
                <a:cubicBezTo>
                  <a:pt x="44798" y="120740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80"/>
                </a:cubicBezTo>
                <a:cubicBezTo>
                  <a:pt x="114933" y="22880"/>
                  <a:pt x="129789" y="22880"/>
                  <a:pt x="144732" y="22880"/>
                </a:cubicBezTo>
                <a:cubicBezTo>
                  <a:pt x="159329" y="22880"/>
                  <a:pt x="174012" y="22880"/>
                  <a:pt x="188609" y="22880"/>
                </a:cubicBezTo>
                <a:cubicBezTo>
                  <a:pt x="204674" y="22880"/>
                  <a:pt x="220740" y="22880"/>
                  <a:pt x="236805" y="22880"/>
                </a:cubicBezTo>
                <a:cubicBezTo>
                  <a:pt x="249847" y="22880"/>
                  <a:pt x="262976" y="22880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80"/>
                </a:cubicBezTo>
                <a:cubicBezTo>
                  <a:pt x="380529" y="22880"/>
                  <a:pt x="395213" y="22880"/>
                  <a:pt x="409810" y="22880"/>
                </a:cubicBezTo>
                <a:cubicBezTo>
                  <a:pt x="419915" y="22880"/>
                  <a:pt x="430021" y="22966"/>
                  <a:pt x="440127" y="22880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79" name="Google Shape;1679;p43"/>
          <p:cNvSpPr/>
          <p:nvPr/>
        </p:nvSpPr>
        <p:spPr>
          <a:xfrm rot="-1247444">
            <a:off x="7601128" y="312130"/>
            <a:ext cx="520170" cy="163255"/>
          </a:xfrm>
          <a:custGeom>
            <a:avLst/>
            <a:gdLst/>
            <a:ahLst/>
            <a:cxnLst/>
            <a:rect l="l" t="t" r="r" b="b"/>
            <a:pathLst>
              <a:path w="520105" h="163235" extrusionOk="0">
                <a:moveTo>
                  <a:pt x="368351" y="77"/>
                </a:moveTo>
                <a:cubicBezTo>
                  <a:pt x="361787" y="77"/>
                  <a:pt x="355222" y="77"/>
                  <a:pt x="348658" y="77"/>
                </a:cubicBezTo>
                <a:cubicBezTo>
                  <a:pt x="339934" y="77"/>
                  <a:pt x="331211" y="77"/>
                  <a:pt x="322401" y="77"/>
                </a:cubicBezTo>
                <a:cubicBezTo>
                  <a:pt x="315836" y="77"/>
                  <a:pt x="309272" y="77"/>
                  <a:pt x="302708" y="77"/>
                </a:cubicBezTo>
                <a:cubicBezTo>
                  <a:pt x="295539" y="77"/>
                  <a:pt x="288370" y="77"/>
                  <a:pt x="281201" y="77"/>
                </a:cubicBezTo>
                <a:cubicBezTo>
                  <a:pt x="272995" y="77"/>
                  <a:pt x="264790" y="77"/>
                  <a:pt x="256584" y="77"/>
                </a:cubicBezTo>
                <a:cubicBezTo>
                  <a:pt x="247947" y="77"/>
                  <a:pt x="239224" y="77"/>
                  <a:pt x="230586" y="77"/>
                </a:cubicBezTo>
                <a:cubicBezTo>
                  <a:pt x="222381" y="77"/>
                  <a:pt x="214175" y="77"/>
                  <a:pt x="205970" y="77"/>
                </a:cubicBezTo>
                <a:cubicBezTo>
                  <a:pt x="195778" y="77"/>
                  <a:pt x="185672" y="77"/>
                  <a:pt x="175480" y="77"/>
                </a:cubicBezTo>
                <a:cubicBezTo>
                  <a:pt x="167189" y="77"/>
                  <a:pt x="158983" y="77"/>
                  <a:pt x="150691" y="77"/>
                </a:cubicBezTo>
                <a:cubicBezTo>
                  <a:pt x="140499" y="77"/>
                  <a:pt x="130394" y="77"/>
                  <a:pt x="120202" y="77"/>
                </a:cubicBezTo>
                <a:cubicBezTo>
                  <a:pt x="111219" y="77"/>
                  <a:pt x="102236" y="-182"/>
                  <a:pt x="93167" y="250"/>
                </a:cubicBezTo>
                <a:cubicBezTo>
                  <a:pt x="85653" y="595"/>
                  <a:pt x="78311" y="1632"/>
                  <a:pt x="71142" y="3446"/>
                </a:cubicBezTo>
                <a:cubicBezTo>
                  <a:pt x="49808" y="8801"/>
                  <a:pt x="32361" y="18734"/>
                  <a:pt x="19232" y="33503"/>
                </a:cubicBezTo>
                <a:cubicBezTo>
                  <a:pt x="7658" y="46459"/>
                  <a:pt x="1266" y="61143"/>
                  <a:pt x="144" y="77208"/>
                </a:cubicBezTo>
                <a:cubicBezTo>
                  <a:pt x="-720" y="90941"/>
                  <a:pt x="2303" y="103984"/>
                  <a:pt x="9472" y="116421"/>
                </a:cubicBezTo>
                <a:cubicBezTo>
                  <a:pt x="15777" y="127391"/>
                  <a:pt x="24587" y="136719"/>
                  <a:pt x="35902" y="144406"/>
                </a:cubicBezTo>
                <a:cubicBezTo>
                  <a:pt x="49549" y="153648"/>
                  <a:pt x="65096" y="159608"/>
                  <a:pt x="82630" y="162026"/>
                </a:cubicBezTo>
                <a:cubicBezTo>
                  <a:pt x="86689" y="162544"/>
                  <a:pt x="90835" y="163063"/>
                  <a:pt x="94981" y="163149"/>
                </a:cubicBezTo>
                <a:cubicBezTo>
                  <a:pt x="135749" y="163149"/>
                  <a:pt x="176430" y="163149"/>
                  <a:pt x="217198" y="163235"/>
                </a:cubicBezTo>
                <a:cubicBezTo>
                  <a:pt x="254080" y="163235"/>
                  <a:pt x="290961" y="163235"/>
                  <a:pt x="327842" y="163235"/>
                </a:cubicBezTo>
                <a:cubicBezTo>
                  <a:pt x="351681" y="163235"/>
                  <a:pt x="375520" y="163235"/>
                  <a:pt x="399359" y="163235"/>
                </a:cubicBezTo>
                <a:cubicBezTo>
                  <a:pt x="406700" y="163235"/>
                  <a:pt x="412574" y="158226"/>
                  <a:pt x="412746" y="152180"/>
                </a:cubicBezTo>
                <a:cubicBezTo>
                  <a:pt x="412919" y="146134"/>
                  <a:pt x="407305" y="140951"/>
                  <a:pt x="399963" y="140692"/>
                </a:cubicBezTo>
                <a:cubicBezTo>
                  <a:pt x="393485" y="140519"/>
                  <a:pt x="386921" y="140606"/>
                  <a:pt x="380443" y="140606"/>
                </a:cubicBezTo>
                <a:cubicBezTo>
                  <a:pt x="371979" y="140606"/>
                  <a:pt x="363514" y="140606"/>
                  <a:pt x="355049" y="140606"/>
                </a:cubicBezTo>
                <a:cubicBezTo>
                  <a:pt x="346671" y="140606"/>
                  <a:pt x="338207" y="140606"/>
                  <a:pt x="329829" y="140606"/>
                </a:cubicBezTo>
                <a:cubicBezTo>
                  <a:pt x="321364" y="140606"/>
                  <a:pt x="312900" y="140606"/>
                  <a:pt x="304435" y="140606"/>
                </a:cubicBezTo>
                <a:cubicBezTo>
                  <a:pt x="295884" y="140606"/>
                  <a:pt x="287333" y="140606"/>
                  <a:pt x="278782" y="140606"/>
                </a:cubicBezTo>
                <a:cubicBezTo>
                  <a:pt x="270231" y="140606"/>
                  <a:pt x="262112" y="140606"/>
                  <a:pt x="253734" y="140606"/>
                </a:cubicBezTo>
                <a:cubicBezTo>
                  <a:pt x="245270" y="140606"/>
                  <a:pt x="236805" y="140606"/>
                  <a:pt x="228341" y="140606"/>
                </a:cubicBezTo>
                <a:cubicBezTo>
                  <a:pt x="219962" y="140606"/>
                  <a:pt x="211498" y="140606"/>
                  <a:pt x="203120" y="140606"/>
                </a:cubicBezTo>
                <a:cubicBezTo>
                  <a:pt x="194655" y="140606"/>
                  <a:pt x="186191" y="140606"/>
                  <a:pt x="177726" y="140606"/>
                </a:cubicBezTo>
                <a:cubicBezTo>
                  <a:pt x="169262" y="140606"/>
                  <a:pt x="160797" y="140606"/>
                  <a:pt x="152332" y="140606"/>
                </a:cubicBezTo>
                <a:cubicBezTo>
                  <a:pt x="143954" y="140606"/>
                  <a:pt x="135490" y="140606"/>
                  <a:pt x="127112" y="140606"/>
                </a:cubicBezTo>
                <a:cubicBezTo>
                  <a:pt x="118647" y="140606"/>
                  <a:pt x="110183" y="140606"/>
                  <a:pt x="101718" y="140606"/>
                </a:cubicBezTo>
                <a:cubicBezTo>
                  <a:pt x="92390" y="140606"/>
                  <a:pt x="83321" y="139569"/>
                  <a:pt x="74597" y="136892"/>
                </a:cubicBezTo>
                <a:cubicBezTo>
                  <a:pt x="67083" y="134560"/>
                  <a:pt x="60259" y="131364"/>
                  <a:pt x="54127" y="127132"/>
                </a:cubicBezTo>
                <a:cubicBezTo>
                  <a:pt x="44798" y="120826"/>
                  <a:pt x="37802" y="113053"/>
                  <a:pt x="33224" y="103811"/>
                </a:cubicBezTo>
                <a:cubicBezTo>
                  <a:pt x="27437" y="92064"/>
                  <a:pt x="26487" y="79972"/>
                  <a:pt x="30029" y="67707"/>
                </a:cubicBezTo>
                <a:cubicBezTo>
                  <a:pt x="33138" y="57083"/>
                  <a:pt x="39443" y="47841"/>
                  <a:pt x="49031" y="40154"/>
                </a:cubicBezTo>
                <a:cubicBezTo>
                  <a:pt x="63109" y="28753"/>
                  <a:pt x="80125" y="22966"/>
                  <a:pt x="99991" y="22879"/>
                </a:cubicBezTo>
                <a:cubicBezTo>
                  <a:pt x="114933" y="22879"/>
                  <a:pt x="129789" y="22879"/>
                  <a:pt x="144732" y="22879"/>
                </a:cubicBezTo>
                <a:cubicBezTo>
                  <a:pt x="159329" y="22879"/>
                  <a:pt x="174012" y="22879"/>
                  <a:pt x="188609" y="22879"/>
                </a:cubicBezTo>
                <a:cubicBezTo>
                  <a:pt x="204674" y="22879"/>
                  <a:pt x="220740" y="22879"/>
                  <a:pt x="236805" y="22879"/>
                </a:cubicBezTo>
                <a:cubicBezTo>
                  <a:pt x="249847" y="22879"/>
                  <a:pt x="262976" y="22879"/>
                  <a:pt x="276018" y="22793"/>
                </a:cubicBezTo>
                <a:cubicBezTo>
                  <a:pt x="289924" y="22793"/>
                  <a:pt x="303830" y="22793"/>
                  <a:pt x="317736" y="22793"/>
                </a:cubicBezTo>
                <a:cubicBezTo>
                  <a:pt x="333802" y="22793"/>
                  <a:pt x="349867" y="22793"/>
                  <a:pt x="365932" y="22879"/>
                </a:cubicBezTo>
                <a:cubicBezTo>
                  <a:pt x="380529" y="22879"/>
                  <a:pt x="395213" y="22879"/>
                  <a:pt x="409810" y="22879"/>
                </a:cubicBezTo>
                <a:cubicBezTo>
                  <a:pt x="419915" y="22879"/>
                  <a:pt x="430021" y="22966"/>
                  <a:pt x="440127" y="22879"/>
                </a:cubicBezTo>
                <a:cubicBezTo>
                  <a:pt x="459733" y="22793"/>
                  <a:pt x="475021" y="29357"/>
                  <a:pt x="485213" y="43091"/>
                </a:cubicBezTo>
                <a:cubicBezTo>
                  <a:pt x="497910" y="60365"/>
                  <a:pt x="493246" y="82131"/>
                  <a:pt x="475108" y="95174"/>
                </a:cubicBezTo>
                <a:cubicBezTo>
                  <a:pt x="465607" y="101997"/>
                  <a:pt x="454551" y="105366"/>
                  <a:pt x="441940" y="105366"/>
                </a:cubicBezTo>
                <a:cubicBezTo>
                  <a:pt x="415165" y="105366"/>
                  <a:pt x="388476" y="105366"/>
                  <a:pt x="361700" y="105366"/>
                </a:cubicBezTo>
                <a:cubicBezTo>
                  <a:pt x="302880" y="105366"/>
                  <a:pt x="244147" y="105366"/>
                  <a:pt x="185327" y="105366"/>
                </a:cubicBezTo>
                <a:cubicBezTo>
                  <a:pt x="167966" y="105366"/>
                  <a:pt x="154837" y="93360"/>
                  <a:pt x="156478" y="79281"/>
                </a:cubicBezTo>
                <a:cubicBezTo>
                  <a:pt x="157860" y="67189"/>
                  <a:pt x="169866" y="58120"/>
                  <a:pt x="185241" y="57861"/>
                </a:cubicBezTo>
                <a:cubicBezTo>
                  <a:pt x="198369" y="57688"/>
                  <a:pt x="211584" y="57861"/>
                  <a:pt x="224713" y="57861"/>
                </a:cubicBezTo>
                <a:cubicBezTo>
                  <a:pt x="240778" y="57861"/>
                  <a:pt x="256844" y="57861"/>
                  <a:pt x="272995" y="57861"/>
                </a:cubicBezTo>
                <a:cubicBezTo>
                  <a:pt x="289147" y="57861"/>
                  <a:pt x="305299" y="57861"/>
                  <a:pt x="321450" y="57861"/>
                </a:cubicBezTo>
                <a:cubicBezTo>
                  <a:pt x="337602" y="57861"/>
                  <a:pt x="353754" y="57861"/>
                  <a:pt x="369906" y="57861"/>
                </a:cubicBezTo>
                <a:cubicBezTo>
                  <a:pt x="379407" y="57861"/>
                  <a:pt x="388908" y="57947"/>
                  <a:pt x="398409" y="57947"/>
                </a:cubicBezTo>
                <a:cubicBezTo>
                  <a:pt x="403332" y="57947"/>
                  <a:pt x="407564" y="56479"/>
                  <a:pt x="410501" y="53024"/>
                </a:cubicBezTo>
                <a:cubicBezTo>
                  <a:pt x="413351" y="49655"/>
                  <a:pt x="413956" y="45855"/>
                  <a:pt x="411883" y="42054"/>
                </a:cubicBezTo>
                <a:cubicBezTo>
                  <a:pt x="409551" y="37736"/>
                  <a:pt x="405491" y="35231"/>
                  <a:pt x="399704" y="35231"/>
                </a:cubicBezTo>
                <a:cubicBezTo>
                  <a:pt x="386057" y="35144"/>
                  <a:pt x="372410" y="35231"/>
                  <a:pt x="358763" y="35231"/>
                </a:cubicBezTo>
                <a:cubicBezTo>
                  <a:pt x="340971" y="35231"/>
                  <a:pt x="323178" y="35231"/>
                  <a:pt x="305385" y="35231"/>
                </a:cubicBezTo>
                <a:cubicBezTo>
                  <a:pt x="286210" y="35231"/>
                  <a:pt x="267122" y="35231"/>
                  <a:pt x="247947" y="35231"/>
                </a:cubicBezTo>
                <a:cubicBezTo>
                  <a:pt x="230068" y="35231"/>
                  <a:pt x="212102" y="35231"/>
                  <a:pt x="194223" y="35231"/>
                </a:cubicBezTo>
                <a:cubicBezTo>
                  <a:pt x="187313" y="35231"/>
                  <a:pt x="180317" y="34885"/>
                  <a:pt x="173580" y="36267"/>
                </a:cubicBezTo>
                <a:cubicBezTo>
                  <a:pt x="151901" y="40586"/>
                  <a:pt x="137476" y="51469"/>
                  <a:pt x="130826" y="69003"/>
                </a:cubicBezTo>
                <a:cubicBezTo>
                  <a:pt x="127371" y="78072"/>
                  <a:pt x="127803" y="87141"/>
                  <a:pt x="131430" y="96124"/>
                </a:cubicBezTo>
                <a:cubicBezTo>
                  <a:pt x="135058" y="105366"/>
                  <a:pt x="141622" y="112880"/>
                  <a:pt x="151037" y="118753"/>
                </a:cubicBezTo>
                <a:cubicBezTo>
                  <a:pt x="158897" y="123590"/>
                  <a:pt x="167707" y="126613"/>
                  <a:pt x="177467" y="127736"/>
                </a:cubicBezTo>
                <a:cubicBezTo>
                  <a:pt x="182995" y="128341"/>
                  <a:pt x="188609" y="128168"/>
                  <a:pt x="194137" y="128168"/>
                </a:cubicBezTo>
                <a:cubicBezTo>
                  <a:pt x="207266" y="128168"/>
                  <a:pt x="220481" y="128168"/>
                  <a:pt x="233609" y="128168"/>
                </a:cubicBezTo>
                <a:cubicBezTo>
                  <a:pt x="246479" y="128168"/>
                  <a:pt x="259435" y="128168"/>
                  <a:pt x="272304" y="128168"/>
                </a:cubicBezTo>
                <a:cubicBezTo>
                  <a:pt x="285433" y="128168"/>
                  <a:pt x="298648" y="128168"/>
                  <a:pt x="311777" y="128168"/>
                </a:cubicBezTo>
                <a:cubicBezTo>
                  <a:pt x="324646" y="128168"/>
                  <a:pt x="337602" y="128168"/>
                  <a:pt x="350472" y="128168"/>
                </a:cubicBezTo>
                <a:cubicBezTo>
                  <a:pt x="363600" y="128168"/>
                  <a:pt x="376815" y="128168"/>
                  <a:pt x="389944" y="128168"/>
                </a:cubicBezTo>
                <a:cubicBezTo>
                  <a:pt x="403073" y="128168"/>
                  <a:pt x="416115" y="128168"/>
                  <a:pt x="429244" y="128168"/>
                </a:cubicBezTo>
                <a:cubicBezTo>
                  <a:pt x="436672" y="128168"/>
                  <a:pt x="444100" y="128427"/>
                  <a:pt x="451441" y="127650"/>
                </a:cubicBezTo>
                <a:cubicBezTo>
                  <a:pt x="471739" y="125490"/>
                  <a:pt x="488495" y="118062"/>
                  <a:pt x="501710" y="105193"/>
                </a:cubicBezTo>
                <a:cubicBezTo>
                  <a:pt x="512766" y="94396"/>
                  <a:pt x="518812" y="81872"/>
                  <a:pt x="519935" y="67880"/>
                </a:cubicBezTo>
                <a:cubicBezTo>
                  <a:pt x="520712" y="58465"/>
                  <a:pt x="518812" y="49223"/>
                  <a:pt x="514494" y="40413"/>
                </a:cubicBezTo>
                <a:cubicBezTo>
                  <a:pt x="508102" y="27457"/>
                  <a:pt x="497651" y="17179"/>
                  <a:pt x="483140" y="9751"/>
                </a:cubicBezTo>
                <a:cubicBezTo>
                  <a:pt x="470098" y="3014"/>
                  <a:pt x="455674" y="77"/>
                  <a:pt x="440299" y="77"/>
                </a:cubicBezTo>
                <a:cubicBezTo>
                  <a:pt x="433217" y="77"/>
                  <a:pt x="426221" y="77"/>
                  <a:pt x="419138" y="77"/>
                </a:cubicBezTo>
                <a:cubicBezTo>
                  <a:pt x="411105" y="77"/>
                  <a:pt x="402986" y="77"/>
                  <a:pt x="394954" y="77"/>
                </a:cubicBezTo>
                <a:cubicBezTo>
                  <a:pt x="386144" y="77"/>
                  <a:pt x="377334" y="77"/>
                  <a:pt x="368524" y="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5729" y="646238"/>
            <a:ext cx="8032278" cy="2243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Tx/>
              <a:buChar char="-"/>
            </a:pPr>
            <a:r>
              <a:rPr lang="en-US" sz="2200" b="1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Vocabulary: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equation, expression, left-hand side, right-hand side, positive sign, negative sign.</a:t>
            </a:r>
            <a:r>
              <a:rPr lang="en-US" sz="2400" b="1" kern="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 </a:t>
            </a:r>
          </a:p>
          <a:p>
            <a:pPr marL="342900" indent="-342900">
              <a:lnSpc>
                <a:spcPct val="125000"/>
              </a:lnSpc>
              <a:buFontTx/>
              <a:buChar char="-"/>
            </a:pP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Know equation, expression, left-hand side, right-hand side, positive sign, negative sign, and how to change sides and remove brackets.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A4C1EA-B4F4-1AFB-CAE0-C1FF74F64AC3}"/>
              </a:ext>
            </a:extLst>
          </p:cNvPr>
          <p:cNvSpPr txBox="1"/>
          <p:nvPr/>
        </p:nvSpPr>
        <p:spPr>
          <a:xfrm>
            <a:off x="175729" y="2780051"/>
            <a:ext cx="8792542" cy="206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0000"/>
              </a:buClr>
              <a:buFontTx/>
              <a:buChar char="-"/>
            </a:pPr>
            <a:r>
              <a:rPr lang="en-US" sz="2200" b="1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Sentence Patterns: </a:t>
            </a:r>
          </a:p>
          <a:p>
            <a:pPr>
              <a:lnSpc>
                <a:spcPct val="150000"/>
              </a:lnSpc>
            </a:pPr>
            <a:r>
              <a:rPr lang="en-US" sz="2200" kern="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/>
              </a:rPr>
              <a:t>   + </a:t>
            </a:r>
            <a:r>
              <a:rPr lang="en-US" sz="2200" dirty="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an equation, if we change a term from left-hand side to right-hand side or vice versa, we must change its </a:t>
            </a:r>
            <a:r>
              <a:rPr lang="en-US" sz="2200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sign.</a:t>
            </a:r>
          </a:p>
          <a:p>
            <a:pPr marL="342900" indent="-342900">
              <a:lnSpc>
                <a:spcPct val="150000"/>
              </a:lnSpc>
              <a:buFont typeface="Yu Gothic UI" panose="020B0500000000000000" pitchFamily="34" charset="-128"/>
              <a:buChar char="-"/>
            </a:pPr>
            <a:r>
              <a:rPr lang="en-US" sz="2200" b="1">
                <a:solidFill>
                  <a:schemeClr val="bg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Prepare the next lesson.</a:t>
            </a:r>
            <a:endParaRPr lang="en-US" sz="2200" b="1" dirty="0">
              <a:solidFill>
                <a:schemeClr val="bg1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FC2989-0BE4-E4D3-85E0-D9DF5A80AE56}"/>
              </a:ext>
            </a:extLst>
          </p:cNvPr>
          <p:cNvGrpSpPr/>
          <p:nvPr/>
        </p:nvGrpSpPr>
        <p:grpSpPr>
          <a:xfrm>
            <a:off x="7370" y="74143"/>
            <a:ext cx="2616957" cy="554853"/>
            <a:chOff x="765699" y="387966"/>
            <a:chExt cx="1422549" cy="44964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F98EA39-35A2-5308-594C-FFCAA3A1E53C}"/>
                </a:ext>
              </a:extLst>
            </p:cNvPr>
            <p:cNvSpPr/>
            <p:nvPr/>
          </p:nvSpPr>
          <p:spPr>
            <a:xfrm>
              <a:off x="849086" y="417008"/>
              <a:ext cx="1255776" cy="39870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B3FE1F-A384-E7CC-4507-6BD9ECDDFA70}"/>
                </a:ext>
              </a:extLst>
            </p:cNvPr>
            <p:cNvSpPr txBox="1"/>
            <p:nvPr/>
          </p:nvSpPr>
          <p:spPr>
            <a:xfrm>
              <a:off x="765699" y="387966"/>
              <a:ext cx="1422549" cy="4496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sz="2800" b="1">
                  <a:solidFill>
                    <a:srgbClr val="FF0000"/>
                  </a:solidFill>
                  <a:latin typeface="Quattrocento Sans" panose="020B0502050000020003" pitchFamily="34" charset="0"/>
                  <a:ea typeface="Roboto Medium" panose="02000000000000000000" pitchFamily="2" charset="0"/>
                  <a:cs typeface="Segoe UI" panose="020B0502040204020203" pitchFamily="34" charset="0"/>
                </a:rPr>
                <a:t>Consolidation</a:t>
              </a:r>
              <a:endParaRPr lang="en-US" sz="2800" b="1" dirty="0">
                <a:solidFill>
                  <a:srgbClr val="FF0000"/>
                </a:solidFill>
                <a:latin typeface="Quattrocento Sans" panose="020B0502050000020003" pitchFamily="34" charset="0"/>
                <a:ea typeface="Roboto Medium" panose="020000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9" name="Google Shape;2759;p69"/>
          <p:cNvGrpSpPr/>
          <p:nvPr/>
        </p:nvGrpSpPr>
        <p:grpSpPr>
          <a:xfrm rot="-763439" flipH="1">
            <a:off x="3595508" y="4218226"/>
            <a:ext cx="1651320" cy="1610454"/>
            <a:chOff x="1825325" y="2131820"/>
            <a:chExt cx="1134823" cy="1106813"/>
          </a:xfrm>
        </p:grpSpPr>
        <p:sp>
          <p:nvSpPr>
            <p:cNvPr id="2760" name="Google Shape;2760;p69"/>
            <p:cNvSpPr/>
            <p:nvPr/>
          </p:nvSpPr>
          <p:spPr>
            <a:xfrm>
              <a:off x="2202746" y="2480281"/>
              <a:ext cx="365875" cy="381508"/>
            </a:xfrm>
            <a:custGeom>
              <a:avLst/>
              <a:gdLst/>
              <a:ahLst/>
              <a:cxnLst/>
              <a:rect l="l" t="t" r="r" b="b"/>
              <a:pathLst>
                <a:path w="365875" h="381508" extrusionOk="0">
                  <a:moveTo>
                    <a:pt x="365875" y="0"/>
                  </a:moveTo>
                  <a:lnTo>
                    <a:pt x="0" y="381509"/>
                  </a:lnTo>
                </a:path>
              </a:pathLst>
            </a:custGeom>
            <a:noFill/>
            <a:ln w="15100" cap="flat" cmpd="sng">
              <a:solidFill>
                <a:schemeClr val="accent3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1" name="Google Shape;2761;p69"/>
            <p:cNvSpPr/>
            <p:nvPr/>
          </p:nvSpPr>
          <p:spPr>
            <a:xfrm>
              <a:off x="2023177" y="2290433"/>
              <a:ext cx="884975" cy="500876"/>
            </a:xfrm>
            <a:custGeom>
              <a:avLst/>
              <a:gdLst/>
              <a:ahLst/>
              <a:cxnLst/>
              <a:rect l="l" t="t" r="r" b="b"/>
              <a:pathLst>
                <a:path w="884975" h="500876" extrusionOk="0">
                  <a:moveTo>
                    <a:pt x="31612" y="0"/>
                  </a:moveTo>
                  <a:lnTo>
                    <a:pt x="804476" y="408111"/>
                  </a:lnTo>
                  <a:lnTo>
                    <a:pt x="884976" y="474273"/>
                  </a:lnTo>
                  <a:lnTo>
                    <a:pt x="872538" y="500876"/>
                  </a:lnTo>
                  <a:lnTo>
                    <a:pt x="0" y="32994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2" name="Google Shape;2762;p69"/>
            <p:cNvSpPr/>
            <p:nvPr/>
          </p:nvSpPr>
          <p:spPr>
            <a:xfrm>
              <a:off x="2790344" y="2688788"/>
              <a:ext cx="71768" cy="71768"/>
            </a:xfrm>
            <a:custGeom>
              <a:avLst/>
              <a:gdLst/>
              <a:ahLst/>
              <a:cxnLst/>
              <a:rect l="l" t="t" r="r" b="b"/>
              <a:pathLst>
                <a:path w="71768" h="71768" extrusionOk="0">
                  <a:moveTo>
                    <a:pt x="11052" y="61753"/>
                  </a:moveTo>
                  <a:cubicBezTo>
                    <a:pt x="-3286" y="48020"/>
                    <a:pt x="-3718" y="25304"/>
                    <a:pt x="10016" y="11052"/>
                  </a:cubicBezTo>
                  <a:cubicBezTo>
                    <a:pt x="23749" y="-3286"/>
                    <a:pt x="46465" y="-3718"/>
                    <a:pt x="60716" y="10016"/>
                  </a:cubicBezTo>
                  <a:cubicBezTo>
                    <a:pt x="75054" y="23749"/>
                    <a:pt x="75486" y="46465"/>
                    <a:pt x="61753" y="60716"/>
                  </a:cubicBezTo>
                  <a:cubicBezTo>
                    <a:pt x="48020" y="75054"/>
                    <a:pt x="25304" y="75486"/>
                    <a:pt x="11052" y="61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3" name="Google Shape;2763;p69"/>
            <p:cNvSpPr/>
            <p:nvPr/>
          </p:nvSpPr>
          <p:spPr>
            <a:xfrm>
              <a:off x="2899342" y="2774812"/>
              <a:ext cx="60806" cy="47505"/>
            </a:xfrm>
            <a:custGeom>
              <a:avLst/>
              <a:gdLst/>
              <a:ahLst/>
              <a:cxnLst/>
              <a:rect l="l" t="t" r="r" b="b"/>
              <a:pathLst>
                <a:path w="60806" h="47505" extrusionOk="0">
                  <a:moveTo>
                    <a:pt x="0" y="8637"/>
                  </a:moveTo>
                  <a:lnTo>
                    <a:pt x="60807" y="47505"/>
                  </a:lnTo>
                  <a:lnTo>
                    <a:pt x="4060" y="0"/>
                  </a:lnTo>
                  <a:lnTo>
                    <a:pt x="0" y="86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4" name="Google Shape;2764;p69"/>
            <p:cNvSpPr/>
            <p:nvPr/>
          </p:nvSpPr>
          <p:spPr>
            <a:xfrm>
              <a:off x="1991564" y="2323428"/>
              <a:ext cx="535684" cy="865714"/>
            </a:xfrm>
            <a:custGeom>
              <a:avLst/>
              <a:gdLst/>
              <a:ahLst/>
              <a:cxnLst/>
              <a:rect l="l" t="t" r="r" b="b"/>
              <a:pathLst>
                <a:path w="535684" h="865714" extrusionOk="0">
                  <a:moveTo>
                    <a:pt x="0" y="32994"/>
                  </a:moveTo>
                  <a:lnTo>
                    <a:pt x="440156" y="788065"/>
                  </a:lnTo>
                  <a:lnTo>
                    <a:pt x="509599" y="865715"/>
                  </a:lnTo>
                  <a:lnTo>
                    <a:pt x="535684" y="852154"/>
                  </a:lnTo>
                  <a:lnTo>
                    <a:pt x="31612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5" name="Google Shape;2765;p69"/>
            <p:cNvSpPr/>
            <p:nvPr/>
          </p:nvSpPr>
          <p:spPr>
            <a:xfrm>
              <a:off x="2421909" y="3073092"/>
              <a:ext cx="71705" cy="71705"/>
            </a:xfrm>
            <a:custGeom>
              <a:avLst/>
              <a:gdLst/>
              <a:ahLst/>
              <a:cxnLst/>
              <a:rect l="l" t="t" r="r" b="b"/>
              <a:pathLst>
                <a:path w="71705" h="71705" extrusionOk="0">
                  <a:moveTo>
                    <a:pt x="60685" y="9984"/>
                  </a:moveTo>
                  <a:cubicBezTo>
                    <a:pt x="46347" y="-3749"/>
                    <a:pt x="23717" y="-3231"/>
                    <a:pt x="9984" y="11021"/>
                  </a:cubicBezTo>
                  <a:cubicBezTo>
                    <a:pt x="-3749" y="25359"/>
                    <a:pt x="-3231" y="47988"/>
                    <a:pt x="11021" y="61721"/>
                  </a:cubicBezTo>
                  <a:cubicBezTo>
                    <a:pt x="25358" y="75455"/>
                    <a:pt x="47988" y="74936"/>
                    <a:pt x="61721" y="60685"/>
                  </a:cubicBezTo>
                  <a:cubicBezTo>
                    <a:pt x="75455" y="46347"/>
                    <a:pt x="74937" y="23717"/>
                    <a:pt x="60685" y="998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6" name="Google Shape;2766;p69"/>
            <p:cNvSpPr/>
            <p:nvPr/>
          </p:nvSpPr>
          <p:spPr>
            <a:xfrm>
              <a:off x="2511097" y="3179555"/>
              <a:ext cx="49837" cy="59078"/>
            </a:xfrm>
            <a:custGeom>
              <a:avLst/>
              <a:gdLst/>
              <a:ahLst/>
              <a:cxnLst/>
              <a:rect l="l" t="t" r="r" b="b"/>
              <a:pathLst>
                <a:path w="49837" h="59078" extrusionOk="0">
                  <a:moveTo>
                    <a:pt x="8464" y="0"/>
                  </a:moveTo>
                  <a:lnTo>
                    <a:pt x="49837" y="59079"/>
                  </a:lnTo>
                  <a:lnTo>
                    <a:pt x="0" y="4405"/>
                  </a:lnTo>
                  <a:lnTo>
                    <a:pt x="84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7" name="Google Shape;2767;p69"/>
            <p:cNvSpPr/>
            <p:nvPr/>
          </p:nvSpPr>
          <p:spPr>
            <a:xfrm>
              <a:off x="1956949" y="2255731"/>
              <a:ext cx="304876" cy="300816"/>
            </a:xfrm>
            <a:custGeom>
              <a:avLst/>
              <a:gdLst/>
              <a:ahLst/>
              <a:cxnLst/>
              <a:rect l="l" t="t" r="r" b="b"/>
              <a:pathLst>
                <a:path w="304876" h="300816" extrusionOk="0">
                  <a:moveTo>
                    <a:pt x="31765" y="177908"/>
                  </a:moveTo>
                  <a:cubicBezTo>
                    <a:pt x="-9348" y="138436"/>
                    <a:pt x="-10730" y="72879"/>
                    <a:pt x="28656" y="31765"/>
                  </a:cubicBezTo>
                  <a:cubicBezTo>
                    <a:pt x="68128" y="-9348"/>
                    <a:pt x="133685" y="-10730"/>
                    <a:pt x="174799" y="28656"/>
                  </a:cubicBezTo>
                  <a:cubicBezTo>
                    <a:pt x="195528" y="48522"/>
                    <a:pt x="206066" y="74952"/>
                    <a:pt x="206498" y="101555"/>
                  </a:cubicBezTo>
                  <a:lnTo>
                    <a:pt x="304876" y="195874"/>
                  </a:lnTo>
                  <a:cubicBezTo>
                    <a:pt x="304876" y="195874"/>
                    <a:pt x="281210" y="247870"/>
                    <a:pt x="268168" y="261431"/>
                  </a:cubicBezTo>
                  <a:cubicBezTo>
                    <a:pt x="255126" y="274991"/>
                    <a:pt x="204252" y="300817"/>
                    <a:pt x="204252" y="300817"/>
                  </a:cubicBezTo>
                  <a:lnTo>
                    <a:pt x="105873" y="206498"/>
                  </a:lnTo>
                  <a:cubicBezTo>
                    <a:pt x="79271" y="207189"/>
                    <a:pt x="52409" y="197688"/>
                    <a:pt x="31679" y="1778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8" name="Google Shape;2768;p69"/>
            <p:cNvSpPr/>
            <p:nvPr/>
          </p:nvSpPr>
          <p:spPr>
            <a:xfrm>
              <a:off x="1979562" y="2278345"/>
              <a:ext cx="161423" cy="161423"/>
            </a:xfrm>
            <a:custGeom>
              <a:avLst/>
              <a:gdLst/>
              <a:ahLst/>
              <a:cxnLst/>
              <a:rect l="l" t="t" r="r" b="b"/>
              <a:pathLst>
                <a:path w="161423" h="161423" extrusionOk="0">
                  <a:moveTo>
                    <a:pt x="24872" y="138970"/>
                  </a:moveTo>
                  <a:cubicBezTo>
                    <a:pt x="57002" y="169805"/>
                    <a:pt x="108135" y="168769"/>
                    <a:pt x="138970" y="136552"/>
                  </a:cubicBezTo>
                  <a:cubicBezTo>
                    <a:pt x="169805" y="104334"/>
                    <a:pt x="168769" y="53288"/>
                    <a:pt x="136552" y="22453"/>
                  </a:cubicBezTo>
                  <a:cubicBezTo>
                    <a:pt x="104421" y="-8382"/>
                    <a:pt x="53288" y="-7346"/>
                    <a:pt x="22453" y="24872"/>
                  </a:cubicBezTo>
                  <a:cubicBezTo>
                    <a:pt x="-8382" y="57089"/>
                    <a:pt x="-7346" y="108135"/>
                    <a:pt x="24872" y="13897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69" name="Google Shape;2769;p69"/>
            <p:cNvSpPr/>
            <p:nvPr/>
          </p:nvSpPr>
          <p:spPr>
            <a:xfrm rot="8027126">
              <a:off x="1874623" y="2129568"/>
              <a:ext cx="63620" cy="163718"/>
            </a:xfrm>
            <a:custGeom>
              <a:avLst/>
              <a:gdLst/>
              <a:ahLst/>
              <a:cxnLst/>
              <a:rect l="l" t="t" r="r" b="b"/>
              <a:pathLst>
                <a:path w="63570" h="163590" extrusionOk="0">
                  <a:moveTo>
                    <a:pt x="0" y="0"/>
                  </a:moveTo>
                  <a:lnTo>
                    <a:pt x="63570" y="0"/>
                  </a:lnTo>
                  <a:lnTo>
                    <a:pt x="63570" y="163590"/>
                  </a:lnTo>
                  <a:lnTo>
                    <a:pt x="0" y="1635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0" name="Google Shape;2770;p69"/>
            <p:cNvSpPr/>
            <p:nvPr/>
          </p:nvSpPr>
          <p:spPr>
            <a:xfrm rot="8027126">
              <a:off x="1957606" y="2262178"/>
              <a:ext cx="43479" cy="38379"/>
            </a:xfrm>
            <a:custGeom>
              <a:avLst/>
              <a:gdLst/>
              <a:ahLst/>
              <a:cxnLst/>
              <a:rect l="l" t="t" r="r" b="b"/>
              <a:pathLst>
                <a:path w="43445" h="38349" extrusionOk="0">
                  <a:moveTo>
                    <a:pt x="0" y="0"/>
                  </a:moveTo>
                  <a:lnTo>
                    <a:pt x="43446" y="0"/>
                  </a:lnTo>
                  <a:lnTo>
                    <a:pt x="43446" y="38350"/>
                  </a:lnTo>
                  <a:lnTo>
                    <a:pt x="0" y="383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771" name="Google Shape;2771;p69"/>
            <p:cNvSpPr/>
            <p:nvPr/>
          </p:nvSpPr>
          <p:spPr>
            <a:xfrm rot="8027126">
              <a:off x="2370552" y="2586366"/>
              <a:ext cx="30254" cy="169077"/>
            </a:xfrm>
            <a:custGeom>
              <a:avLst/>
              <a:gdLst/>
              <a:ahLst/>
              <a:cxnLst/>
              <a:rect l="l" t="t" r="r" b="b"/>
              <a:pathLst>
                <a:path w="30230" h="168945" extrusionOk="0">
                  <a:moveTo>
                    <a:pt x="0" y="0"/>
                  </a:moveTo>
                  <a:lnTo>
                    <a:pt x="30230" y="0"/>
                  </a:lnTo>
                  <a:lnTo>
                    <a:pt x="30230" y="168945"/>
                  </a:lnTo>
                  <a:lnTo>
                    <a:pt x="0" y="1689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707365" y="3068974"/>
            <a:ext cx="3732899" cy="1215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95F7DB-9F01-F204-E9B2-529EF56CDCA2}"/>
              </a:ext>
            </a:extLst>
          </p:cNvPr>
          <p:cNvSpPr/>
          <p:nvPr/>
        </p:nvSpPr>
        <p:spPr>
          <a:xfrm>
            <a:off x="1548979" y="932163"/>
            <a:ext cx="6046042" cy="2927873"/>
          </a:xfrm>
          <a:prstGeom prst="ellipse">
            <a:avLst/>
          </a:prstGeom>
          <a:solidFill>
            <a:schemeClr val="bg1"/>
          </a:solidFill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8" name="Google Shape;2668;p69"/>
          <p:cNvSpPr txBox="1">
            <a:spLocks noGrp="1"/>
          </p:cNvSpPr>
          <p:nvPr>
            <p:ph type="title" idx="4294967295"/>
          </p:nvPr>
        </p:nvSpPr>
        <p:spPr>
          <a:xfrm>
            <a:off x="426378" y="1317422"/>
            <a:ext cx="8291244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>
                <a:latin typeface="Segoe UI" panose="020B0502040204020203" pitchFamily="34" charset="0"/>
                <a:cs typeface="Segoe UI" panose="020B0502040204020203" pitchFamily="34" charset="0"/>
              </a:rPr>
              <a:t>Thanks!</a:t>
            </a:r>
            <a:br>
              <a:rPr lang="en-GB" sz="80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i="1">
                <a:latin typeface="+mn-lt"/>
                <a:cs typeface="Segoe UI" panose="020B0502040204020203" pitchFamily="34" charset="0"/>
              </a:rPr>
              <a:t>“</a:t>
            </a:r>
            <a:r>
              <a:rPr lang="en-US" sz="2400" i="1">
                <a:latin typeface="+mn-lt"/>
              </a:rPr>
              <a:t>Find the unknown value, unlock the whole story.”</a:t>
            </a:r>
            <a:endParaRPr sz="8000" i="1" dirty="0">
              <a:latin typeface="+mn-lt"/>
              <a:cs typeface="Segoe UI" panose="020B05020402040202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unctions: Quadratic Functions and Equations - Math - 10th Grade by Slidesgo">
  <a:themeElements>
    <a:clrScheme name="Simple Light">
      <a:dk1>
        <a:srgbClr val="05135F"/>
      </a:dk1>
      <a:lt1>
        <a:srgbClr val="FEFEFE"/>
      </a:lt1>
      <a:dk2>
        <a:srgbClr val="FDBE2A"/>
      </a:dk2>
      <a:lt2>
        <a:srgbClr val="F1A141"/>
      </a:lt2>
      <a:accent1>
        <a:srgbClr val="FADDD9"/>
      </a:accent1>
      <a:accent2>
        <a:srgbClr val="EB6181"/>
      </a:accent2>
      <a:accent3>
        <a:srgbClr val="88D0F3"/>
      </a:accent3>
      <a:accent4>
        <a:srgbClr val="5F5FF6"/>
      </a:accent4>
      <a:accent5>
        <a:srgbClr val="4C5BA5"/>
      </a:accent5>
      <a:accent6>
        <a:srgbClr val="6CC37E"/>
      </a:accent6>
      <a:hlink>
        <a:srgbClr val="0513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8539</TotalTime>
  <Words>1085</Words>
  <Application>Microsoft Office PowerPoint</Application>
  <PresentationFormat>On-screen Show (16:9)</PresentationFormat>
  <Paragraphs>123</Paragraphs>
  <Slides>20</Slides>
  <Notes>20</Notes>
  <HiddenSlides>0</HiddenSlides>
  <MMClips>3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Yu Gothic UI</vt:lpstr>
      <vt:lpstr>Anaheim</vt:lpstr>
      <vt:lpstr>Arial</vt:lpstr>
      <vt:lpstr>Assistant</vt:lpstr>
      <vt:lpstr>Calibri</vt:lpstr>
      <vt:lpstr>Cambria Math</vt:lpstr>
      <vt:lpstr>Epilogue</vt:lpstr>
      <vt:lpstr>Quattrocento Sans</vt:lpstr>
      <vt:lpstr>Segoe  UI</vt:lpstr>
      <vt:lpstr>Segoe UI</vt:lpstr>
      <vt:lpstr>Functions: Quadratic Functions and Equations - Math - 10th Grade by Slidesgo</vt:lpstr>
      <vt:lpstr>Chapter 1:  Rational Numbers  Lesson 6:  Basic Rules of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 “Find the unknown value, unlock the whole story.”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Rational numbers  Unit 1:  Rational numbers</dc:title>
  <dc:creator>admin</dc:creator>
  <cp:lastModifiedBy>tutrinh.1602@gmail.com</cp:lastModifiedBy>
  <cp:revision>53</cp:revision>
  <dcterms:created xsi:type="dcterms:W3CDTF">2024-09-03T10:06:13Z</dcterms:created>
  <dcterms:modified xsi:type="dcterms:W3CDTF">2026-09-29T15:59:48Z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A34F9D9B699C4AC9AC4C1348D89D8ED0_12</vt:lpwstr>
  </property>
  <property fmtid="{D5CDD505-2E9C-101B-9397-08002B2CF9AE}" pid="3" name="KSOProductBuildVer">
    <vt:lpwstr>1033-12.2.0.17562</vt:lpwstr>
  </property>
</Properties>
</file>